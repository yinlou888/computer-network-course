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embeddedFontLst>
    <p:embeddedFont>
      <p:font typeface="MiSans" pitchFamily="34" charset="-122"/>
      <p:regular r:id="rId23"/>
    </p:embeddedFont>
    <p:embeddedFont>
      <p:font typeface="MiSans" pitchFamily="34" charset="-120"/>
      <p:regular r:id="rId24"/>
    </p:embeddedFont>
    <p:embeddedFont>
      <p:font typeface="Noto Sans SC" panose="020B0200000000000000" pitchFamily="34" charset="-122"/>
      <p:regular r:id="rId25"/>
    </p:embeddedFont>
    <p:embeddedFont>
      <p:font typeface="Noto Sans SC" panose="020B0200000000000000" pitchFamily="34" charset="-120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  <p:embeddedFont>
      <p:font typeface="等线" panose="02010600030101010101" charset="-122"/>
      <p:regular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3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10.jpe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51.xml"/><Relationship Id="rId24" Type="http://schemas.openxmlformats.org/officeDocument/2006/relationships/tags" Target="../tags/tag50.xml"/><Relationship Id="rId23" Type="http://schemas.openxmlformats.org/officeDocument/2006/relationships/tags" Target="../tags/tag49.xml"/><Relationship Id="rId22" Type="http://schemas.openxmlformats.org/officeDocument/2006/relationships/tags" Target="../tags/tag48.xml"/><Relationship Id="rId21" Type="http://schemas.openxmlformats.org/officeDocument/2006/relationships/tags" Target="../tags/tag47.xml"/><Relationship Id="rId20" Type="http://schemas.openxmlformats.org/officeDocument/2006/relationships/tags" Target="../tags/tag46.xml"/><Relationship Id="rId2" Type="http://schemas.openxmlformats.org/officeDocument/2006/relationships/tags" Target="../tags/tag28.xml"/><Relationship Id="rId19" Type="http://schemas.openxmlformats.org/officeDocument/2006/relationships/tags" Target="../tags/tag45.xml"/><Relationship Id="rId18" Type="http://schemas.openxmlformats.org/officeDocument/2006/relationships/tags" Target="../tags/tag44.xml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6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4" Type="http://schemas.openxmlformats.org/officeDocument/2006/relationships/notesSlide" Target="../notesSlides/notesSlide12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105.xml"/><Relationship Id="rId21" Type="http://schemas.openxmlformats.org/officeDocument/2006/relationships/tags" Target="../tags/tag104.xml"/><Relationship Id="rId20" Type="http://schemas.openxmlformats.org/officeDocument/2006/relationships/tags" Target="../tags/tag103.xml"/><Relationship Id="rId2" Type="http://schemas.openxmlformats.org/officeDocument/2006/relationships/tags" Target="../tags/tag85.xml"/><Relationship Id="rId19" Type="http://schemas.openxmlformats.org/officeDocument/2006/relationships/tags" Target="../tags/tag102.xml"/><Relationship Id="rId18" Type="http://schemas.openxmlformats.org/officeDocument/2006/relationships/tags" Target="../tags/tag101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1.png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3-d2tarltnfo2stf9djk2g.png"/>
          <p:cNvPicPr>
            <a:picLocks noChangeAspect="1"/>
          </p:cNvPicPr>
          <p:nvPr/>
        </p:nvPicPr>
        <p:blipFill>
          <a:blip r:embed="rId1"/>
          <a:srcRect l="11651" t="6196" r="5498" b="95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626745" y="5849620"/>
            <a:ext cx="4345305" cy="5981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甘芝清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黄慧雯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林银蕊</a:t>
            </a:r>
            <a:endParaRPr lang="zh-CN" altLang="en-US" sz="2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211695" y="611695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汇报日期：2025/11</a:t>
            </a:r>
            <a:r>
              <a:rPr 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/26</a:t>
            </a:r>
            <a:endParaRPr 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04972" y="6293196"/>
            <a:ext cx="704469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3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188085" y="102870"/>
            <a:ext cx="262890" cy="11703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745" y="2042160"/>
            <a:ext cx="6378575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计算机网络精要：从概念到模型</a:t>
            </a:r>
            <a:endParaRPr lang="en-US" sz="6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5" name="Image 2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909594" y="4470400"/>
            <a:ext cx="780106" cy="82078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4695" y="5018515"/>
            <a:ext cx="1131570" cy="81523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  <p:sp>
        <p:nvSpPr>
          <p:cNvPr id="17" name="Text 12"/>
          <p:cNvSpPr/>
          <p:nvPr/>
        </p:nvSpPr>
        <p:spPr>
          <a:xfrm>
            <a:off x="734695" y="5018515"/>
            <a:ext cx="1131570" cy="8152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5" name="Shape 0"/>
          <p:cNvSpPr/>
          <p:nvPr>
            <p:custDataLst>
              <p:tags r:id="rId3"/>
            </p:custDataLst>
          </p:nvPr>
        </p:nvSpPr>
        <p:spPr>
          <a:xfrm flipH="1">
            <a:off x="4570730" y="264858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>
            <p:custDataLst>
              <p:tags r:id="rId4"/>
            </p:custDataLst>
          </p:nvPr>
        </p:nvSpPr>
        <p:spPr>
          <a:xfrm flipH="1">
            <a:off x="4570730" y="340106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>
            <p:custDataLst>
              <p:tags r:id="rId5"/>
            </p:custDataLst>
          </p:nvPr>
        </p:nvSpPr>
        <p:spPr>
          <a:xfrm flipH="1">
            <a:off x="4570730" y="417639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>
            <p:custDataLst>
              <p:tags r:id="rId6"/>
            </p:custDataLst>
          </p:nvPr>
        </p:nvSpPr>
        <p:spPr>
          <a:xfrm flipH="1">
            <a:off x="4570730" y="491998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3" name="Text 18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5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844550" y="2692400"/>
            <a:ext cx="2663190" cy="6870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32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924560" y="267081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6" name="Shape 21"/>
          <p:cNvSpPr/>
          <p:nvPr>
            <p:custDataLst>
              <p:tags r:id="rId7"/>
            </p:custDataLst>
          </p:nvPr>
        </p:nvSpPr>
        <p:spPr>
          <a:xfrm flipH="1">
            <a:off x="4570730" y="183388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pic>
        <p:nvPicPr>
          <p:cNvPr id="27" name="Image 3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2209165" y="4778375"/>
            <a:ext cx="892175" cy="93853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2009140" y="5405120"/>
            <a:ext cx="1294130" cy="93218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  <p:sp>
        <p:nvSpPr>
          <p:cNvPr id="29" name="Text 23"/>
          <p:cNvSpPr/>
          <p:nvPr/>
        </p:nvSpPr>
        <p:spPr>
          <a:xfrm>
            <a:off x="2009140" y="5405120"/>
            <a:ext cx="1294130" cy="932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0" name="Image 4" descr="https://kimi-img.moonshot.cn/pub/slides/slides_tmpl/image/25-09-05-17:30:59-d2tarktnfo2stf9djju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960000">
            <a:off x="9978390" y="1252855"/>
            <a:ext cx="1807845" cy="1654175"/>
          </a:xfrm>
          <a:prstGeom prst="rect">
            <a:avLst/>
          </a:prstGeom>
        </p:spPr>
      </p:pic>
      <p:sp>
        <p:nvSpPr>
          <p:cNvPr id="31" name="Text 24"/>
          <p:cNvSpPr/>
          <p:nvPr>
            <p:custDataLst>
              <p:tags r:id="rId10"/>
            </p:custDataLst>
          </p:nvPr>
        </p:nvSpPr>
        <p:spPr>
          <a:xfrm>
            <a:off x="4815840" y="164084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32" name="Text 25"/>
          <p:cNvSpPr/>
          <p:nvPr>
            <p:custDataLst>
              <p:tags r:id="rId11"/>
            </p:custDataLst>
          </p:nvPr>
        </p:nvSpPr>
        <p:spPr>
          <a:xfrm>
            <a:off x="5711190" y="1773555"/>
            <a:ext cx="6267450" cy="5060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网络基础速览</a:t>
            </a:r>
            <a:endParaRPr lang="en-US" sz="2800" dirty="0">
              <a:solidFill>
                <a:srgbClr val="595959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3" name="Text 26"/>
          <p:cNvSpPr/>
          <p:nvPr>
            <p:custDataLst>
              <p:tags r:id="rId12"/>
            </p:custDataLst>
          </p:nvPr>
        </p:nvSpPr>
        <p:spPr>
          <a:xfrm>
            <a:off x="4815840" y="2400935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34" name="Text 27"/>
          <p:cNvSpPr/>
          <p:nvPr>
            <p:custDataLst>
              <p:tags r:id="rId13"/>
            </p:custDataLst>
          </p:nvPr>
        </p:nvSpPr>
        <p:spPr>
          <a:xfrm>
            <a:off x="5711190" y="2516505"/>
            <a:ext cx="6268085" cy="450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互联网演进脉络</a:t>
            </a:r>
            <a:endParaRPr lang="en-US" sz="2800" dirty="0">
              <a:solidFill>
                <a:srgbClr val="595959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5" name="Text 28"/>
          <p:cNvSpPr/>
          <p:nvPr>
            <p:custDataLst>
              <p:tags r:id="rId14"/>
            </p:custDataLst>
          </p:nvPr>
        </p:nvSpPr>
        <p:spPr>
          <a:xfrm>
            <a:off x="4815840" y="3207385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36" name="Text 29"/>
          <p:cNvSpPr/>
          <p:nvPr>
            <p:custDataLst>
              <p:tags r:id="rId15"/>
            </p:custDataLst>
          </p:nvPr>
        </p:nvSpPr>
        <p:spPr>
          <a:xfrm>
            <a:off x="5711190" y="3324225"/>
            <a:ext cx="6266815" cy="4127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协议与服务机制</a:t>
            </a:r>
            <a:endParaRPr lang="en-US" sz="2800" dirty="0">
              <a:solidFill>
                <a:srgbClr val="595959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7" name="Text 30"/>
          <p:cNvSpPr/>
          <p:nvPr>
            <p:custDataLst>
              <p:tags r:id="rId16"/>
            </p:custDataLst>
          </p:nvPr>
        </p:nvSpPr>
        <p:spPr>
          <a:xfrm>
            <a:off x="4815840" y="401447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38" name="Text 31"/>
          <p:cNvSpPr/>
          <p:nvPr>
            <p:custDataLst>
              <p:tags r:id="rId17"/>
            </p:custDataLst>
          </p:nvPr>
        </p:nvSpPr>
        <p:spPr>
          <a:xfrm>
            <a:off x="5711190" y="4170045"/>
            <a:ext cx="6266815" cy="347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分层模型对照</a:t>
            </a:r>
            <a:endParaRPr lang="en-US" sz="2800" dirty="0">
              <a:solidFill>
                <a:srgbClr val="595959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9" name="Text 32"/>
          <p:cNvSpPr/>
          <p:nvPr>
            <p:custDataLst>
              <p:tags r:id="rId18"/>
            </p:custDataLst>
          </p:nvPr>
        </p:nvSpPr>
        <p:spPr>
          <a:xfrm>
            <a:off x="4815840" y="479171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40" name="Text 33"/>
          <p:cNvSpPr/>
          <p:nvPr>
            <p:custDataLst>
              <p:tags r:id="rId19"/>
            </p:custDataLst>
          </p:nvPr>
        </p:nvSpPr>
        <p:spPr>
          <a:xfrm>
            <a:off x="5711190" y="4848860"/>
            <a:ext cx="6266815" cy="4273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总结与展望</a:t>
            </a:r>
            <a:endParaRPr lang="en-US" sz="2800" dirty="0">
              <a:solidFill>
                <a:srgbClr val="595959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4" grpId="0"/>
      <p:bldP spid="24" grpId="1"/>
      <p:bldP spid="31" grpId="0"/>
      <p:bldP spid="31" grpId="1"/>
      <p:bldP spid="32" grpId="0"/>
      <p:bldP spid="33" grpId="0"/>
      <p:bldP spid="35" grpId="0"/>
      <p:bldP spid="35" grpId="1"/>
      <p:bldP spid="36" grpId="0"/>
      <p:bldP spid="36" grpId="1"/>
      <p:bldP spid="34" grpId="0"/>
      <p:bldP spid="34" grpId="1"/>
      <p:bldP spid="37" grpId="0"/>
      <p:bldP spid="37" grpId="1"/>
      <p:bldP spid="39" grpId="0"/>
      <p:bldP spid="39" grpId="1"/>
      <p:bldP spid="40" grpId="0"/>
      <p:bldP spid="40" grpId="1"/>
      <p:bldP spid="38" grpId="0"/>
      <p:bldP spid="3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网络基础速览</a:t>
            </a:r>
            <a:endParaRPr lang="en-US" sz="4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7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web-img.moonshot.cn/img/thumbs.dreamstime.com/c914e8ddb8d2848be53edacae16678ff56cb196c.jpg"/>
          <p:cNvPicPr>
            <a:picLocks noChangeAspect="1"/>
          </p:cNvPicPr>
          <p:nvPr/>
        </p:nvPicPr>
        <p:blipFill>
          <a:blip r:embed="rId2"/>
          <a:srcRect l="21500" r="21500"/>
          <a:stretch>
            <a:fillRect/>
          </a:stretch>
        </p:blipFill>
        <p:spPr>
          <a:xfrm>
            <a:off x="1371600" y="2209800"/>
            <a:ext cx="2438400" cy="2438400"/>
          </a:xfrm>
          <a:prstGeom prst="roundRect">
            <a:avLst>
              <a:gd name="adj" fmla="val 50000"/>
            </a:avLst>
          </a:prstGeom>
        </p:spPr>
      </p:pic>
      <p:sp>
        <p:nvSpPr>
          <p:cNvPr id="4" name="Text 0"/>
          <p:cNvSpPr/>
          <p:nvPr/>
        </p:nvSpPr>
        <p:spPr>
          <a:xfrm>
            <a:off x="5334000" y="977265"/>
            <a:ext cx="6832600" cy="161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计算机网络概念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334000" y="2557145"/>
            <a:ext cx="6705600" cy="846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由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节点 (node)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和 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链路 (link)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组成的系统，其核心功能在于提供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连通性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资源共享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4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Shape 2"/>
          <p:cNvSpPr/>
          <p:nvPr>
            <p:custDataLst>
              <p:tags r:id="rId3"/>
            </p:custDataLst>
          </p:nvPr>
        </p:nvSpPr>
        <p:spPr>
          <a:xfrm>
            <a:off x="5334000" y="3708400"/>
            <a:ext cx="3225800" cy="457200"/>
          </a:xfrm>
          <a:custGeom>
            <a:avLst/>
            <a:gdLst/>
            <a:ahLst/>
            <a:cxnLst/>
            <a:rect l="l" t="t" r="r" b="b"/>
            <a:pathLst>
              <a:path w="3225800" h="457200">
                <a:moveTo>
                  <a:pt x="101599" y="0"/>
                </a:moveTo>
                <a:lnTo>
                  <a:pt x="3124201" y="0"/>
                </a:lnTo>
                <a:cubicBezTo>
                  <a:pt x="3180313" y="0"/>
                  <a:pt x="3225800" y="45487"/>
                  <a:pt x="3225800" y="101599"/>
                </a:cubicBezTo>
                <a:lnTo>
                  <a:pt x="3225800" y="355601"/>
                </a:lnTo>
                <a:cubicBezTo>
                  <a:pt x="3225800" y="411713"/>
                  <a:pt x="3180313" y="457200"/>
                  <a:pt x="31242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7" name="Shape 3"/>
          <p:cNvSpPr/>
          <p:nvPr>
            <p:custDataLst>
              <p:tags r:id="rId4"/>
            </p:custDataLst>
          </p:nvPr>
        </p:nvSpPr>
        <p:spPr>
          <a:xfrm>
            <a:off x="5553075" y="3848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9343" y="69349"/>
                </a:moveTo>
                <a:lnTo>
                  <a:pt x="30073" y="80079"/>
                </a:lnTo>
                <a:cubicBezTo>
                  <a:pt x="32157" y="82163"/>
                  <a:pt x="34970" y="83344"/>
                  <a:pt x="37921" y="83344"/>
                </a:cubicBezTo>
                <a:lnTo>
                  <a:pt x="45388" y="83344"/>
                </a:lnTo>
                <a:cubicBezTo>
                  <a:pt x="48339" y="83344"/>
                  <a:pt x="51152" y="84524"/>
                  <a:pt x="53236" y="86608"/>
                </a:cubicBezTo>
                <a:lnTo>
                  <a:pt x="63411" y="96783"/>
                </a:lnTo>
                <a:cubicBezTo>
                  <a:pt x="65494" y="98867"/>
                  <a:pt x="66675" y="101679"/>
                  <a:pt x="66675" y="104631"/>
                </a:cubicBezTo>
                <a:lnTo>
                  <a:pt x="66675" y="117654"/>
                </a:lnTo>
                <a:cubicBezTo>
                  <a:pt x="66675" y="120605"/>
                  <a:pt x="67856" y="123418"/>
                  <a:pt x="69939" y="125502"/>
                </a:cubicBezTo>
                <a:lnTo>
                  <a:pt x="74558" y="130120"/>
                </a:lnTo>
                <a:cubicBezTo>
                  <a:pt x="76642" y="132204"/>
                  <a:pt x="77822" y="135017"/>
                  <a:pt x="77822" y="137969"/>
                </a:cubicBezTo>
                <a:lnTo>
                  <a:pt x="77822" y="144463"/>
                </a:lnTo>
                <a:cubicBezTo>
                  <a:pt x="77822" y="150609"/>
                  <a:pt x="82788" y="155575"/>
                  <a:pt x="88935" y="155575"/>
                </a:cubicBezTo>
                <a:cubicBezTo>
                  <a:pt x="95081" y="155575"/>
                  <a:pt x="100047" y="150609"/>
                  <a:pt x="100047" y="144463"/>
                </a:cubicBezTo>
                <a:lnTo>
                  <a:pt x="100047" y="143525"/>
                </a:lnTo>
                <a:cubicBezTo>
                  <a:pt x="100047" y="140573"/>
                  <a:pt x="101228" y="137760"/>
                  <a:pt x="103312" y="135677"/>
                </a:cubicBezTo>
                <a:lnTo>
                  <a:pt x="119043" y="119946"/>
                </a:lnTo>
                <a:cubicBezTo>
                  <a:pt x="121126" y="117862"/>
                  <a:pt x="122307" y="115049"/>
                  <a:pt x="122307" y="112097"/>
                </a:cubicBezTo>
                <a:lnTo>
                  <a:pt x="122307" y="100047"/>
                </a:lnTo>
                <a:cubicBezTo>
                  <a:pt x="122307" y="93901"/>
                  <a:pt x="117341" y="88935"/>
                  <a:pt x="111194" y="88935"/>
                </a:cubicBezTo>
                <a:lnTo>
                  <a:pt x="82476" y="88935"/>
                </a:lnTo>
                <a:cubicBezTo>
                  <a:pt x="79524" y="88935"/>
                  <a:pt x="76711" y="87754"/>
                  <a:pt x="74627" y="85670"/>
                </a:cubicBezTo>
                <a:lnTo>
                  <a:pt x="69071" y="80114"/>
                </a:lnTo>
                <a:cubicBezTo>
                  <a:pt x="67613" y="78656"/>
                  <a:pt x="66779" y="76642"/>
                  <a:pt x="66779" y="74558"/>
                </a:cubicBezTo>
                <a:cubicBezTo>
                  <a:pt x="66779" y="70217"/>
                  <a:pt x="70287" y="66710"/>
                  <a:pt x="74627" y="66710"/>
                </a:cubicBezTo>
                <a:lnTo>
                  <a:pt x="86678" y="66710"/>
                </a:lnTo>
                <a:cubicBezTo>
                  <a:pt x="91018" y="66710"/>
                  <a:pt x="94526" y="63202"/>
                  <a:pt x="94526" y="58862"/>
                </a:cubicBezTo>
                <a:cubicBezTo>
                  <a:pt x="94526" y="56778"/>
                  <a:pt x="93692" y="54764"/>
                  <a:pt x="92234" y="53305"/>
                </a:cubicBezTo>
                <a:lnTo>
                  <a:pt x="85393" y="46464"/>
                </a:lnTo>
                <a:cubicBezTo>
                  <a:pt x="84038" y="45145"/>
                  <a:pt x="83344" y="43443"/>
                  <a:pt x="83344" y="41672"/>
                </a:cubicBezTo>
                <a:cubicBezTo>
                  <a:pt x="83344" y="39901"/>
                  <a:pt x="84038" y="38199"/>
                  <a:pt x="85323" y="36914"/>
                </a:cubicBezTo>
                <a:lnTo>
                  <a:pt x="91331" y="30907"/>
                </a:lnTo>
                <a:cubicBezTo>
                  <a:pt x="93345" y="28893"/>
                  <a:pt x="94491" y="26149"/>
                  <a:pt x="94491" y="23302"/>
                </a:cubicBezTo>
                <a:cubicBezTo>
                  <a:pt x="94491" y="20801"/>
                  <a:pt x="93658" y="18544"/>
                  <a:pt x="92268" y="16738"/>
                </a:cubicBezTo>
                <a:cubicBezTo>
                  <a:pt x="91157" y="16703"/>
                  <a:pt x="90046" y="16669"/>
                  <a:pt x="88935" y="16669"/>
                </a:cubicBezTo>
                <a:cubicBezTo>
                  <a:pt x="55806" y="16669"/>
                  <a:pt x="27920" y="38963"/>
                  <a:pt x="19377" y="69349"/>
                </a:cubicBezTo>
                <a:close/>
                <a:moveTo>
                  <a:pt x="161131" y="88900"/>
                </a:moveTo>
                <a:cubicBezTo>
                  <a:pt x="161131" y="76885"/>
                  <a:pt x="158214" y="65564"/>
                  <a:pt x="153005" y="55632"/>
                </a:cubicBezTo>
                <a:cubicBezTo>
                  <a:pt x="150783" y="55944"/>
                  <a:pt x="148595" y="56986"/>
                  <a:pt x="146789" y="58792"/>
                </a:cubicBezTo>
                <a:lnTo>
                  <a:pt x="142136" y="63445"/>
                </a:lnTo>
                <a:cubicBezTo>
                  <a:pt x="140052" y="65529"/>
                  <a:pt x="138872" y="68342"/>
                  <a:pt x="138872" y="71294"/>
                </a:cubicBezTo>
                <a:lnTo>
                  <a:pt x="138872" y="83344"/>
                </a:lnTo>
                <a:cubicBezTo>
                  <a:pt x="138872" y="89490"/>
                  <a:pt x="143837" y="94456"/>
                  <a:pt x="149984" y="94456"/>
                </a:cubicBezTo>
                <a:lnTo>
                  <a:pt x="158353" y="94456"/>
                </a:lnTo>
                <a:cubicBezTo>
                  <a:pt x="159221" y="94456"/>
                  <a:pt x="160089" y="94352"/>
                  <a:pt x="160888" y="94178"/>
                </a:cubicBezTo>
                <a:cubicBezTo>
                  <a:pt x="161027" y="92442"/>
                  <a:pt x="161062" y="90671"/>
                  <a:pt x="161062" y="88900"/>
                </a:cubicBezTo>
                <a:close/>
                <a:moveTo>
                  <a:pt x="0" y="88900"/>
                </a:moveTo>
                <a:cubicBezTo>
                  <a:pt x="0" y="39835"/>
                  <a:pt x="39835" y="0"/>
                  <a:pt x="88900" y="0"/>
                </a:cubicBez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842000" y="3702685"/>
            <a:ext cx="2687955" cy="471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广域网 (WAN)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9" name="Shape 5"/>
          <p:cNvSpPr/>
          <p:nvPr>
            <p:custDataLst>
              <p:tags r:id="rId6"/>
            </p:custDataLst>
          </p:nvPr>
        </p:nvSpPr>
        <p:spPr>
          <a:xfrm>
            <a:off x="8712200" y="3708400"/>
            <a:ext cx="3225800" cy="457200"/>
          </a:xfrm>
          <a:custGeom>
            <a:avLst/>
            <a:gdLst/>
            <a:ahLst/>
            <a:cxnLst/>
            <a:rect l="l" t="t" r="r" b="b"/>
            <a:pathLst>
              <a:path w="3225800" h="457200">
                <a:moveTo>
                  <a:pt x="101599" y="0"/>
                </a:moveTo>
                <a:lnTo>
                  <a:pt x="3124201" y="0"/>
                </a:lnTo>
                <a:cubicBezTo>
                  <a:pt x="3180313" y="0"/>
                  <a:pt x="3225800" y="45487"/>
                  <a:pt x="3225800" y="101599"/>
                </a:cubicBezTo>
                <a:lnTo>
                  <a:pt x="3225800" y="355601"/>
                </a:lnTo>
                <a:cubicBezTo>
                  <a:pt x="3225800" y="411713"/>
                  <a:pt x="3180313" y="457200"/>
                  <a:pt x="31242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0" name="Shape 6"/>
          <p:cNvSpPr/>
          <p:nvPr>
            <p:custDataLst>
              <p:tags r:id="rId7"/>
            </p:custDataLst>
          </p:nvPr>
        </p:nvSpPr>
        <p:spPr>
          <a:xfrm>
            <a:off x="8920163" y="38481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11125" y="0"/>
                </a:moveTo>
                <a:cubicBezTo>
                  <a:pt x="98867" y="0"/>
                  <a:pt x="88900" y="9967"/>
                  <a:pt x="88900" y="22225"/>
                </a:cubicBezTo>
                <a:lnTo>
                  <a:pt x="88900" y="33337"/>
                </a:lnTo>
                <a:lnTo>
                  <a:pt x="72231" y="33337"/>
                </a:lnTo>
                <a:lnTo>
                  <a:pt x="72231" y="8334"/>
                </a:lnTo>
                <a:cubicBezTo>
                  <a:pt x="72231" y="3716"/>
                  <a:pt x="68516" y="0"/>
                  <a:pt x="63897" y="0"/>
                </a:cubicBezTo>
                <a:cubicBezTo>
                  <a:pt x="59278" y="0"/>
                  <a:pt x="55563" y="3716"/>
                  <a:pt x="55563" y="8334"/>
                </a:cubicBezTo>
                <a:lnTo>
                  <a:pt x="55563" y="33337"/>
                </a:lnTo>
                <a:lnTo>
                  <a:pt x="33337" y="33337"/>
                </a:lnTo>
                <a:lnTo>
                  <a:pt x="33337" y="8334"/>
                </a:lnTo>
                <a:cubicBezTo>
                  <a:pt x="33337" y="3716"/>
                  <a:pt x="29622" y="0"/>
                  <a:pt x="25003" y="0"/>
                </a:cubicBezTo>
                <a:cubicBezTo>
                  <a:pt x="20384" y="0"/>
                  <a:pt x="16669" y="3716"/>
                  <a:pt x="16669" y="8334"/>
                </a:cubicBezTo>
                <a:lnTo>
                  <a:pt x="16669" y="34032"/>
                </a:lnTo>
                <a:cubicBezTo>
                  <a:pt x="7084" y="36498"/>
                  <a:pt x="0" y="45214"/>
                  <a:pt x="0" y="55563"/>
                </a:cubicBezTo>
                <a:lnTo>
                  <a:pt x="0" y="155575"/>
                </a:lnTo>
                <a:cubicBezTo>
                  <a:pt x="0" y="167833"/>
                  <a:pt x="9967" y="177800"/>
                  <a:pt x="22225" y="177800"/>
                </a:cubicBezTo>
                <a:lnTo>
                  <a:pt x="177800" y="177800"/>
                </a:lnTo>
                <a:cubicBezTo>
                  <a:pt x="190058" y="177800"/>
                  <a:pt x="200025" y="167833"/>
                  <a:pt x="200025" y="155575"/>
                </a:cubicBezTo>
                <a:lnTo>
                  <a:pt x="200025" y="88900"/>
                </a:lnTo>
                <a:cubicBezTo>
                  <a:pt x="200025" y="76642"/>
                  <a:pt x="190058" y="66675"/>
                  <a:pt x="177800" y="66675"/>
                </a:cubicBezTo>
                <a:lnTo>
                  <a:pt x="155575" y="66675"/>
                </a:lnTo>
                <a:lnTo>
                  <a:pt x="155575" y="22225"/>
                </a:lnTo>
                <a:cubicBezTo>
                  <a:pt x="155575" y="9967"/>
                  <a:pt x="145608" y="0"/>
                  <a:pt x="133350" y="0"/>
                </a:cubicBezTo>
                <a:lnTo>
                  <a:pt x="111125" y="0"/>
                </a:lnTo>
                <a:close/>
                <a:moveTo>
                  <a:pt x="133350" y="38894"/>
                </a:moveTo>
                <a:lnTo>
                  <a:pt x="133350" y="50006"/>
                </a:lnTo>
                <a:cubicBezTo>
                  <a:pt x="133350" y="53062"/>
                  <a:pt x="130850" y="55563"/>
                  <a:pt x="127794" y="55563"/>
                </a:cubicBezTo>
                <a:lnTo>
                  <a:pt x="116681" y="55563"/>
                </a:lnTo>
                <a:cubicBezTo>
                  <a:pt x="113625" y="55563"/>
                  <a:pt x="111125" y="53062"/>
                  <a:pt x="111125" y="50006"/>
                </a:cubicBezTo>
                <a:lnTo>
                  <a:pt x="111125" y="38894"/>
                </a:lnTo>
                <a:cubicBezTo>
                  <a:pt x="111125" y="35838"/>
                  <a:pt x="113625" y="33337"/>
                  <a:pt x="116681" y="33337"/>
                </a:cubicBezTo>
                <a:lnTo>
                  <a:pt x="127794" y="33337"/>
                </a:lnTo>
                <a:cubicBezTo>
                  <a:pt x="130850" y="33337"/>
                  <a:pt x="133350" y="35838"/>
                  <a:pt x="133350" y="38894"/>
                </a:cubicBezTo>
                <a:close/>
                <a:moveTo>
                  <a:pt x="127794" y="66675"/>
                </a:moveTo>
                <a:cubicBezTo>
                  <a:pt x="130850" y="66675"/>
                  <a:pt x="133350" y="69175"/>
                  <a:pt x="133350" y="72231"/>
                </a:cubicBezTo>
                <a:lnTo>
                  <a:pt x="133350" y="83344"/>
                </a:lnTo>
                <a:cubicBezTo>
                  <a:pt x="133350" y="86400"/>
                  <a:pt x="130850" y="88900"/>
                  <a:pt x="127794" y="88900"/>
                </a:cubicBezTo>
                <a:lnTo>
                  <a:pt x="116681" y="88900"/>
                </a:lnTo>
                <a:cubicBezTo>
                  <a:pt x="113625" y="88900"/>
                  <a:pt x="111125" y="86400"/>
                  <a:pt x="111125" y="83344"/>
                </a:cubicBezTo>
                <a:lnTo>
                  <a:pt x="111125" y="72231"/>
                </a:lnTo>
                <a:cubicBezTo>
                  <a:pt x="111125" y="69175"/>
                  <a:pt x="113625" y="66675"/>
                  <a:pt x="116681" y="66675"/>
                </a:cubicBezTo>
                <a:lnTo>
                  <a:pt x="127794" y="66675"/>
                </a:lnTo>
                <a:close/>
                <a:moveTo>
                  <a:pt x="133350" y="105569"/>
                </a:moveTo>
                <a:lnTo>
                  <a:pt x="133350" y="116681"/>
                </a:lnTo>
                <a:cubicBezTo>
                  <a:pt x="133350" y="119737"/>
                  <a:pt x="130850" y="122238"/>
                  <a:pt x="127794" y="122238"/>
                </a:cubicBezTo>
                <a:lnTo>
                  <a:pt x="116681" y="122238"/>
                </a:lnTo>
                <a:cubicBezTo>
                  <a:pt x="113625" y="122238"/>
                  <a:pt x="111125" y="119737"/>
                  <a:pt x="111125" y="116681"/>
                </a:cubicBezTo>
                <a:lnTo>
                  <a:pt x="111125" y="105569"/>
                </a:lnTo>
                <a:cubicBezTo>
                  <a:pt x="111125" y="102513"/>
                  <a:pt x="113625" y="100013"/>
                  <a:pt x="116681" y="100013"/>
                </a:cubicBezTo>
                <a:lnTo>
                  <a:pt x="127794" y="100013"/>
                </a:lnTo>
                <a:cubicBezTo>
                  <a:pt x="130850" y="100013"/>
                  <a:pt x="133350" y="102513"/>
                  <a:pt x="133350" y="105569"/>
                </a:cubicBezTo>
                <a:close/>
                <a:moveTo>
                  <a:pt x="172244" y="100013"/>
                </a:moveTo>
                <a:cubicBezTo>
                  <a:pt x="175300" y="100013"/>
                  <a:pt x="177800" y="102513"/>
                  <a:pt x="177800" y="105569"/>
                </a:cubicBezTo>
                <a:lnTo>
                  <a:pt x="177800" y="116681"/>
                </a:lnTo>
                <a:cubicBezTo>
                  <a:pt x="177800" y="119737"/>
                  <a:pt x="175300" y="122238"/>
                  <a:pt x="172244" y="122238"/>
                </a:cubicBezTo>
                <a:lnTo>
                  <a:pt x="161131" y="122238"/>
                </a:lnTo>
                <a:cubicBezTo>
                  <a:pt x="158075" y="122238"/>
                  <a:pt x="155575" y="119737"/>
                  <a:pt x="155575" y="116681"/>
                </a:cubicBezTo>
                <a:lnTo>
                  <a:pt x="155575" y="105569"/>
                </a:lnTo>
                <a:cubicBezTo>
                  <a:pt x="155575" y="102513"/>
                  <a:pt x="158075" y="100013"/>
                  <a:pt x="161131" y="100013"/>
                </a:cubicBezTo>
                <a:lnTo>
                  <a:pt x="172244" y="100013"/>
                </a:lnTo>
                <a:close/>
                <a:moveTo>
                  <a:pt x="88900" y="105569"/>
                </a:moveTo>
                <a:lnTo>
                  <a:pt x="88900" y="116681"/>
                </a:lnTo>
                <a:cubicBezTo>
                  <a:pt x="88900" y="119737"/>
                  <a:pt x="86400" y="122238"/>
                  <a:pt x="83344" y="122238"/>
                </a:cubicBezTo>
                <a:lnTo>
                  <a:pt x="72231" y="122238"/>
                </a:lnTo>
                <a:cubicBezTo>
                  <a:pt x="69175" y="122238"/>
                  <a:pt x="66675" y="119737"/>
                  <a:pt x="66675" y="116681"/>
                </a:cubicBezTo>
                <a:lnTo>
                  <a:pt x="66675" y="105569"/>
                </a:lnTo>
                <a:cubicBezTo>
                  <a:pt x="66675" y="102513"/>
                  <a:pt x="69175" y="100013"/>
                  <a:pt x="72231" y="100013"/>
                </a:cubicBezTo>
                <a:lnTo>
                  <a:pt x="83344" y="100013"/>
                </a:lnTo>
                <a:cubicBezTo>
                  <a:pt x="86400" y="100013"/>
                  <a:pt x="88900" y="102513"/>
                  <a:pt x="88900" y="105569"/>
                </a:cubicBezTo>
                <a:close/>
                <a:moveTo>
                  <a:pt x="83344" y="66675"/>
                </a:moveTo>
                <a:cubicBezTo>
                  <a:pt x="86400" y="66675"/>
                  <a:pt x="88900" y="69175"/>
                  <a:pt x="88900" y="72231"/>
                </a:cubicBezTo>
                <a:lnTo>
                  <a:pt x="88900" y="83344"/>
                </a:lnTo>
                <a:cubicBezTo>
                  <a:pt x="88900" y="86400"/>
                  <a:pt x="86400" y="88900"/>
                  <a:pt x="83344" y="88900"/>
                </a:cubicBezTo>
                <a:lnTo>
                  <a:pt x="72231" y="88900"/>
                </a:lnTo>
                <a:cubicBezTo>
                  <a:pt x="69175" y="88900"/>
                  <a:pt x="66675" y="86400"/>
                  <a:pt x="66675" y="83344"/>
                </a:cubicBezTo>
                <a:lnTo>
                  <a:pt x="66675" y="72231"/>
                </a:lnTo>
                <a:cubicBezTo>
                  <a:pt x="66675" y="69175"/>
                  <a:pt x="69175" y="66675"/>
                  <a:pt x="72231" y="66675"/>
                </a:cubicBezTo>
                <a:lnTo>
                  <a:pt x="83344" y="66675"/>
                </a:lnTo>
                <a:close/>
                <a:moveTo>
                  <a:pt x="44450" y="105569"/>
                </a:moveTo>
                <a:lnTo>
                  <a:pt x="44450" y="116681"/>
                </a:lnTo>
                <a:cubicBezTo>
                  <a:pt x="44450" y="119737"/>
                  <a:pt x="41950" y="122238"/>
                  <a:pt x="38894" y="122238"/>
                </a:cubicBezTo>
                <a:lnTo>
                  <a:pt x="27781" y="122238"/>
                </a:lnTo>
                <a:cubicBezTo>
                  <a:pt x="24725" y="122238"/>
                  <a:pt x="22225" y="119737"/>
                  <a:pt x="22225" y="116681"/>
                </a:cubicBezTo>
                <a:lnTo>
                  <a:pt x="22225" y="105569"/>
                </a:lnTo>
                <a:cubicBezTo>
                  <a:pt x="22225" y="102513"/>
                  <a:pt x="24725" y="100013"/>
                  <a:pt x="27781" y="100013"/>
                </a:cubicBezTo>
                <a:lnTo>
                  <a:pt x="38894" y="100013"/>
                </a:lnTo>
                <a:cubicBezTo>
                  <a:pt x="41950" y="100013"/>
                  <a:pt x="44450" y="102513"/>
                  <a:pt x="44450" y="105569"/>
                </a:cubicBezTo>
                <a:close/>
                <a:moveTo>
                  <a:pt x="38894" y="66675"/>
                </a:moveTo>
                <a:cubicBezTo>
                  <a:pt x="41950" y="66675"/>
                  <a:pt x="44450" y="69175"/>
                  <a:pt x="44450" y="72231"/>
                </a:cubicBezTo>
                <a:lnTo>
                  <a:pt x="44450" y="83344"/>
                </a:lnTo>
                <a:cubicBezTo>
                  <a:pt x="44450" y="86400"/>
                  <a:pt x="41950" y="88900"/>
                  <a:pt x="38894" y="88900"/>
                </a:cubicBezTo>
                <a:lnTo>
                  <a:pt x="27781" y="88900"/>
                </a:lnTo>
                <a:cubicBezTo>
                  <a:pt x="24725" y="88900"/>
                  <a:pt x="22225" y="86400"/>
                  <a:pt x="22225" y="83344"/>
                </a:cubicBezTo>
                <a:lnTo>
                  <a:pt x="22225" y="72231"/>
                </a:lnTo>
                <a:cubicBezTo>
                  <a:pt x="22225" y="69175"/>
                  <a:pt x="24725" y="66675"/>
                  <a:pt x="27781" y="66675"/>
                </a:cubicBezTo>
                <a:lnTo>
                  <a:pt x="38894" y="66675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9220200" y="3736340"/>
            <a:ext cx="2379345" cy="417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城域网 (MAN)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2" name="Shape 8"/>
          <p:cNvSpPr/>
          <p:nvPr>
            <p:custDataLst>
              <p:tags r:id="rId9"/>
            </p:custDataLst>
          </p:nvPr>
        </p:nvSpPr>
        <p:spPr>
          <a:xfrm>
            <a:off x="5334000" y="4318000"/>
            <a:ext cx="3225800" cy="457200"/>
          </a:xfrm>
          <a:custGeom>
            <a:avLst/>
            <a:gdLst/>
            <a:ahLst/>
            <a:cxnLst/>
            <a:rect l="l" t="t" r="r" b="b"/>
            <a:pathLst>
              <a:path w="3225800" h="457200">
                <a:moveTo>
                  <a:pt x="101599" y="0"/>
                </a:moveTo>
                <a:lnTo>
                  <a:pt x="3124201" y="0"/>
                </a:lnTo>
                <a:cubicBezTo>
                  <a:pt x="3180313" y="0"/>
                  <a:pt x="3225800" y="45487"/>
                  <a:pt x="3225800" y="101599"/>
                </a:cubicBezTo>
                <a:lnTo>
                  <a:pt x="3225800" y="355601"/>
                </a:lnTo>
                <a:cubicBezTo>
                  <a:pt x="3225800" y="411713"/>
                  <a:pt x="3180313" y="457200"/>
                  <a:pt x="31242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3" name="Shape 9"/>
          <p:cNvSpPr/>
          <p:nvPr>
            <p:custDataLst>
              <p:tags r:id="rId10"/>
            </p:custDataLst>
          </p:nvPr>
        </p:nvSpPr>
        <p:spPr>
          <a:xfrm>
            <a:off x="5541963" y="44577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86122" y="30559"/>
                </a:moveTo>
                <a:lnTo>
                  <a:pt x="113903" y="30559"/>
                </a:lnTo>
                <a:lnTo>
                  <a:pt x="113903" y="47228"/>
                </a:lnTo>
                <a:lnTo>
                  <a:pt x="86122" y="47228"/>
                </a:lnTo>
                <a:lnTo>
                  <a:pt x="86122" y="30559"/>
                </a:lnTo>
                <a:close/>
                <a:moveTo>
                  <a:pt x="83344" y="11112"/>
                </a:moveTo>
                <a:cubicBezTo>
                  <a:pt x="74141" y="11112"/>
                  <a:pt x="66675" y="18579"/>
                  <a:pt x="66675" y="27781"/>
                </a:cubicBezTo>
                <a:lnTo>
                  <a:pt x="66675" y="50006"/>
                </a:lnTo>
                <a:cubicBezTo>
                  <a:pt x="66675" y="59209"/>
                  <a:pt x="74141" y="66675"/>
                  <a:pt x="83344" y="66675"/>
                </a:cubicBezTo>
                <a:lnTo>
                  <a:pt x="88900" y="66675"/>
                </a:lnTo>
                <a:lnTo>
                  <a:pt x="88900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44450" y="100013"/>
                </a:lnTo>
                <a:lnTo>
                  <a:pt x="44450" y="111125"/>
                </a:lnTo>
                <a:lnTo>
                  <a:pt x="38894" y="111125"/>
                </a:lnTo>
                <a:cubicBezTo>
                  <a:pt x="29691" y="111125"/>
                  <a:pt x="22225" y="118591"/>
                  <a:pt x="22225" y="127794"/>
                </a:cubicBezTo>
                <a:lnTo>
                  <a:pt x="22225" y="150019"/>
                </a:lnTo>
                <a:cubicBezTo>
                  <a:pt x="22225" y="159221"/>
                  <a:pt x="29691" y="166688"/>
                  <a:pt x="38894" y="166688"/>
                </a:cubicBezTo>
                <a:lnTo>
                  <a:pt x="72231" y="166688"/>
                </a:lnTo>
                <a:cubicBezTo>
                  <a:pt x="81434" y="166688"/>
                  <a:pt x="88900" y="159221"/>
                  <a:pt x="88900" y="150019"/>
                </a:cubicBezTo>
                <a:lnTo>
                  <a:pt x="88900" y="127794"/>
                </a:lnTo>
                <a:cubicBezTo>
                  <a:pt x="88900" y="118591"/>
                  <a:pt x="81434" y="111125"/>
                  <a:pt x="72231" y="111125"/>
                </a:cubicBezTo>
                <a:lnTo>
                  <a:pt x="66675" y="111125"/>
                </a:lnTo>
                <a:lnTo>
                  <a:pt x="66675" y="100013"/>
                </a:lnTo>
                <a:lnTo>
                  <a:pt x="133350" y="100013"/>
                </a:lnTo>
                <a:lnTo>
                  <a:pt x="133350" y="111125"/>
                </a:lnTo>
                <a:lnTo>
                  <a:pt x="127794" y="111125"/>
                </a:lnTo>
                <a:cubicBezTo>
                  <a:pt x="118591" y="111125"/>
                  <a:pt x="111125" y="118591"/>
                  <a:pt x="111125" y="127794"/>
                </a:cubicBezTo>
                <a:lnTo>
                  <a:pt x="111125" y="150019"/>
                </a:lnTo>
                <a:cubicBezTo>
                  <a:pt x="111125" y="159221"/>
                  <a:pt x="118591" y="166688"/>
                  <a:pt x="127794" y="166688"/>
                </a:cubicBezTo>
                <a:lnTo>
                  <a:pt x="161131" y="166688"/>
                </a:lnTo>
                <a:cubicBezTo>
                  <a:pt x="170334" y="166688"/>
                  <a:pt x="177800" y="159221"/>
                  <a:pt x="177800" y="150019"/>
                </a:cubicBezTo>
                <a:lnTo>
                  <a:pt x="177800" y="127794"/>
                </a:lnTo>
                <a:cubicBezTo>
                  <a:pt x="177800" y="118591"/>
                  <a:pt x="170334" y="111125"/>
                  <a:pt x="161131" y="111125"/>
                </a:cubicBezTo>
                <a:lnTo>
                  <a:pt x="155575" y="111125"/>
                </a:lnTo>
                <a:lnTo>
                  <a:pt x="155575" y="100013"/>
                </a:lnTo>
                <a:lnTo>
                  <a:pt x="188913" y="100013"/>
                </a:lnTo>
                <a:cubicBezTo>
                  <a:pt x="195059" y="100013"/>
                  <a:pt x="200025" y="95047"/>
                  <a:pt x="200025" y="88900"/>
                </a:cubicBezTo>
                <a:cubicBezTo>
                  <a:pt x="200025" y="82753"/>
                  <a:pt x="195059" y="77788"/>
                  <a:pt x="188913" y="77788"/>
                </a:cubicBezTo>
                <a:lnTo>
                  <a:pt x="111125" y="77788"/>
                </a:lnTo>
                <a:lnTo>
                  <a:pt x="111125" y="66675"/>
                </a:lnTo>
                <a:lnTo>
                  <a:pt x="116681" y="66675"/>
                </a:lnTo>
                <a:cubicBezTo>
                  <a:pt x="125884" y="66675"/>
                  <a:pt x="133350" y="59209"/>
                  <a:pt x="133350" y="50006"/>
                </a:cubicBezTo>
                <a:lnTo>
                  <a:pt x="133350" y="27781"/>
                </a:lnTo>
                <a:cubicBezTo>
                  <a:pt x="133350" y="18579"/>
                  <a:pt x="125884" y="11112"/>
                  <a:pt x="116681" y="11112"/>
                </a:cubicBezTo>
                <a:lnTo>
                  <a:pt x="83344" y="11112"/>
                </a:lnTo>
                <a:close/>
                <a:moveTo>
                  <a:pt x="155575" y="130572"/>
                </a:moveTo>
                <a:lnTo>
                  <a:pt x="158353" y="130572"/>
                </a:lnTo>
                <a:lnTo>
                  <a:pt x="158353" y="147241"/>
                </a:lnTo>
                <a:lnTo>
                  <a:pt x="130572" y="147241"/>
                </a:lnTo>
                <a:lnTo>
                  <a:pt x="130572" y="130572"/>
                </a:lnTo>
                <a:lnTo>
                  <a:pt x="155575" y="130572"/>
                </a:lnTo>
                <a:close/>
                <a:moveTo>
                  <a:pt x="66675" y="130572"/>
                </a:moveTo>
                <a:lnTo>
                  <a:pt x="69453" y="130572"/>
                </a:lnTo>
                <a:lnTo>
                  <a:pt x="69453" y="147241"/>
                </a:lnTo>
                <a:lnTo>
                  <a:pt x="41672" y="147241"/>
                </a:lnTo>
                <a:lnTo>
                  <a:pt x="41672" y="130572"/>
                </a:lnTo>
                <a:lnTo>
                  <a:pt x="66675" y="130572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5842000" y="4338955"/>
            <a:ext cx="2376805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局域网 (LAN)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5" name="Shape 11"/>
          <p:cNvSpPr/>
          <p:nvPr>
            <p:custDataLst>
              <p:tags r:id="rId12"/>
            </p:custDataLst>
          </p:nvPr>
        </p:nvSpPr>
        <p:spPr>
          <a:xfrm>
            <a:off x="8712200" y="4318000"/>
            <a:ext cx="3225800" cy="457200"/>
          </a:xfrm>
          <a:custGeom>
            <a:avLst/>
            <a:gdLst/>
            <a:ahLst/>
            <a:cxnLst/>
            <a:rect l="l" t="t" r="r" b="b"/>
            <a:pathLst>
              <a:path w="3225800" h="457200">
                <a:moveTo>
                  <a:pt x="101599" y="0"/>
                </a:moveTo>
                <a:lnTo>
                  <a:pt x="3124201" y="0"/>
                </a:lnTo>
                <a:cubicBezTo>
                  <a:pt x="3180313" y="0"/>
                  <a:pt x="3225800" y="45487"/>
                  <a:pt x="3225800" y="101599"/>
                </a:cubicBezTo>
                <a:lnTo>
                  <a:pt x="3225800" y="355601"/>
                </a:lnTo>
                <a:cubicBezTo>
                  <a:pt x="3225800" y="411713"/>
                  <a:pt x="3180313" y="457200"/>
                  <a:pt x="31242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6" name="Shape 12"/>
          <p:cNvSpPr/>
          <p:nvPr>
            <p:custDataLst>
              <p:tags r:id="rId13"/>
            </p:custDataLst>
          </p:nvPr>
        </p:nvSpPr>
        <p:spPr>
          <a:xfrm>
            <a:off x="8953500" y="44577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5556" y="22225"/>
                </a:moveTo>
                <a:cubicBezTo>
                  <a:pt x="5556" y="9967"/>
                  <a:pt x="15523" y="0"/>
                  <a:pt x="27781" y="0"/>
                </a:cubicBezTo>
                <a:lnTo>
                  <a:pt x="105569" y="0"/>
                </a:lnTo>
                <a:cubicBezTo>
                  <a:pt x="117827" y="0"/>
                  <a:pt x="127794" y="9967"/>
                  <a:pt x="127794" y="22225"/>
                </a:cubicBezTo>
                <a:lnTo>
                  <a:pt x="127794" y="155575"/>
                </a:lnTo>
                <a:cubicBezTo>
                  <a:pt x="127794" y="167833"/>
                  <a:pt x="117827" y="177800"/>
                  <a:pt x="105569" y="177800"/>
                </a:cubicBezTo>
                <a:lnTo>
                  <a:pt x="27781" y="177800"/>
                </a:lnTo>
                <a:cubicBezTo>
                  <a:pt x="15523" y="177800"/>
                  <a:pt x="5556" y="167833"/>
                  <a:pt x="5556" y="155575"/>
                </a:cubicBezTo>
                <a:lnTo>
                  <a:pt x="5556" y="22225"/>
                </a:lnTo>
                <a:close/>
                <a:moveTo>
                  <a:pt x="27781" y="22225"/>
                </a:moveTo>
                <a:lnTo>
                  <a:pt x="27781" y="127794"/>
                </a:lnTo>
                <a:lnTo>
                  <a:pt x="105569" y="127794"/>
                </a:lnTo>
                <a:lnTo>
                  <a:pt x="105569" y="22225"/>
                </a:lnTo>
                <a:lnTo>
                  <a:pt x="27781" y="22225"/>
                </a:lnTo>
                <a:close/>
                <a:moveTo>
                  <a:pt x="66675" y="163909"/>
                </a:moveTo>
                <a:cubicBezTo>
                  <a:pt x="72822" y="163909"/>
                  <a:pt x="77788" y="158943"/>
                  <a:pt x="77788" y="152797"/>
                </a:cubicBezTo>
                <a:cubicBezTo>
                  <a:pt x="77788" y="146650"/>
                  <a:pt x="72822" y="141684"/>
                  <a:pt x="66675" y="141684"/>
                </a:cubicBezTo>
                <a:cubicBezTo>
                  <a:pt x="60528" y="141684"/>
                  <a:pt x="55563" y="146650"/>
                  <a:pt x="55563" y="152797"/>
                </a:cubicBezTo>
                <a:cubicBezTo>
                  <a:pt x="55563" y="158943"/>
                  <a:pt x="60528" y="163909"/>
                  <a:pt x="66675" y="163909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7" name="Text 13"/>
          <p:cNvSpPr/>
          <p:nvPr>
            <p:custDataLst>
              <p:tags r:id="rId14"/>
            </p:custDataLst>
          </p:nvPr>
        </p:nvSpPr>
        <p:spPr>
          <a:xfrm>
            <a:off x="9220200" y="4338955"/>
            <a:ext cx="2681605" cy="429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个人区域网 (PAN)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8" grpId="0"/>
      <p:bldP spid="8" grpId="1"/>
      <p:bldP spid="11" grpId="0"/>
      <p:bldP spid="11" grpId="1"/>
      <p:bldP spid="14" grpId="0"/>
      <p:bldP spid="14" grpId="1"/>
      <p:bldP spid="17" grpId="0"/>
      <p:bldP spid="1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810895"/>
            <a:ext cx="11874500" cy="150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关键性能指标解读</a:t>
            </a:r>
            <a:endParaRPr lang="en-US" sz="5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626428" y="2717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947103" y="3035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  <a:moveTo>
                  <a:pt x="214313" y="71438"/>
                </a:moveTo>
                <a:cubicBezTo>
                  <a:pt x="214313" y="58295"/>
                  <a:pt x="203642" y="47625"/>
                  <a:pt x="190500" y="47625"/>
                </a:cubicBezTo>
                <a:cubicBezTo>
                  <a:pt x="177358" y="47625"/>
                  <a:pt x="166688" y="58295"/>
                  <a:pt x="166688" y="71438"/>
                </a:cubicBezTo>
                <a:cubicBezTo>
                  <a:pt x="166688" y="84580"/>
                  <a:pt x="177358" y="95250"/>
                  <a:pt x="190500" y="95250"/>
                </a:cubicBezTo>
                <a:cubicBezTo>
                  <a:pt x="203642" y="95250"/>
                  <a:pt x="214313" y="84580"/>
                  <a:pt x="214313" y="71438"/>
                </a:cubicBezTo>
                <a:close/>
                <a:moveTo>
                  <a:pt x="190500" y="309563"/>
                </a:moveTo>
                <a:cubicBezTo>
                  <a:pt x="216768" y="309563"/>
                  <a:pt x="238125" y="288206"/>
                  <a:pt x="238125" y="261938"/>
                </a:cubicBezTo>
                <a:cubicBezTo>
                  <a:pt x="238125" y="249882"/>
                  <a:pt x="233660" y="238795"/>
                  <a:pt x="226219" y="230460"/>
                </a:cubicBezTo>
                <a:lnTo>
                  <a:pt x="277937" y="127099"/>
                </a:lnTo>
                <a:cubicBezTo>
                  <a:pt x="282327" y="118244"/>
                  <a:pt x="278755" y="107528"/>
                  <a:pt x="269974" y="103138"/>
                </a:cubicBezTo>
                <a:cubicBezTo>
                  <a:pt x="261193" y="98747"/>
                  <a:pt x="250403" y="102319"/>
                  <a:pt x="246013" y="111100"/>
                </a:cubicBezTo>
                <a:lnTo>
                  <a:pt x="194295" y="214461"/>
                </a:lnTo>
                <a:cubicBezTo>
                  <a:pt x="193030" y="214387"/>
                  <a:pt x="191765" y="214313"/>
                  <a:pt x="190500" y="214313"/>
                </a:cubicBezTo>
                <a:cubicBezTo>
                  <a:pt x="164232" y="214313"/>
                  <a:pt x="142875" y="235669"/>
                  <a:pt x="142875" y="261938"/>
                </a:cubicBezTo>
                <a:cubicBezTo>
                  <a:pt x="142875" y="288206"/>
                  <a:pt x="164232" y="309563"/>
                  <a:pt x="190500" y="309563"/>
                </a:cubicBezTo>
                <a:close/>
                <a:moveTo>
                  <a:pt x="130969" y="107156"/>
                </a:moveTo>
                <a:cubicBezTo>
                  <a:pt x="130969" y="94014"/>
                  <a:pt x="120299" y="83344"/>
                  <a:pt x="107156" y="83344"/>
                </a:cubicBezTo>
                <a:cubicBezTo>
                  <a:pt x="94014" y="83344"/>
                  <a:pt x="83344" y="94014"/>
                  <a:pt x="83344" y="107156"/>
                </a:cubicBezTo>
                <a:cubicBezTo>
                  <a:pt x="83344" y="120299"/>
                  <a:pt x="94014" y="130969"/>
                  <a:pt x="107156" y="130969"/>
                </a:cubicBezTo>
                <a:cubicBezTo>
                  <a:pt x="120299" y="130969"/>
                  <a:pt x="130969" y="120299"/>
                  <a:pt x="130969" y="107156"/>
                </a:cubicBezTo>
                <a:close/>
                <a:moveTo>
                  <a:pt x="71438" y="214313"/>
                </a:moveTo>
                <a:cubicBezTo>
                  <a:pt x="84580" y="214313"/>
                  <a:pt x="95250" y="203642"/>
                  <a:pt x="95250" y="190500"/>
                </a:cubicBezTo>
                <a:cubicBezTo>
                  <a:pt x="95250" y="177358"/>
                  <a:pt x="84580" y="166688"/>
                  <a:pt x="71438" y="166688"/>
                </a:cubicBezTo>
                <a:cubicBezTo>
                  <a:pt x="58295" y="166688"/>
                  <a:pt x="47625" y="177358"/>
                  <a:pt x="47625" y="190500"/>
                </a:cubicBezTo>
                <a:cubicBezTo>
                  <a:pt x="47625" y="203642"/>
                  <a:pt x="58295" y="214313"/>
                  <a:pt x="71438" y="214313"/>
                </a:cubicBezTo>
                <a:close/>
                <a:moveTo>
                  <a:pt x="333375" y="190500"/>
                </a:moveTo>
                <a:cubicBezTo>
                  <a:pt x="333375" y="177358"/>
                  <a:pt x="322705" y="166688"/>
                  <a:pt x="309563" y="166688"/>
                </a:cubicBezTo>
                <a:cubicBezTo>
                  <a:pt x="296420" y="166688"/>
                  <a:pt x="285750" y="177358"/>
                  <a:pt x="285750" y="190500"/>
                </a:cubicBezTo>
                <a:cubicBezTo>
                  <a:pt x="285750" y="203642"/>
                  <a:pt x="296420" y="214313"/>
                  <a:pt x="309563" y="214313"/>
                </a:cubicBezTo>
                <a:cubicBezTo>
                  <a:pt x="322705" y="214313"/>
                  <a:pt x="333375" y="203642"/>
                  <a:pt x="333375" y="19050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631190" y="3734435"/>
            <a:ext cx="1075055" cy="582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带宽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715645" y="4140200"/>
            <a:ext cx="914400" cy="943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最高数据率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Shape 5"/>
          <p:cNvSpPr/>
          <p:nvPr>
            <p:custDataLst>
              <p:tags r:id="rId6"/>
            </p:custDataLst>
          </p:nvPr>
        </p:nvSpPr>
        <p:spPr>
          <a:xfrm>
            <a:off x="2203291" y="3073241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37304" y="138946"/>
                </a:moveTo>
                <a:cubicBezTo>
                  <a:pt x="344745" y="146387"/>
                  <a:pt x="344745" y="158472"/>
                  <a:pt x="337304" y="165914"/>
                </a:cubicBezTo>
                <a:lnTo>
                  <a:pt x="261104" y="242114"/>
                </a:lnTo>
                <a:cubicBezTo>
                  <a:pt x="255627" y="247590"/>
                  <a:pt x="247471" y="249198"/>
                  <a:pt x="240328" y="246221"/>
                </a:cubicBezTo>
                <a:cubicBezTo>
                  <a:pt x="233184" y="243245"/>
                  <a:pt x="228600" y="236280"/>
                  <a:pt x="228600" y="228600"/>
                </a:cubicBezTo>
                <a:lnTo>
                  <a:pt x="228600" y="190500"/>
                </a:lnTo>
                <a:lnTo>
                  <a:pt x="28575" y="190500"/>
                </a:lnTo>
                <a:cubicBezTo>
                  <a:pt x="12799" y="190500"/>
                  <a:pt x="0" y="177701"/>
                  <a:pt x="0" y="161925"/>
                </a:cubicBezTo>
                <a:lnTo>
                  <a:pt x="0" y="142875"/>
                </a:lnTo>
                <a:cubicBezTo>
                  <a:pt x="0" y="127099"/>
                  <a:pt x="12799" y="114300"/>
                  <a:pt x="28575" y="114300"/>
                </a:cubicBezTo>
                <a:lnTo>
                  <a:pt x="228600" y="114300"/>
                </a:lnTo>
                <a:lnTo>
                  <a:pt x="228600" y="76200"/>
                </a:lnTo>
                <a:cubicBezTo>
                  <a:pt x="228600" y="68520"/>
                  <a:pt x="233243" y="61555"/>
                  <a:pt x="240387" y="58579"/>
                </a:cubicBezTo>
                <a:cubicBezTo>
                  <a:pt x="247531" y="55602"/>
                  <a:pt x="255687" y="57269"/>
                  <a:pt x="261164" y="62686"/>
                </a:cubicBezTo>
                <a:lnTo>
                  <a:pt x="337364" y="138886"/>
                </a:lnTo>
                <a:close/>
              </a:path>
            </a:pathLst>
          </a:custGeom>
          <a:solidFill>
            <a:srgbClr val="7484DF"/>
          </a:solidFill>
        </p:spPr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3107055" y="2717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</p:spPr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3427730" y="3035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ubicBezTo>
                  <a:pt x="0" y="85360"/>
                  <a:pt x="85360" y="0"/>
                  <a:pt x="190500" y="0"/>
                </a:cubicBezTo>
                <a:close/>
                <a:moveTo>
                  <a:pt x="172641" y="89297"/>
                </a:moveTo>
                <a:lnTo>
                  <a:pt x="172641" y="190500"/>
                </a:lnTo>
                <a:cubicBezTo>
                  <a:pt x="172641" y="196453"/>
                  <a:pt x="175617" y="202034"/>
                  <a:pt x="180603" y="205383"/>
                </a:cubicBezTo>
                <a:lnTo>
                  <a:pt x="252040" y="253008"/>
                </a:lnTo>
                <a:cubicBezTo>
                  <a:pt x="260226" y="258514"/>
                  <a:pt x="271314" y="256282"/>
                  <a:pt x="276820" y="248022"/>
                </a:cubicBezTo>
                <a:cubicBezTo>
                  <a:pt x="282327" y="239762"/>
                  <a:pt x="280095" y="228749"/>
                  <a:pt x="271835" y="223242"/>
                </a:cubicBezTo>
                <a:lnTo>
                  <a:pt x="208359" y="180975"/>
                </a:lnTo>
                <a:lnTo>
                  <a:pt x="208359" y="89297"/>
                </a:lnTo>
                <a:cubicBezTo>
                  <a:pt x="208359" y="79400"/>
                  <a:pt x="200397" y="71438"/>
                  <a:pt x="190500" y="71438"/>
                </a:cubicBezTo>
                <a:cubicBezTo>
                  <a:pt x="180603" y="71438"/>
                  <a:pt x="172641" y="79400"/>
                  <a:pt x="172641" y="89297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1" name="Text 8"/>
          <p:cNvSpPr/>
          <p:nvPr>
            <p:custDataLst>
              <p:tags r:id="rId9"/>
            </p:custDataLst>
          </p:nvPr>
        </p:nvSpPr>
        <p:spPr>
          <a:xfrm>
            <a:off x="3056890" y="3733800"/>
            <a:ext cx="1181100" cy="584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时延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3119755" y="4140200"/>
            <a:ext cx="1075690" cy="943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数据传输时间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Shape 10"/>
          <p:cNvSpPr/>
          <p:nvPr>
            <p:custDataLst>
              <p:tags r:id="rId11"/>
            </p:custDataLst>
          </p:nvPr>
        </p:nvSpPr>
        <p:spPr>
          <a:xfrm>
            <a:off x="4683919" y="3073241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37304" y="138946"/>
                </a:moveTo>
                <a:cubicBezTo>
                  <a:pt x="344745" y="146387"/>
                  <a:pt x="344745" y="158472"/>
                  <a:pt x="337304" y="165914"/>
                </a:cubicBezTo>
                <a:lnTo>
                  <a:pt x="261104" y="242114"/>
                </a:lnTo>
                <a:cubicBezTo>
                  <a:pt x="255627" y="247590"/>
                  <a:pt x="247471" y="249198"/>
                  <a:pt x="240328" y="246221"/>
                </a:cubicBezTo>
                <a:cubicBezTo>
                  <a:pt x="233184" y="243245"/>
                  <a:pt x="228600" y="236280"/>
                  <a:pt x="228600" y="228600"/>
                </a:cubicBezTo>
                <a:lnTo>
                  <a:pt x="228600" y="190500"/>
                </a:lnTo>
                <a:lnTo>
                  <a:pt x="28575" y="190500"/>
                </a:lnTo>
                <a:cubicBezTo>
                  <a:pt x="12799" y="190500"/>
                  <a:pt x="0" y="177701"/>
                  <a:pt x="0" y="161925"/>
                </a:cubicBezTo>
                <a:lnTo>
                  <a:pt x="0" y="142875"/>
                </a:lnTo>
                <a:cubicBezTo>
                  <a:pt x="0" y="127099"/>
                  <a:pt x="12799" y="114300"/>
                  <a:pt x="28575" y="114300"/>
                </a:cubicBezTo>
                <a:lnTo>
                  <a:pt x="228600" y="114300"/>
                </a:lnTo>
                <a:lnTo>
                  <a:pt x="228600" y="76200"/>
                </a:lnTo>
                <a:cubicBezTo>
                  <a:pt x="228600" y="68520"/>
                  <a:pt x="233243" y="61555"/>
                  <a:pt x="240387" y="58579"/>
                </a:cubicBezTo>
                <a:cubicBezTo>
                  <a:pt x="247531" y="55602"/>
                  <a:pt x="255687" y="57269"/>
                  <a:pt x="261164" y="62686"/>
                </a:cubicBezTo>
                <a:lnTo>
                  <a:pt x="337364" y="138886"/>
                </a:lnTo>
                <a:close/>
              </a:path>
            </a:pathLst>
          </a:custGeom>
          <a:solidFill>
            <a:srgbClr val="7484DF"/>
          </a:solidFill>
        </p:spPr>
      </p:sp>
      <p:sp>
        <p:nvSpPr>
          <p:cNvPr id="14" name="Shape 11"/>
          <p:cNvSpPr/>
          <p:nvPr>
            <p:custDataLst>
              <p:tags r:id="rId12"/>
            </p:custDataLst>
          </p:nvPr>
        </p:nvSpPr>
        <p:spPr>
          <a:xfrm>
            <a:off x="5587683" y="2717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</p:spPr>
      </p:sp>
      <p:sp>
        <p:nvSpPr>
          <p:cNvPr id="15" name="Shape 12"/>
          <p:cNvSpPr/>
          <p:nvPr>
            <p:custDataLst>
              <p:tags r:id="rId13"/>
            </p:custDataLst>
          </p:nvPr>
        </p:nvSpPr>
        <p:spPr>
          <a:xfrm>
            <a:off x="5908358" y="3035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6" name="Text 13"/>
          <p:cNvSpPr/>
          <p:nvPr>
            <p:custDataLst>
              <p:tags r:id="rId14"/>
            </p:custDataLst>
          </p:nvPr>
        </p:nvSpPr>
        <p:spPr>
          <a:xfrm>
            <a:off x="5588635" y="3738245"/>
            <a:ext cx="1040765" cy="5797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吞吐量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15"/>
            </p:custDataLst>
          </p:nvPr>
        </p:nvSpPr>
        <p:spPr>
          <a:xfrm>
            <a:off x="5524500" y="4140200"/>
            <a:ext cx="1143000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实际通过数据量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8" name="Shape 15"/>
          <p:cNvSpPr/>
          <p:nvPr>
            <p:custDataLst>
              <p:tags r:id="rId16"/>
            </p:custDataLst>
          </p:nvPr>
        </p:nvSpPr>
        <p:spPr>
          <a:xfrm>
            <a:off x="7164546" y="3073241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37304" y="138946"/>
                </a:moveTo>
                <a:cubicBezTo>
                  <a:pt x="344745" y="146387"/>
                  <a:pt x="344745" y="158472"/>
                  <a:pt x="337304" y="165914"/>
                </a:cubicBezTo>
                <a:lnTo>
                  <a:pt x="261104" y="242114"/>
                </a:lnTo>
                <a:cubicBezTo>
                  <a:pt x="255627" y="247590"/>
                  <a:pt x="247471" y="249198"/>
                  <a:pt x="240328" y="246221"/>
                </a:cubicBezTo>
                <a:cubicBezTo>
                  <a:pt x="233184" y="243245"/>
                  <a:pt x="228600" y="236280"/>
                  <a:pt x="228600" y="228600"/>
                </a:cubicBezTo>
                <a:lnTo>
                  <a:pt x="228600" y="190500"/>
                </a:lnTo>
                <a:lnTo>
                  <a:pt x="28575" y="190500"/>
                </a:lnTo>
                <a:cubicBezTo>
                  <a:pt x="12799" y="190500"/>
                  <a:pt x="0" y="177701"/>
                  <a:pt x="0" y="161925"/>
                </a:cubicBezTo>
                <a:lnTo>
                  <a:pt x="0" y="142875"/>
                </a:lnTo>
                <a:cubicBezTo>
                  <a:pt x="0" y="127099"/>
                  <a:pt x="12799" y="114300"/>
                  <a:pt x="28575" y="114300"/>
                </a:cubicBezTo>
                <a:lnTo>
                  <a:pt x="228600" y="114300"/>
                </a:lnTo>
                <a:lnTo>
                  <a:pt x="228600" y="76200"/>
                </a:lnTo>
                <a:cubicBezTo>
                  <a:pt x="228600" y="68520"/>
                  <a:pt x="233243" y="61555"/>
                  <a:pt x="240387" y="58579"/>
                </a:cubicBezTo>
                <a:cubicBezTo>
                  <a:pt x="247531" y="55602"/>
                  <a:pt x="255687" y="57269"/>
                  <a:pt x="261164" y="62686"/>
                </a:cubicBezTo>
                <a:lnTo>
                  <a:pt x="337364" y="138886"/>
                </a:lnTo>
                <a:close/>
              </a:path>
            </a:pathLst>
          </a:custGeom>
          <a:solidFill>
            <a:srgbClr val="7484DF"/>
          </a:solidFill>
        </p:spPr>
      </p:sp>
      <p:sp>
        <p:nvSpPr>
          <p:cNvPr id="19" name="Shape 16"/>
          <p:cNvSpPr/>
          <p:nvPr>
            <p:custDataLst>
              <p:tags r:id="rId17"/>
            </p:custDataLst>
          </p:nvPr>
        </p:nvSpPr>
        <p:spPr>
          <a:xfrm>
            <a:off x="8068310" y="2717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</p:spPr>
      </p:sp>
      <p:sp>
        <p:nvSpPr>
          <p:cNvPr id="20" name="Shape 17"/>
          <p:cNvSpPr/>
          <p:nvPr>
            <p:custDataLst>
              <p:tags r:id="rId18"/>
            </p:custDataLst>
          </p:nvPr>
        </p:nvSpPr>
        <p:spPr>
          <a:xfrm>
            <a:off x="8388985" y="3035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21" name="Text 18"/>
          <p:cNvSpPr/>
          <p:nvPr>
            <p:custDataLst>
              <p:tags r:id="rId19"/>
            </p:custDataLst>
          </p:nvPr>
        </p:nvSpPr>
        <p:spPr>
          <a:xfrm>
            <a:off x="8035925" y="3835400"/>
            <a:ext cx="109474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丢包率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2" name="Text 19"/>
          <p:cNvSpPr/>
          <p:nvPr>
            <p:custDataLst>
              <p:tags r:id="rId20"/>
            </p:custDataLst>
          </p:nvPr>
        </p:nvSpPr>
        <p:spPr>
          <a:xfrm>
            <a:off x="8004810" y="4140200"/>
            <a:ext cx="1143000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数据包丢失比例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3" name="Shape 20"/>
          <p:cNvSpPr/>
          <p:nvPr>
            <p:custDataLst>
              <p:tags r:id="rId21"/>
            </p:custDataLst>
          </p:nvPr>
        </p:nvSpPr>
        <p:spPr>
          <a:xfrm>
            <a:off x="9645174" y="3073241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37304" y="138946"/>
                </a:moveTo>
                <a:cubicBezTo>
                  <a:pt x="344745" y="146387"/>
                  <a:pt x="344745" y="158472"/>
                  <a:pt x="337304" y="165914"/>
                </a:cubicBezTo>
                <a:lnTo>
                  <a:pt x="261104" y="242114"/>
                </a:lnTo>
                <a:cubicBezTo>
                  <a:pt x="255627" y="247590"/>
                  <a:pt x="247471" y="249198"/>
                  <a:pt x="240328" y="246221"/>
                </a:cubicBezTo>
                <a:cubicBezTo>
                  <a:pt x="233184" y="243245"/>
                  <a:pt x="228600" y="236280"/>
                  <a:pt x="228600" y="228600"/>
                </a:cubicBezTo>
                <a:lnTo>
                  <a:pt x="228600" y="190500"/>
                </a:lnTo>
                <a:lnTo>
                  <a:pt x="28575" y="190500"/>
                </a:lnTo>
                <a:cubicBezTo>
                  <a:pt x="12799" y="190500"/>
                  <a:pt x="0" y="177701"/>
                  <a:pt x="0" y="161925"/>
                </a:cubicBezTo>
                <a:lnTo>
                  <a:pt x="0" y="142875"/>
                </a:lnTo>
                <a:cubicBezTo>
                  <a:pt x="0" y="127099"/>
                  <a:pt x="12799" y="114300"/>
                  <a:pt x="28575" y="114300"/>
                </a:cubicBezTo>
                <a:lnTo>
                  <a:pt x="228600" y="114300"/>
                </a:lnTo>
                <a:lnTo>
                  <a:pt x="228600" y="76200"/>
                </a:lnTo>
                <a:cubicBezTo>
                  <a:pt x="228600" y="68520"/>
                  <a:pt x="233243" y="61555"/>
                  <a:pt x="240387" y="58579"/>
                </a:cubicBezTo>
                <a:cubicBezTo>
                  <a:pt x="247531" y="55602"/>
                  <a:pt x="255687" y="57269"/>
                  <a:pt x="261164" y="62686"/>
                </a:cubicBezTo>
                <a:lnTo>
                  <a:pt x="337364" y="138886"/>
                </a:lnTo>
                <a:close/>
              </a:path>
            </a:pathLst>
          </a:custGeom>
          <a:solidFill>
            <a:srgbClr val="7484DF"/>
          </a:solidFill>
        </p:spPr>
      </p:sp>
      <p:sp>
        <p:nvSpPr>
          <p:cNvPr id="24" name="Shape 21"/>
          <p:cNvSpPr/>
          <p:nvPr>
            <p:custDataLst>
              <p:tags r:id="rId22"/>
            </p:custDataLst>
          </p:nvPr>
        </p:nvSpPr>
        <p:spPr>
          <a:xfrm>
            <a:off x="10548938" y="2717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</p:spPr>
      </p:sp>
      <p:sp>
        <p:nvSpPr>
          <p:cNvPr id="25" name="Shape 22"/>
          <p:cNvSpPr/>
          <p:nvPr>
            <p:custDataLst>
              <p:tags r:id="rId23"/>
            </p:custDataLst>
          </p:nvPr>
        </p:nvSpPr>
        <p:spPr>
          <a:xfrm>
            <a:off x="10893425" y="30353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42875" y="95250"/>
                </a:moveTo>
                <a:cubicBezTo>
                  <a:pt x="142875" y="55823"/>
                  <a:pt x="110865" y="23812"/>
                  <a:pt x="71438" y="23812"/>
                </a:cubicBezTo>
                <a:cubicBezTo>
                  <a:pt x="32010" y="23812"/>
                  <a:pt x="0" y="55823"/>
                  <a:pt x="0" y="95250"/>
                </a:cubicBezTo>
                <a:cubicBezTo>
                  <a:pt x="0" y="134677"/>
                  <a:pt x="32010" y="166688"/>
                  <a:pt x="71437" y="166688"/>
                </a:cubicBezTo>
                <a:cubicBezTo>
                  <a:pt x="110865" y="166688"/>
                  <a:pt x="142875" y="134677"/>
                  <a:pt x="142875" y="95250"/>
                </a:cubicBezTo>
                <a:close/>
                <a:moveTo>
                  <a:pt x="333375" y="285750"/>
                </a:moveTo>
                <a:cubicBezTo>
                  <a:pt x="333375" y="246323"/>
                  <a:pt x="301365" y="214313"/>
                  <a:pt x="261938" y="214313"/>
                </a:cubicBezTo>
                <a:cubicBezTo>
                  <a:pt x="222510" y="214313"/>
                  <a:pt x="190500" y="246323"/>
                  <a:pt x="190500" y="285750"/>
                </a:cubicBezTo>
                <a:cubicBezTo>
                  <a:pt x="190500" y="325177"/>
                  <a:pt x="222510" y="357188"/>
                  <a:pt x="261938" y="357188"/>
                </a:cubicBezTo>
                <a:cubicBezTo>
                  <a:pt x="301365" y="357188"/>
                  <a:pt x="333375" y="325177"/>
                  <a:pt x="333375" y="285750"/>
                </a:cubicBezTo>
                <a:close/>
                <a:moveTo>
                  <a:pt x="326380" y="64443"/>
                </a:moveTo>
                <a:cubicBezTo>
                  <a:pt x="335682" y="55141"/>
                  <a:pt x="335682" y="40035"/>
                  <a:pt x="326380" y="30733"/>
                </a:cubicBezTo>
                <a:cubicBezTo>
                  <a:pt x="317078" y="21431"/>
                  <a:pt x="301972" y="21431"/>
                  <a:pt x="292671" y="30733"/>
                </a:cubicBezTo>
                <a:lnTo>
                  <a:pt x="6921" y="316483"/>
                </a:lnTo>
                <a:cubicBezTo>
                  <a:pt x="-2381" y="325785"/>
                  <a:pt x="-2381" y="340891"/>
                  <a:pt x="6921" y="350193"/>
                </a:cubicBezTo>
                <a:cubicBezTo>
                  <a:pt x="16222" y="359494"/>
                  <a:pt x="31328" y="359494"/>
                  <a:pt x="40630" y="350193"/>
                </a:cubicBezTo>
                <a:lnTo>
                  <a:pt x="326380" y="64443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26" name="Text 23"/>
          <p:cNvSpPr/>
          <p:nvPr>
            <p:custDataLst>
              <p:tags r:id="rId24"/>
            </p:custDataLst>
          </p:nvPr>
        </p:nvSpPr>
        <p:spPr>
          <a:xfrm>
            <a:off x="10629900" y="3835400"/>
            <a:ext cx="908685" cy="462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利用率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7" name="Text 24"/>
          <p:cNvSpPr/>
          <p:nvPr>
            <p:custDataLst>
              <p:tags r:id="rId25"/>
            </p:custDataLst>
          </p:nvPr>
        </p:nvSpPr>
        <p:spPr>
          <a:xfrm>
            <a:off x="10561955" y="4140200"/>
            <a:ext cx="1032510" cy="943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网络繁忙程度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209550" y="5067300"/>
            <a:ext cx="11772900" cy="1553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这些指标</a:t>
            </a:r>
            <a:r>
              <a:rPr lang="en-US" sz="28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相互独立又相互牵制</a:t>
            </a:r>
            <a:r>
              <a:rPr lang="en-US" sz="28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，共同决定了网络的服务质量和用户体验。</a:t>
            </a:r>
            <a:endParaRPr lang="en-US" sz="28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  <p:bldP spid="7" grpId="0"/>
      <p:bldP spid="7" grpId="1"/>
      <p:bldP spid="11" grpId="0"/>
      <p:bldP spid="11" grpId="1"/>
      <p:bldP spid="12" grpId="0"/>
      <p:bldP spid="12" grpId="1"/>
      <p:bldP spid="17" grpId="0"/>
      <p:bldP spid="17" grpId="1"/>
      <p:bldP spid="16" grpId="0"/>
      <p:bldP spid="16" grpId="1"/>
      <p:bldP spid="21" grpId="0"/>
      <p:bldP spid="21" grpId="1"/>
      <p:bldP spid="22" grpId="0"/>
      <p:bldP spid="22" grpId="1"/>
      <p:bldP spid="26" grpId="0"/>
      <p:bldP spid="26" grpId="1"/>
      <p:bldP spid="27" grpId="0"/>
      <p:bldP spid="27" grpId="1"/>
      <p:bldP spid="28" grpId="0"/>
      <p:bldP spid="2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2799715"/>
            <a:ext cx="6607175" cy="10845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互联网演进脉络</a:t>
            </a:r>
            <a:endParaRPr lang="en-US" sz="4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7" grpId="0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905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互联网概念与发展</a:t>
            </a:r>
            <a:endParaRPr lang="en-US" sz="5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03200" y="2565400"/>
            <a:ext cx="1178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区分 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Internet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(全球互联网) 与 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internet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(互联网络)，其发展经历了三个关键阶段：</a:t>
            </a:r>
            <a:endParaRPr lang="en-US" sz="24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254000" y="4089242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2167414" y="327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90E2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2103914" y="3276600"/>
            <a:ext cx="635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871855" y="4089400"/>
            <a:ext cx="3200400" cy="1294130"/>
          </a:xfrm>
          <a:custGeom>
            <a:avLst/>
            <a:gdLst/>
            <a:ahLst/>
            <a:cxnLst/>
            <a:rect l="l" t="t" r="r" b="b"/>
            <a:pathLst>
              <a:path w="3200400" h="863600">
                <a:moveTo>
                  <a:pt x="101603" y="0"/>
                </a:moveTo>
                <a:lnTo>
                  <a:pt x="3098797" y="0"/>
                </a:lnTo>
                <a:cubicBezTo>
                  <a:pt x="3154911" y="0"/>
                  <a:pt x="3200400" y="45489"/>
                  <a:pt x="3200400" y="101603"/>
                </a:cubicBezTo>
                <a:lnTo>
                  <a:pt x="3200400" y="761997"/>
                </a:lnTo>
                <a:cubicBezTo>
                  <a:pt x="3200400" y="818111"/>
                  <a:pt x="3154911" y="863600"/>
                  <a:pt x="309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973614" y="4241800"/>
            <a:ext cx="299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ARPANET → 互联网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986155" y="4597400"/>
            <a:ext cx="2971800" cy="587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从单个分组交换网发展为互连的网络集合。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5791200" y="327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90E2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5727700" y="3276600"/>
            <a:ext cx="635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>
            <p:custDataLst>
              <p:tags r:id="rId10"/>
            </p:custDataLst>
          </p:nvPr>
        </p:nvSpPr>
        <p:spPr>
          <a:xfrm>
            <a:off x="4495800" y="4089400"/>
            <a:ext cx="3200400" cy="1293495"/>
          </a:xfrm>
          <a:custGeom>
            <a:avLst/>
            <a:gdLst/>
            <a:ahLst/>
            <a:cxnLst/>
            <a:rect l="l" t="t" r="r" b="b"/>
            <a:pathLst>
              <a:path w="3200400" h="863600">
                <a:moveTo>
                  <a:pt x="101603" y="0"/>
                </a:moveTo>
                <a:lnTo>
                  <a:pt x="3098797" y="0"/>
                </a:lnTo>
                <a:cubicBezTo>
                  <a:pt x="3154911" y="0"/>
                  <a:pt x="3200400" y="45489"/>
                  <a:pt x="3200400" y="101603"/>
                </a:cubicBezTo>
                <a:lnTo>
                  <a:pt x="3200400" y="761997"/>
                </a:lnTo>
                <a:cubicBezTo>
                  <a:pt x="3200400" y="818111"/>
                  <a:pt x="3154911" y="863600"/>
                  <a:pt x="309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4597400" y="4241800"/>
            <a:ext cx="299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三级结构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12"/>
            </p:custDataLst>
          </p:nvPr>
        </p:nvSpPr>
        <p:spPr>
          <a:xfrm>
            <a:off x="4610100" y="4597400"/>
            <a:ext cx="2971800" cy="5359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形成主干网、地区网和校园网的三级结构。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6" name="Shape 13"/>
          <p:cNvSpPr/>
          <p:nvPr>
            <p:custDataLst>
              <p:tags r:id="rId13"/>
            </p:custDataLst>
          </p:nvPr>
        </p:nvSpPr>
        <p:spPr>
          <a:xfrm>
            <a:off x="9414987" y="327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90E2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>
            <p:custDataLst>
              <p:tags r:id="rId14"/>
            </p:custDataLst>
          </p:nvPr>
        </p:nvSpPr>
        <p:spPr>
          <a:xfrm>
            <a:off x="9351487" y="3276600"/>
            <a:ext cx="635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5"/>
          <p:cNvSpPr/>
          <p:nvPr>
            <p:custDataLst>
              <p:tags r:id="rId15"/>
            </p:custDataLst>
          </p:nvPr>
        </p:nvSpPr>
        <p:spPr>
          <a:xfrm>
            <a:off x="8159115" y="4089400"/>
            <a:ext cx="3124200" cy="1293495"/>
          </a:xfrm>
          <a:custGeom>
            <a:avLst/>
            <a:gdLst/>
            <a:ahLst/>
            <a:cxnLst/>
            <a:rect l="l" t="t" r="r" b="b"/>
            <a:pathLst>
              <a:path w="3124200" h="863600">
                <a:moveTo>
                  <a:pt x="101603" y="0"/>
                </a:moveTo>
                <a:lnTo>
                  <a:pt x="3022597" y="0"/>
                </a:lnTo>
                <a:cubicBezTo>
                  <a:pt x="3078711" y="0"/>
                  <a:pt x="3124200" y="45489"/>
                  <a:pt x="3124200" y="101603"/>
                </a:cubicBezTo>
                <a:lnTo>
                  <a:pt x="3124200" y="761997"/>
                </a:lnTo>
                <a:cubicBezTo>
                  <a:pt x="3124200" y="818111"/>
                  <a:pt x="3078711" y="863600"/>
                  <a:pt x="30225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Text 16"/>
          <p:cNvSpPr/>
          <p:nvPr>
            <p:custDataLst>
              <p:tags r:id="rId16"/>
            </p:custDataLst>
          </p:nvPr>
        </p:nvSpPr>
        <p:spPr>
          <a:xfrm>
            <a:off x="8260556" y="4241800"/>
            <a:ext cx="292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多层次ISP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0" name="Text 17"/>
          <p:cNvSpPr/>
          <p:nvPr>
            <p:custDataLst>
              <p:tags r:id="rId17"/>
            </p:custDataLst>
          </p:nvPr>
        </p:nvSpPr>
        <p:spPr>
          <a:xfrm>
            <a:off x="8273415" y="4597400"/>
            <a:ext cx="2895600" cy="536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形成基于ISP的多层次、商业化网络结构。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9" grpId="0"/>
      <p:bldP spid="9" grpId="1"/>
      <p:bldP spid="10" grpId="0"/>
      <p:bldP spid="10" grpId="1"/>
      <p:bldP spid="14" grpId="0"/>
      <p:bldP spid="14" grpId="1"/>
      <p:bldP spid="15" grpId="0"/>
      <p:bldP spid="15" grpId="1"/>
      <p:bldP spid="19" grpId="0"/>
      <p:bldP spid="19" grpId="1"/>
      <p:bldP spid="20" grpId="0"/>
      <p:bldP spid="2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66675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互联网的组成</a:t>
            </a:r>
            <a:endParaRPr lang="en-US" sz="5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1397000" y="1428750"/>
            <a:ext cx="4673600" cy="4762500"/>
          </a:xfrm>
          <a:custGeom>
            <a:avLst/>
            <a:gdLst/>
            <a:ahLst/>
            <a:cxnLst/>
            <a:rect l="l" t="t" r="r" b="b"/>
            <a:pathLst>
              <a:path w="4673600" h="4762500">
                <a:moveTo>
                  <a:pt x="152406" y="0"/>
                </a:moveTo>
                <a:lnTo>
                  <a:pt x="4673600" y="0"/>
                </a:lnTo>
                <a:lnTo>
                  <a:pt x="4673600" y="4762500"/>
                </a:lnTo>
                <a:lnTo>
                  <a:pt x="152406" y="4762500"/>
                </a:lnTo>
                <a:cubicBezTo>
                  <a:pt x="68235" y="4762500"/>
                  <a:pt x="0" y="4694265"/>
                  <a:pt x="0" y="46100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3352800" y="28702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533400" y="285750"/>
                </a:moveTo>
                <a:lnTo>
                  <a:pt x="557093" y="285750"/>
                </a:lnTo>
                <a:cubicBezTo>
                  <a:pt x="575548" y="285750"/>
                  <a:pt x="590550" y="270748"/>
                  <a:pt x="590550" y="252293"/>
                </a:cubicBezTo>
                <a:cubicBezTo>
                  <a:pt x="590550" y="243245"/>
                  <a:pt x="586859" y="234553"/>
                  <a:pt x="580311" y="228243"/>
                </a:cubicBezTo>
                <a:lnTo>
                  <a:pt x="337542" y="-5834"/>
                </a:lnTo>
                <a:cubicBezTo>
                  <a:pt x="328732" y="-14287"/>
                  <a:pt x="317063" y="-19050"/>
                  <a:pt x="304800" y="-19050"/>
                </a:cubicBezTo>
                <a:cubicBezTo>
                  <a:pt x="292537" y="-19050"/>
                  <a:pt x="280868" y="-14287"/>
                  <a:pt x="272058" y="-5834"/>
                </a:cubicBezTo>
                <a:lnTo>
                  <a:pt x="29289" y="228243"/>
                </a:lnTo>
                <a:cubicBezTo>
                  <a:pt x="22741" y="234553"/>
                  <a:pt x="19050" y="243245"/>
                  <a:pt x="19050" y="252293"/>
                </a:cubicBezTo>
                <a:cubicBezTo>
                  <a:pt x="19050" y="270748"/>
                  <a:pt x="34052" y="285750"/>
                  <a:pt x="52507" y="285750"/>
                </a:cubicBezTo>
                <a:lnTo>
                  <a:pt x="76200" y="285750"/>
                </a:lnTo>
                <a:lnTo>
                  <a:pt x="76200" y="457200"/>
                </a:lnTo>
                <a:cubicBezTo>
                  <a:pt x="76200" y="499229"/>
                  <a:pt x="110371" y="533400"/>
                  <a:pt x="152400" y="533400"/>
                </a:cubicBezTo>
                <a:lnTo>
                  <a:pt x="254437" y="533400"/>
                </a:lnTo>
                <a:cubicBezTo>
                  <a:pt x="263247" y="525542"/>
                  <a:pt x="273963" y="519827"/>
                  <a:pt x="285750" y="516731"/>
                </a:cubicBezTo>
                <a:lnTo>
                  <a:pt x="285750" y="361950"/>
                </a:lnTo>
                <a:cubicBezTo>
                  <a:pt x="285750" y="355402"/>
                  <a:pt x="286583" y="348972"/>
                  <a:pt x="288131" y="342900"/>
                </a:cubicBezTo>
                <a:lnTo>
                  <a:pt x="276225" y="342900"/>
                </a:lnTo>
                <a:cubicBezTo>
                  <a:pt x="260390" y="342900"/>
                  <a:pt x="247650" y="330160"/>
                  <a:pt x="247650" y="314325"/>
                </a:cubicBezTo>
                <a:lnTo>
                  <a:pt x="247650" y="257175"/>
                </a:lnTo>
                <a:cubicBezTo>
                  <a:pt x="247650" y="241340"/>
                  <a:pt x="260390" y="228600"/>
                  <a:pt x="276225" y="228600"/>
                </a:cubicBezTo>
                <a:lnTo>
                  <a:pt x="333375" y="228600"/>
                </a:lnTo>
                <a:cubicBezTo>
                  <a:pt x="349210" y="228600"/>
                  <a:pt x="361950" y="241340"/>
                  <a:pt x="361950" y="257175"/>
                </a:cubicBezTo>
                <a:lnTo>
                  <a:pt x="361950" y="285750"/>
                </a:lnTo>
                <a:lnTo>
                  <a:pt x="533400" y="285750"/>
                </a:lnTo>
                <a:close/>
                <a:moveTo>
                  <a:pt x="419100" y="419100"/>
                </a:moveTo>
                <a:lnTo>
                  <a:pt x="609600" y="419100"/>
                </a:lnTo>
                <a:lnTo>
                  <a:pt x="609600" y="571500"/>
                </a:lnTo>
                <a:lnTo>
                  <a:pt x="419100" y="571500"/>
                </a:lnTo>
                <a:lnTo>
                  <a:pt x="419100" y="419100"/>
                </a:lnTo>
                <a:close/>
                <a:moveTo>
                  <a:pt x="342900" y="381000"/>
                </a:moveTo>
                <a:lnTo>
                  <a:pt x="342900" y="571500"/>
                </a:lnTo>
                <a:lnTo>
                  <a:pt x="304800" y="571500"/>
                </a:lnTo>
                <a:cubicBezTo>
                  <a:pt x="294322" y="571500"/>
                  <a:pt x="285750" y="580073"/>
                  <a:pt x="285750" y="590550"/>
                </a:cubicBezTo>
                <a:cubicBezTo>
                  <a:pt x="285750" y="622102"/>
                  <a:pt x="311348" y="647700"/>
                  <a:pt x="342900" y="647700"/>
                </a:cubicBezTo>
                <a:lnTo>
                  <a:pt x="685800" y="647700"/>
                </a:lnTo>
                <a:cubicBezTo>
                  <a:pt x="717352" y="647700"/>
                  <a:pt x="742950" y="622102"/>
                  <a:pt x="742950" y="590550"/>
                </a:cubicBezTo>
                <a:cubicBezTo>
                  <a:pt x="742950" y="580073"/>
                  <a:pt x="734378" y="571500"/>
                  <a:pt x="723900" y="571500"/>
                </a:cubicBezTo>
                <a:lnTo>
                  <a:pt x="685800" y="571500"/>
                </a:lnTo>
                <a:lnTo>
                  <a:pt x="685800" y="381000"/>
                </a:lnTo>
                <a:cubicBezTo>
                  <a:pt x="685800" y="359926"/>
                  <a:pt x="668774" y="342900"/>
                  <a:pt x="647700" y="342900"/>
                </a:cubicBezTo>
                <a:lnTo>
                  <a:pt x="381000" y="342900"/>
                </a:lnTo>
                <a:cubicBezTo>
                  <a:pt x="359926" y="342900"/>
                  <a:pt x="342900" y="359926"/>
                  <a:pt x="342900" y="38100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2118995" y="3683000"/>
            <a:ext cx="3009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边缘部分</a:t>
            </a:r>
            <a:endParaRPr lang="en-US" sz="28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1657350" y="4241800"/>
            <a:ext cx="4152900" cy="1769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由所有连接在互联网上的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主机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组成，是用户直接使用的部分，用于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通信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和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资源共享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4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Shape 5"/>
          <p:cNvSpPr/>
          <p:nvPr>
            <p:custDataLst>
              <p:tags r:id="rId6"/>
            </p:custDataLst>
          </p:nvPr>
        </p:nvSpPr>
        <p:spPr>
          <a:xfrm>
            <a:off x="6070600" y="32004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7484DF"/>
          </a:solidFill>
        </p:spPr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6121400" y="1428750"/>
            <a:ext cx="4673600" cy="4762500"/>
          </a:xfrm>
          <a:custGeom>
            <a:avLst/>
            <a:gdLst/>
            <a:ahLst/>
            <a:cxnLst/>
            <a:rect l="l" t="t" r="r" b="b"/>
            <a:pathLst>
              <a:path w="4673600" h="4762500">
                <a:moveTo>
                  <a:pt x="0" y="0"/>
                </a:moveTo>
                <a:lnTo>
                  <a:pt x="4521194" y="0"/>
                </a:lnTo>
                <a:cubicBezTo>
                  <a:pt x="4605365" y="0"/>
                  <a:pt x="4673600" y="68235"/>
                  <a:pt x="4673600" y="152406"/>
                </a:cubicBezTo>
                <a:lnTo>
                  <a:pt x="4673600" y="4610094"/>
                </a:lnTo>
                <a:cubicBezTo>
                  <a:pt x="4673600" y="4694265"/>
                  <a:pt x="4605365" y="4762500"/>
                  <a:pt x="4521194" y="4762500"/>
                </a:cubicBezTo>
                <a:lnTo>
                  <a:pt x="0" y="47625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2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8115300" y="28702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295275" y="104775"/>
                </a:moveTo>
                <a:lnTo>
                  <a:pt x="390525" y="104775"/>
                </a:lnTo>
                <a:lnTo>
                  <a:pt x="390525" y="161925"/>
                </a:lnTo>
                <a:lnTo>
                  <a:pt x="295275" y="161925"/>
                </a:lnTo>
                <a:lnTo>
                  <a:pt x="295275" y="104775"/>
                </a:lnTo>
                <a:close/>
                <a:moveTo>
                  <a:pt x="285750" y="38100"/>
                </a:moveTo>
                <a:cubicBezTo>
                  <a:pt x="254198" y="38100"/>
                  <a:pt x="228600" y="63698"/>
                  <a:pt x="228600" y="95250"/>
                </a:cubicBezTo>
                <a:lnTo>
                  <a:pt x="228600" y="171450"/>
                </a:lnTo>
                <a:cubicBezTo>
                  <a:pt x="228600" y="203002"/>
                  <a:pt x="254198" y="228600"/>
                  <a:pt x="285750" y="228600"/>
                </a:cubicBezTo>
                <a:lnTo>
                  <a:pt x="304800" y="228600"/>
                </a:lnTo>
                <a:lnTo>
                  <a:pt x="304800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152400" y="342900"/>
                </a:lnTo>
                <a:lnTo>
                  <a:pt x="152400" y="381000"/>
                </a:lnTo>
                <a:lnTo>
                  <a:pt x="133350" y="381000"/>
                </a:lnTo>
                <a:cubicBezTo>
                  <a:pt x="101798" y="381000"/>
                  <a:pt x="76200" y="406598"/>
                  <a:pt x="76200" y="438150"/>
                </a:cubicBezTo>
                <a:lnTo>
                  <a:pt x="76200" y="514350"/>
                </a:lnTo>
                <a:cubicBezTo>
                  <a:pt x="76200" y="545902"/>
                  <a:pt x="101798" y="571500"/>
                  <a:pt x="133350" y="571500"/>
                </a:cubicBezTo>
                <a:lnTo>
                  <a:pt x="247650" y="571500"/>
                </a:lnTo>
                <a:cubicBezTo>
                  <a:pt x="279202" y="571500"/>
                  <a:pt x="304800" y="545902"/>
                  <a:pt x="304800" y="514350"/>
                </a:cubicBezTo>
                <a:lnTo>
                  <a:pt x="304800" y="438150"/>
                </a:lnTo>
                <a:cubicBezTo>
                  <a:pt x="304800" y="406598"/>
                  <a:pt x="279202" y="381000"/>
                  <a:pt x="247650" y="381000"/>
                </a:cubicBezTo>
                <a:lnTo>
                  <a:pt x="228600" y="381000"/>
                </a:lnTo>
                <a:lnTo>
                  <a:pt x="228600" y="342900"/>
                </a:lnTo>
                <a:lnTo>
                  <a:pt x="457200" y="342900"/>
                </a:lnTo>
                <a:lnTo>
                  <a:pt x="457200" y="381000"/>
                </a:lnTo>
                <a:lnTo>
                  <a:pt x="438150" y="381000"/>
                </a:lnTo>
                <a:cubicBezTo>
                  <a:pt x="406598" y="381000"/>
                  <a:pt x="381000" y="406598"/>
                  <a:pt x="381000" y="438150"/>
                </a:cubicBezTo>
                <a:lnTo>
                  <a:pt x="381000" y="514350"/>
                </a:lnTo>
                <a:cubicBezTo>
                  <a:pt x="381000" y="545902"/>
                  <a:pt x="406598" y="571500"/>
                  <a:pt x="438150" y="571500"/>
                </a:cubicBezTo>
                <a:lnTo>
                  <a:pt x="552450" y="571500"/>
                </a:lnTo>
                <a:cubicBezTo>
                  <a:pt x="584002" y="571500"/>
                  <a:pt x="609600" y="545902"/>
                  <a:pt x="609600" y="514350"/>
                </a:cubicBezTo>
                <a:lnTo>
                  <a:pt x="609600" y="438150"/>
                </a:lnTo>
                <a:cubicBezTo>
                  <a:pt x="609600" y="406598"/>
                  <a:pt x="584002" y="381000"/>
                  <a:pt x="552450" y="381000"/>
                </a:cubicBezTo>
                <a:lnTo>
                  <a:pt x="533400" y="381000"/>
                </a:lnTo>
                <a:lnTo>
                  <a:pt x="533400" y="342900"/>
                </a:lnTo>
                <a:lnTo>
                  <a:pt x="647700" y="342900"/>
                </a:lnTo>
                <a:cubicBezTo>
                  <a:pt x="668774" y="342900"/>
                  <a:pt x="685800" y="325874"/>
                  <a:pt x="685800" y="304800"/>
                </a:cubicBezTo>
                <a:cubicBezTo>
                  <a:pt x="685800" y="283726"/>
                  <a:pt x="668774" y="266700"/>
                  <a:pt x="647700" y="266700"/>
                </a:cubicBezTo>
                <a:lnTo>
                  <a:pt x="381000" y="266700"/>
                </a:lnTo>
                <a:lnTo>
                  <a:pt x="381000" y="228600"/>
                </a:lnTo>
                <a:lnTo>
                  <a:pt x="400050" y="228600"/>
                </a:lnTo>
                <a:cubicBezTo>
                  <a:pt x="431602" y="228600"/>
                  <a:pt x="457200" y="203002"/>
                  <a:pt x="457200" y="171450"/>
                </a:cubicBezTo>
                <a:lnTo>
                  <a:pt x="457200" y="95250"/>
                </a:lnTo>
                <a:cubicBezTo>
                  <a:pt x="457200" y="63698"/>
                  <a:pt x="431602" y="38100"/>
                  <a:pt x="400050" y="38100"/>
                </a:cubicBezTo>
                <a:lnTo>
                  <a:pt x="285750" y="38100"/>
                </a:lnTo>
                <a:close/>
                <a:moveTo>
                  <a:pt x="533400" y="447675"/>
                </a:moveTo>
                <a:lnTo>
                  <a:pt x="542925" y="447675"/>
                </a:lnTo>
                <a:lnTo>
                  <a:pt x="542925" y="504825"/>
                </a:lnTo>
                <a:lnTo>
                  <a:pt x="447675" y="504825"/>
                </a:lnTo>
                <a:lnTo>
                  <a:pt x="447675" y="447675"/>
                </a:lnTo>
                <a:lnTo>
                  <a:pt x="533400" y="447675"/>
                </a:lnTo>
                <a:close/>
                <a:moveTo>
                  <a:pt x="228600" y="447675"/>
                </a:moveTo>
                <a:lnTo>
                  <a:pt x="238125" y="447675"/>
                </a:lnTo>
                <a:lnTo>
                  <a:pt x="238125" y="504825"/>
                </a:lnTo>
                <a:lnTo>
                  <a:pt x="142875" y="504825"/>
                </a:lnTo>
                <a:lnTo>
                  <a:pt x="142875" y="447675"/>
                </a:lnTo>
                <a:lnTo>
                  <a:pt x="228600" y="447675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1" name="Text 8"/>
          <p:cNvSpPr/>
          <p:nvPr>
            <p:custDataLst>
              <p:tags r:id="rId9"/>
            </p:custDataLst>
          </p:nvPr>
        </p:nvSpPr>
        <p:spPr>
          <a:xfrm>
            <a:off x="7063740" y="3683000"/>
            <a:ext cx="270637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核心部分</a:t>
            </a:r>
            <a:endParaRPr lang="en-US" sz="28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6381750" y="4241800"/>
            <a:ext cx="4152900" cy="1759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由大量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和连接这些网络的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路由器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组成，为边缘部分提供服务，确保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连通性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4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  <p:bldP spid="11" grpId="0"/>
      <p:bldP spid="11" grpId="1"/>
      <p:bldP spid="7" grpId="0"/>
      <p:bldP spid="7" grpId="1"/>
      <p:bldP spid="12" grpId="0"/>
      <p:bldP spid="1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2872105"/>
            <a:ext cx="6607175" cy="78295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协议与服务机制</a:t>
            </a:r>
            <a:endParaRPr lang="en-US" sz="4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7" grpId="0"/>
      <p:bldP spid="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755" y="787400"/>
            <a:ext cx="80930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协议、实体与服务的关系</a:t>
            </a:r>
            <a:endParaRPr lang="en-US" sz="5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714500" y="1651000"/>
            <a:ext cx="8763000" cy="914400"/>
          </a:xfrm>
          <a:custGeom>
            <a:avLst/>
            <a:gdLst/>
            <a:ahLst/>
            <a:cxnLst/>
            <a:rect l="l" t="t" r="r" b="b"/>
            <a:pathLst>
              <a:path w="8763000" h="914400">
                <a:moveTo>
                  <a:pt x="101599" y="0"/>
                </a:moveTo>
                <a:lnTo>
                  <a:pt x="8661401" y="0"/>
                </a:lnTo>
                <a:cubicBezTo>
                  <a:pt x="8717513" y="0"/>
                  <a:pt x="8763000" y="45487"/>
                  <a:pt x="8763000" y="101599"/>
                </a:cubicBezTo>
                <a:lnTo>
                  <a:pt x="8763000" y="812801"/>
                </a:lnTo>
                <a:cubicBezTo>
                  <a:pt x="8763000" y="868913"/>
                  <a:pt x="8717513" y="914400"/>
                  <a:pt x="8661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1981200" y="1955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2476500" y="1803400"/>
            <a:ext cx="3314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 (Service)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2476500" y="2159000"/>
            <a:ext cx="465518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下层为上层提供的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功能接口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，是垂直的。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Shape 5"/>
          <p:cNvSpPr/>
          <p:nvPr>
            <p:custDataLst>
              <p:tags r:id="rId4"/>
            </p:custDataLst>
          </p:nvPr>
        </p:nvSpPr>
        <p:spPr>
          <a:xfrm>
            <a:off x="6089650" y="2667000"/>
            <a:ext cx="12700" cy="304800"/>
          </a:xfrm>
          <a:custGeom>
            <a:avLst/>
            <a:gdLst/>
            <a:ahLst/>
            <a:cxnLst/>
            <a:rect l="l" t="t" r="r" b="b"/>
            <a:pathLst>
              <a:path w="12700" h="304800">
                <a:moveTo>
                  <a:pt x="0" y="0"/>
                </a:moveTo>
                <a:lnTo>
                  <a:pt x="12700" y="0"/>
                </a:lnTo>
                <a:lnTo>
                  <a:pt x="12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7484DF"/>
          </a:solidFill>
        </p:spPr>
      </p:sp>
      <p:sp>
        <p:nvSpPr>
          <p:cNvPr id="9" name="Shape 6"/>
          <p:cNvSpPr/>
          <p:nvPr/>
        </p:nvSpPr>
        <p:spPr>
          <a:xfrm>
            <a:off x="1714500" y="3073400"/>
            <a:ext cx="8763000" cy="914400"/>
          </a:xfrm>
          <a:custGeom>
            <a:avLst/>
            <a:gdLst/>
            <a:ahLst/>
            <a:cxnLst/>
            <a:rect l="l" t="t" r="r" b="b"/>
            <a:pathLst>
              <a:path w="8763000" h="914400">
                <a:moveTo>
                  <a:pt x="101599" y="0"/>
                </a:moveTo>
                <a:lnTo>
                  <a:pt x="8661401" y="0"/>
                </a:lnTo>
                <a:cubicBezTo>
                  <a:pt x="8717513" y="0"/>
                  <a:pt x="8763000" y="45487"/>
                  <a:pt x="8763000" y="101599"/>
                </a:cubicBezTo>
                <a:lnTo>
                  <a:pt x="8763000" y="812801"/>
                </a:lnTo>
                <a:cubicBezTo>
                  <a:pt x="8763000" y="868913"/>
                  <a:pt x="8717513" y="914400"/>
                  <a:pt x="8661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2057400" y="33782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52388" y="38100"/>
                </a:moveTo>
                <a:cubicBezTo>
                  <a:pt x="44470" y="38100"/>
                  <a:pt x="38100" y="44470"/>
                  <a:pt x="38100" y="52388"/>
                </a:cubicBezTo>
                <a:cubicBezTo>
                  <a:pt x="38100" y="60305"/>
                  <a:pt x="44470" y="66675"/>
                  <a:pt x="52388" y="66675"/>
                </a:cubicBezTo>
                <a:lnTo>
                  <a:pt x="80962" y="66675"/>
                </a:lnTo>
                <a:cubicBezTo>
                  <a:pt x="88880" y="66675"/>
                  <a:pt x="95250" y="60305"/>
                  <a:pt x="95250" y="52388"/>
                </a:cubicBezTo>
                <a:cubicBezTo>
                  <a:pt x="95250" y="44470"/>
                  <a:pt x="88880" y="38100"/>
                  <a:pt x="80962" y="38100"/>
                </a:cubicBezTo>
                <a:lnTo>
                  <a:pt x="52388" y="38100"/>
                </a:lnTo>
                <a:close/>
                <a:moveTo>
                  <a:pt x="52388" y="95250"/>
                </a:moveTo>
                <a:cubicBezTo>
                  <a:pt x="44470" y="95250"/>
                  <a:pt x="38100" y="101620"/>
                  <a:pt x="38100" y="109537"/>
                </a:cubicBezTo>
                <a:cubicBezTo>
                  <a:pt x="38100" y="117455"/>
                  <a:pt x="44470" y="123825"/>
                  <a:pt x="52388" y="123825"/>
                </a:cubicBezTo>
                <a:lnTo>
                  <a:pt x="80962" y="123825"/>
                </a:lnTo>
                <a:cubicBezTo>
                  <a:pt x="88880" y="123825"/>
                  <a:pt x="95250" y="117455"/>
                  <a:pt x="95250" y="109537"/>
                </a:cubicBezTo>
                <a:cubicBezTo>
                  <a:pt x="95250" y="101620"/>
                  <a:pt x="88880" y="95250"/>
                  <a:pt x="80962" y="95250"/>
                </a:cubicBezTo>
                <a:lnTo>
                  <a:pt x="52388" y="95250"/>
                </a:lnTo>
                <a:close/>
                <a:moveTo>
                  <a:pt x="94238" y="190500"/>
                </a:moveTo>
                <a:cubicBezTo>
                  <a:pt x="87511" y="190500"/>
                  <a:pt x="81201" y="193536"/>
                  <a:pt x="77033" y="198775"/>
                </a:cubicBezTo>
                <a:lnTo>
                  <a:pt x="41255" y="243483"/>
                </a:lnTo>
                <a:cubicBezTo>
                  <a:pt x="36314" y="249615"/>
                  <a:pt x="37326" y="258663"/>
                  <a:pt x="43458" y="263545"/>
                </a:cubicBezTo>
                <a:cubicBezTo>
                  <a:pt x="49590" y="268426"/>
                  <a:pt x="58638" y="267474"/>
                  <a:pt x="63520" y="261283"/>
                </a:cubicBezTo>
                <a:lnTo>
                  <a:pt x="91559" y="226278"/>
                </a:lnTo>
                <a:lnTo>
                  <a:pt x="100608" y="256461"/>
                </a:lnTo>
                <a:cubicBezTo>
                  <a:pt x="102394" y="262533"/>
                  <a:pt x="107990" y="266640"/>
                  <a:pt x="114300" y="266640"/>
                </a:cubicBezTo>
                <a:lnTo>
                  <a:pt x="176212" y="266640"/>
                </a:lnTo>
                <a:cubicBezTo>
                  <a:pt x="184130" y="266640"/>
                  <a:pt x="190500" y="260271"/>
                  <a:pt x="190500" y="252353"/>
                </a:cubicBezTo>
                <a:cubicBezTo>
                  <a:pt x="190500" y="244435"/>
                  <a:pt x="184130" y="238065"/>
                  <a:pt x="176212" y="238065"/>
                </a:cubicBezTo>
                <a:lnTo>
                  <a:pt x="124956" y="238065"/>
                </a:lnTo>
                <a:lnTo>
                  <a:pt x="115372" y="206157"/>
                </a:lnTo>
                <a:cubicBezTo>
                  <a:pt x="112574" y="196810"/>
                  <a:pt x="104001" y="190440"/>
                  <a:pt x="94238" y="19044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2476500" y="3225800"/>
            <a:ext cx="3136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协议 (Protocol)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2476500" y="3581400"/>
            <a:ext cx="421767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控制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对等实体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通信的规则，是水平的。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6089650" y="4089400"/>
            <a:ext cx="12700" cy="304800"/>
          </a:xfrm>
          <a:custGeom>
            <a:avLst/>
            <a:gdLst/>
            <a:ahLst/>
            <a:cxnLst/>
            <a:rect l="l" t="t" r="r" b="b"/>
            <a:pathLst>
              <a:path w="12700" h="304800">
                <a:moveTo>
                  <a:pt x="0" y="0"/>
                </a:moveTo>
                <a:lnTo>
                  <a:pt x="12700" y="0"/>
                </a:lnTo>
                <a:lnTo>
                  <a:pt x="12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7484DF"/>
          </a:solidFill>
        </p:spPr>
      </p:sp>
      <p:sp>
        <p:nvSpPr>
          <p:cNvPr id="14" name="Shape 11"/>
          <p:cNvSpPr/>
          <p:nvPr/>
        </p:nvSpPr>
        <p:spPr>
          <a:xfrm>
            <a:off x="1714500" y="4495800"/>
            <a:ext cx="8763000" cy="914400"/>
          </a:xfrm>
          <a:custGeom>
            <a:avLst/>
            <a:gdLst/>
            <a:ahLst/>
            <a:cxnLst/>
            <a:rect l="l" t="t" r="r" b="b"/>
            <a:pathLst>
              <a:path w="8763000" h="914400">
                <a:moveTo>
                  <a:pt x="101599" y="0"/>
                </a:moveTo>
                <a:lnTo>
                  <a:pt x="8661401" y="0"/>
                </a:lnTo>
                <a:cubicBezTo>
                  <a:pt x="8717513" y="0"/>
                  <a:pt x="8763000" y="45487"/>
                  <a:pt x="8763000" y="101599"/>
                </a:cubicBezTo>
                <a:lnTo>
                  <a:pt x="8763000" y="812801"/>
                </a:lnTo>
                <a:cubicBezTo>
                  <a:pt x="8763000" y="868913"/>
                  <a:pt x="8717513" y="914400"/>
                  <a:pt x="8661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20193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14288"/>
                </a:moveTo>
                <a:cubicBezTo>
                  <a:pt x="104775" y="6370"/>
                  <a:pt x="98405" y="0"/>
                  <a:pt x="90488" y="0"/>
                </a:cubicBezTo>
                <a:cubicBezTo>
                  <a:pt x="82570" y="0"/>
                  <a:pt x="76200" y="6370"/>
                  <a:pt x="76200" y="14288"/>
                </a:cubicBezTo>
                <a:lnTo>
                  <a:pt x="76200" y="38100"/>
                </a:lnTo>
                <a:cubicBezTo>
                  <a:pt x="55185" y="38100"/>
                  <a:pt x="38100" y="55185"/>
                  <a:pt x="38100" y="76200"/>
                </a:cubicBezTo>
                <a:lnTo>
                  <a:pt x="14288" y="76200"/>
                </a:lnTo>
                <a:cubicBezTo>
                  <a:pt x="6370" y="76200"/>
                  <a:pt x="0" y="82570"/>
                  <a:pt x="0" y="90488"/>
                </a:cubicBezTo>
                <a:cubicBezTo>
                  <a:pt x="0" y="98405"/>
                  <a:pt x="6370" y="104775"/>
                  <a:pt x="14288" y="104775"/>
                </a:cubicBezTo>
                <a:lnTo>
                  <a:pt x="38100" y="104775"/>
                </a:lnTo>
                <a:lnTo>
                  <a:pt x="38100" y="138113"/>
                </a:lnTo>
                <a:lnTo>
                  <a:pt x="14288" y="138113"/>
                </a:lnTo>
                <a:cubicBezTo>
                  <a:pt x="6370" y="138113"/>
                  <a:pt x="0" y="144482"/>
                  <a:pt x="0" y="152400"/>
                </a:cubicBezTo>
                <a:cubicBezTo>
                  <a:pt x="0" y="160318"/>
                  <a:pt x="6370" y="166688"/>
                  <a:pt x="14288" y="166688"/>
                </a:cubicBezTo>
                <a:lnTo>
                  <a:pt x="38100" y="166688"/>
                </a:lnTo>
                <a:lnTo>
                  <a:pt x="38100" y="200025"/>
                </a:lnTo>
                <a:lnTo>
                  <a:pt x="14288" y="200025"/>
                </a:lnTo>
                <a:cubicBezTo>
                  <a:pt x="6370" y="200025"/>
                  <a:pt x="0" y="206395"/>
                  <a:pt x="0" y="214313"/>
                </a:cubicBezTo>
                <a:cubicBezTo>
                  <a:pt x="0" y="222230"/>
                  <a:pt x="6370" y="228600"/>
                  <a:pt x="14288" y="228600"/>
                </a:cubicBezTo>
                <a:lnTo>
                  <a:pt x="38100" y="228600"/>
                </a:lnTo>
                <a:cubicBezTo>
                  <a:pt x="38100" y="249615"/>
                  <a:pt x="55185" y="266700"/>
                  <a:pt x="76200" y="266700"/>
                </a:cubicBezTo>
                <a:lnTo>
                  <a:pt x="76200" y="290513"/>
                </a:lnTo>
                <a:cubicBezTo>
                  <a:pt x="76200" y="298430"/>
                  <a:pt x="82570" y="304800"/>
                  <a:pt x="90488" y="304800"/>
                </a:cubicBezTo>
                <a:cubicBezTo>
                  <a:pt x="98405" y="304800"/>
                  <a:pt x="104775" y="298430"/>
                  <a:pt x="104775" y="290513"/>
                </a:cubicBezTo>
                <a:lnTo>
                  <a:pt x="104775" y="266700"/>
                </a:lnTo>
                <a:lnTo>
                  <a:pt x="138113" y="266700"/>
                </a:lnTo>
                <a:lnTo>
                  <a:pt x="138113" y="290513"/>
                </a:lnTo>
                <a:cubicBezTo>
                  <a:pt x="138113" y="298430"/>
                  <a:pt x="144482" y="304800"/>
                  <a:pt x="152400" y="304800"/>
                </a:cubicBezTo>
                <a:cubicBezTo>
                  <a:pt x="160318" y="304800"/>
                  <a:pt x="166688" y="298430"/>
                  <a:pt x="166688" y="290513"/>
                </a:cubicBezTo>
                <a:lnTo>
                  <a:pt x="166688" y="266700"/>
                </a:lnTo>
                <a:lnTo>
                  <a:pt x="200025" y="266700"/>
                </a:lnTo>
                <a:lnTo>
                  <a:pt x="200025" y="290513"/>
                </a:lnTo>
                <a:cubicBezTo>
                  <a:pt x="200025" y="298430"/>
                  <a:pt x="206395" y="304800"/>
                  <a:pt x="214313" y="304800"/>
                </a:cubicBezTo>
                <a:cubicBezTo>
                  <a:pt x="222230" y="304800"/>
                  <a:pt x="228600" y="298430"/>
                  <a:pt x="228600" y="290513"/>
                </a:cubicBezTo>
                <a:lnTo>
                  <a:pt x="228600" y="266700"/>
                </a:lnTo>
                <a:cubicBezTo>
                  <a:pt x="249615" y="266700"/>
                  <a:pt x="266700" y="249615"/>
                  <a:pt x="266700" y="228600"/>
                </a:cubicBezTo>
                <a:lnTo>
                  <a:pt x="290513" y="228600"/>
                </a:lnTo>
                <a:cubicBezTo>
                  <a:pt x="298430" y="228600"/>
                  <a:pt x="304800" y="222230"/>
                  <a:pt x="304800" y="214313"/>
                </a:cubicBezTo>
                <a:cubicBezTo>
                  <a:pt x="304800" y="206395"/>
                  <a:pt x="298430" y="200025"/>
                  <a:pt x="290513" y="200025"/>
                </a:cubicBezTo>
                <a:lnTo>
                  <a:pt x="266700" y="200025"/>
                </a:lnTo>
                <a:lnTo>
                  <a:pt x="266700" y="166688"/>
                </a:lnTo>
                <a:lnTo>
                  <a:pt x="290513" y="166688"/>
                </a:lnTo>
                <a:cubicBezTo>
                  <a:pt x="298430" y="166688"/>
                  <a:pt x="304800" y="160318"/>
                  <a:pt x="304800" y="152400"/>
                </a:cubicBezTo>
                <a:cubicBezTo>
                  <a:pt x="304800" y="144482"/>
                  <a:pt x="298430" y="138113"/>
                  <a:pt x="290513" y="138113"/>
                </a:cubicBezTo>
                <a:lnTo>
                  <a:pt x="266700" y="138113"/>
                </a:lnTo>
                <a:lnTo>
                  <a:pt x="266700" y="104775"/>
                </a:lnTo>
                <a:lnTo>
                  <a:pt x="290513" y="104775"/>
                </a:lnTo>
                <a:cubicBezTo>
                  <a:pt x="298430" y="104775"/>
                  <a:pt x="304800" y="98405"/>
                  <a:pt x="304800" y="90488"/>
                </a:cubicBezTo>
                <a:cubicBezTo>
                  <a:pt x="304800" y="82570"/>
                  <a:pt x="298430" y="76200"/>
                  <a:pt x="290513" y="76200"/>
                </a:cubicBez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28600" y="14288"/>
                </a:lnTo>
                <a:cubicBezTo>
                  <a:pt x="228600" y="6370"/>
                  <a:pt x="222230" y="0"/>
                  <a:pt x="214313" y="0"/>
                </a:cubicBezTo>
                <a:cubicBezTo>
                  <a:pt x="206395" y="0"/>
                  <a:pt x="200025" y="6370"/>
                  <a:pt x="200025" y="14288"/>
                </a:cubicBezTo>
                <a:lnTo>
                  <a:pt x="200025" y="38100"/>
                </a:lnTo>
                <a:lnTo>
                  <a:pt x="166688" y="38100"/>
                </a:lnTo>
                <a:lnTo>
                  <a:pt x="166688" y="14288"/>
                </a:lnTo>
                <a:cubicBezTo>
                  <a:pt x="166688" y="6370"/>
                  <a:pt x="160318" y="0"/>
                  <a:pt x="152400" y="0"/>
                </a:cubicBezTo>
                <a:cubicBezTo>
                  <a:pt x="144482" y="0"/>
                  <a:pt x="138113" y="6370"/>
                  <a:pt x="138113" y="14288"/>
                </a:cubicBezTo>
                <a:lnTo>
                  <a:pt x="138113" y="38100"/>
                </a:lnTo>
                <a:lnTo>
                  <a:pt x="104775" y="38100"/>
                </a:lnTo>
                <a:lnTo>
                  <a:pt x="104775" y="14288"/>
                </a:lnTo>
                <a:close/>
                <a:moveTo>
                  <a:pt x="95250" y="76200"/>
                </a:moveTo>
                <a:lnTo>
                  <a:pt x="209550" y="76200"/>
                </a:lnTo>
                <a:cubicBezTo>
                  <a:pt x="220087" y="76200"/>
                  <a:pt x="228600" y="84713"/>
                  <a:pt x="228600" y="95250"/>
                </a:cubicBezTo>
                <a:lnTo>
                  <a:pt x="228600" y="209550"/>
                </a:lnTo>
                <a:cubicBezTo>
                  <a:pt x="228600" y="220087"/>
                  <a:pt x="220087" y="228600"/>
                  <a:pt x="209550" y="228600"/>
                </a:cubicBezTo>
                <a:lnTo>
                  <a:pt x="95250" y="228600"/>
                </a:lnTo>
                <a:cubicBezTo>
                  <a:pt x="84713" y="228600"/>
                  <a:pt x="76200" y="220087"/>
                  <a:pt x="76200" y="209550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04775" y="104775"/>
                </a:moveTo>
                <a:lnTo>
                  <a:pt x="104775" y="200025"/>
                </a:lnTo>
                <a:lnTo>
                  <a:pt x="200025" y="200025"/>
                </a:lnTo>
                <a:lnTo>
                  <a:pt x="200025" y="104775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6" name="Text 13"/>
          <p:cNvSpPr/>
          <p:nvPr>
            <p:custDataLst>
              <p:tags r:id="rId8"/>
            </p:custDataLst>
          </p:nvPr>
        </p:nvSpPr>
        <p:spPr>
          <a:xfrm>
            <a:off x="2476500" y="4648200"/>
            <a:ext cx="3035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实体 (Entity)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9"/>
            </p:custDataLst>
          </p:nvPr>
        </p:nvSpPr>
        <p:spPr>
          <a:xfrm>
            <a:off x="2476500" y="5003800"/>
            <a:ext cx="418211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可发送/接收信息的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硬件或软件进程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783080" y="5816600"/>
            <a:ext cx="869505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三者关系揭示了网络</a:t>
            </a:r>
            <a:r>
              <a:rPr lang="en-US" sz="2000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分层设计 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的本质：通过模块化实现复杂系统的有序生长。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  <p:bldP spid="7" grpId="0"/>
      <p:bldP spid="7" grpId="1"/>
      <p:bldP spid="11" grpId="0"/>
      <p:bldP spid="11" grpId="1"/>
      <p:bldP spid="12" grpId="0"/>
      <p:bldP spid="12" grpId="1"/>
      <p:bldP spid="16" grpId="0"/>
      <p:bldP spid="16" grpId="1"/>
      <p:bldP spid="17" grpId="0"/>
      <p:bldP spid="17" grpId="1"/>
      <p:bldP spid="18" grpId="0"/>
      <p:bldP spid="1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2840990"/>
            <a:ext cx="6607175" cy="8140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分层模型对照</a:t>
            </a:r>
            <a:endParaRPr lang="en-US" sz="4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7" grpId="0"/>
      <p:bldP spid="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43815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OSI 七层参考模型</a:t>
            </a:r>
            <a:endParaRPr lang="en-US" sz="5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09550" y="1098550"/>
            <a:ext cx="1177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一个理论上的网络通信模型，将通信过程分解为七个功能层。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Text 2"/>
          <p:cNvSpPr/>
          <p:nvPr>
            <p:custDataLst>
              <p:tags r:id="rId2"/>
            </p:custDataLst>
          </p:nvPr>
        </p:nvSpPr>
        <p:spPr>
          <a:xfrm>
            <a:off x="152400" y="1844994"/>
            <a:ext cx="2819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应用层</a:t>
            </a:r>
            <a:endParaRPr lang="en-US" sz="20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152400" y="2525238"/>
            <a:ext cx="2819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表示层</a:t>
            </a:r>
            <a:endParaRPr lang="en-US" sz="20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152400" y="3205482"/>
            <a:ext cx="2819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会话层</a:t>
            </a:r>
            <a:endParaRPr lang="en-US" sz="20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152400" y="3885726"/>
            <a:ext cx="2819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传输层</a:t>
            </a:r>
            <a:endParaRPr lang="en-US" sz="20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152400" y="4565969"/>
            <a:ext cx="2819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网络层</a:t>
            </a:r>
            <a:endParaRPr lang="en-US" sz="20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152400" y="5246213"/>
            <a:ext cx="2819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数据链路层</a:t>
            </a:r>
            <a:endParaRPr lang="en-US" sz="20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8"/>
            </p:custDataLst>
          </p:nvPr>
        </p:nvSpPr>
        <p:spPr>
          <a:xfrm>
            <a:off x="152400" y="5926457"/>
            <a:ext cx="2819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物理层</a:t>
            </a:r>
            <a:endParaRPr lang="en-US" sz="20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2" name="Shape 9"/>
          <p:cNvSpPr/>
          <p:nvPr>
            <p:custDataLst>
              <p:tags r:id="rId9"/>
            </p:custDataLst>
          </p:nvPr>
        </p:nvSpPr>
        <p:spPr>
          <a:xfrm>
            <a:off x="3175000" y="1657350"/>
            <a:ext cx="8763000" cy="635000"/>
          </a:xfrm>
          <a:custGeom>
            <a:avLst/>
            <a:gdLst/>
            <a:ahLst/>
            <a:cxnLst/>
            <a:rect l="l" t="t" r="r" b="b"/>
            <a:pathLst>
              <a:path w="8763000" h="635000">
                <a:moveTo>
                  <a:pt x="0" y="0"/>
                </a:moveTo>
                <a:lnTo>
                  <a:pt x="8661400" y="0"/>
                </a:lnTo>
                <a:cubicBezTo>
                  <a:pt x="8717475" y="0"/>
                  <a:pt x="8763000" y="45525"/>
                  <a:pt x="8763000" y="101600"/>
                </a:cubicBezTo>
                <a:lnTo>
                  <a:pt x="8763000" y="533400"/>
                </a:lnTo>
                <a:cubicBezTo>
                  <a:pt x="8763000" y="589475"/>
                  <a:pt x="8717475" y="635000"/>
                  <a:pt x="8661400" y="635000"/>
                </a:cubicBez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3378200" y="1848485"/>
            <a:ext cx="375729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为应用程序提供网络服务接口。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4" name="Shape 11"/>
          <p:cNvSpPr/>
          <p:nvPr>
            <p:custDataLst>
              <p:tags r:id="rId11"/>
            </p:custDataLst>
          </p:nvPr>
        </p:nvSpPr>
        <p:spPr>
          <a:xfrm>
            <a:off x="3175000" y="2344896"/>
            <a:ext cx="8763000" cy="635000"/>
          </a:xfrm>
          <a:custGeom>
            <a:avLst/>
            <a:gdLst/>
            <a:ahLst/>
            <a:cxnLst/>
            <a:rect l="l" t="t" r="r" b="b"/>
            <a:pathLst>
              <a:path w="8763000" h="635000">
                <a:moveTo>
                  <a:pt x="0" y="0"/>
                </a:moveTo>
                <a:lnTo>
                  <a:pt x="8661400" y="0"/>
                </a:lnTo>
                <a:cubicBezTo>
                  <a:pt x="8717475" y="0"/>
                  <a:pt x="8763000" y="45525"/>
                  <a:pt x="8763000" y="101600"/>
                </a:cubicBezTo>
                <a:lnTo>
                  <a:pt x="8763000" y="533400"/>
                </a:lnTo>
                <a:cubicBezTo>
                  <a:pt x="8763000" y="589475"/>
                  <a:pt x="8717475" y="635000"/>
                  <a:pt x="8661400" y="635000"/>
                </a:cubicBez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5" name="Text 12"/>
          <p:cNvSpPr/>
          <p:nvPr>
            <p:custDataLst>
              <p:tags r:id="rId12"/>
            </p:custDataLst>
          </p:nvPr>
        </p:nvSpPr>
        <p:spPr>
          <a:xfrm>
            <a:off x="3378200" y="2536190"/>
            <a:ext cx="375729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处理数据格式转换、加密解密。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6" name="Shape 13"/>
          <p:cNvSpPr/>
          <p:nvPr>
            <p:custDataLst>
              <p:tags r:id="rId13"/>
            </p:custDataLst>
          </p:nvPr>
        </p:nvSpPr>
        <p:spPr>
          <a:xfrm>
            <a:off x="3175000" y="3032444"/>
            <a:ext cx="8763000" cy="635000"/>
          </a:xfrm>
          <a:custGeom>
            <a:avLst/>
            <a:gdLst/>
            <a:ahLst/>
            <a:cxnLst/>
            <a:rect l="l" t="t" r="r" b="b"/>
            <a:pathLst>
              <a:path w="8763000" h="635000">
                <a:moveTo>
                  <a:pt x="0" y="0"/>
                </a:moveTo>
                <a:lnTo>
                  <a:pt x="8661400" y="0"/>
                </a:lnTo>
                <a:cubicBezTo>
                  <a:pt x="8717475" y="0"/>
                  <a:pt x="8763000" y="45525"/>
                  <a:pt x="8763000" y="101600"/>
                </a:cubicBezTo>
                <a:lnTo>
                  <a:pt x="8763000" y="533400"/>
                </a:lnTo>
                <a:cubicBezTo>
                  <a:pt x="8763000" y="589475"/>
                  <a:pt x="8717475" y="635000"/>
                  <a:pt x="8661400" y="635000"/>
                </a:cubicBez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7" name="Text 14"/>
          <p:cNvSpPr/>
          <p:nvPr>
            <p:custDataLst>
              <p:tags r:id="rId14"/>
            </p:custDataLst>
          </p:nvPr>
        </p:nvSpPr>
        <p:spPr>
          <a:xfrm>
            <a:off x="3378200" y="3223895"/>
            <a:ext cx="373253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管理会话的建立、维护和同步。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8" name="Shape 15"/>
          <p:cNvSpPr/>
          <p:nvPr>
            <p:custDataLst>
              <p:tags r:id="rId15"/>
            </p:custDataLst>
          </p:nvPr>
        </p:nvSpPr>
        <p:spPr>
          <a:xfrm>
            <a:off x="3175000" y="3719990"/>
            <a:ext cx="8763000" cy="635000"/>
          </a:xfrm>
          <a:custGeom>
            <a:avLst/>
            <a:gdLst/>
            <a:ahLst/>
            <a:cxnLst/>
            <a:rect l="l" t="t" r="r" b="b"/>
            <a:pathLst>
              <a:path w="8763000" h="635000">
                <a:moveTo>
                  <a:pt x="0" y="0"/>
                </a:moveTo>
                <a:lnTo>
                  <a:pt x="8661400" y="0"/>
                </a:lnTo>
                <a:cubicBezTo>
                  <a:pt x="8717475" y="0"/>
                  <a:pt x="8763000" y="45525"/>
                  <a:pt x="8763000" y="101600"/>
                </a:cubicBezTo>
                <a:lnTo>
                  <a:pt x="8763000" y="533400"/>
                </a:lnTo>
                <a:cubicBezTo>
                  <a:pt x="8763000" y="589475"/>
                  <a:pt x="8717475" y="635000"/>
                  <a:pt x="8661400" y="635000"/>
                </a:cubicBez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>
              <a:alpha val="40000"/>
            </a:srgbClr>
          </a:solidFill>
        </p:spPr>
      </p:sp>
      <p:sp>
        <p:nvSpPr>
          <p:cNvPr id="19" name="Text 16"/>
          <p:cNvSpPr/>
          <p:nvPr>
            <p:custDataLst>
              <p:tags r:id="rId16"/>
            </p:custDataLst>
          </p:nvPr>
        </p:nvSpPr>
        <p:spPr>
          <a:xfrm>
            <a:off x="3378200" y="3911600"/>
            <a:ext cx="480758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提供端到端的可靠或不可靠数据传输。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0" name="Shape 17"/>
          <p:cNvSpPr/>
          <p:nvPr>
            <p:custDataLst>
              <p:tags r:id="rId17"/>
            </p:custDataLst>
          </p:nvPr>
        </p:nvSpPr>
        <p:spPr>
          <a:xfrm>
            <a:off x="3175000" y="4407536"/>
            <a:ext cx="8763000" cy="635000"/>
          </a:xfrm>
          <a:custGeom>
            <a:avLst/>
            <a:gdLst/>
            <a:ahLst/>
            <a:cxnLst/>
            <a:rect l="l" t="t" r="r" b="b"/>
            <a:pathLst>
              <a:path w="8763000" h="635000">
                <a:moveTo>
                  <a:pt x="0" y="0"/>
                </a:moveTo>
                <a:lnTo>
                  <a:pt x="8661400" y="0"/>
                </a:lnTo>
                <a:cubicBezTo>
                  <a:pt x="8717475" y="0"/>
                  <a:pt x="8763000" y="45525"/>
                  <a:pt x="8763000" y="101600"/>
                </a:cubicBezTo>
                <a:lnTo>
                  <a:pt x="8763000" y="533400"/>
                </a:lnTo>
                <a:cubicBezTo>
                  <a:pt x="8763000" y="589475"/>
                  <a:pt x="8717475" y="635000"/>
                  <a:pt x="8661400" y="635000"/>
                </a:cubicBez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>
              <a:alpha val="40000"/>
            </a:srgbClr>
          </a:solidFill>
        </p:spPr>
      </p:sp>
      <p:sp>
        <p:nvSpPr>
          <p:cNvPr id="21" name="Text 18"/>
          <p:cNvSpPr/>
          <p:nvPr>
            <p:custDataLst>
              <p:tags r:id="rId18"/>
            </p:custDataLst>
          </p:nvPr>
        </p:nvSpPr>
        <p:spPr>
          <a:xfrm>
            <a:off x="3378200" y="4598670"/>
            <a:ext cx="375031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负责数据包的路由选择和转发。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2" name="Shape 19"/>
          <p:cNvSpPr/>
          <p:nvPr>
            <p:custDataLst>
              <p:tags r:id="rId19"/>
            </p:custDataLst>
          </p:nvPr>
        </p:nvSpPr>
        <p:spPr>
          <a:xfrm>
            <a:off x="3175000" y="5095081"/>
            <a:ext cx="8763000" cy="635000"/>
          </a:xfrm>
          <a:custGeom>
            <a:avLst/>
            <a:gdLst/>
            <a:ahLst/>
            <a:cxnLst/>
            <a:rect l="l" t="t" r="r" b="b"/>
            <a:pathLst>
              <a:path w="8763000" h="635000">
                <a:moveTo>
                  <a:pt x="0" y="0"/>
                </a:moveTo>
                <a:lnTo>
                  <a:pt x="8661400" y="0"/>
                </a:lnTo>
                <a:cubicBezTo>
                  <a:pt x="8717475" y="0"/>
                  <a:pt x="8763000" y="45525"/>
                  <a:pt x="8763000" y="101600"/>
                </a:cubicBezTo>
                <a:lnTo>
                  <a:pt x="8763000" y="533400"/>
                </a:lnTo>
                <a:cubicBezTo>
                  <a:pt x="8763000" y="589475"/>
                  <a:pt x="8717475" y="635000"/>
                  <a:pt x="8661400" y="635000"/>
                </a:cubicBez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>
              <a:alpha val="40000"/>
            </a:srgbClr>
          </a:solidFill>
        </p:spPr>
      </p:sp>
      <p:sp>
        <p:nvSpPr>
          <p:cNvPr id="23" name="Text 20"/>
          <p:cNvSpPr/>
          <p:nvPr>
            <p:custDataLst>
              <p:tags r:id="rId20"/>
            </p:custDataLst>
          </p:nvPr>
        </p:nvSpPr>
        <p:spPr>
          <a:xfrm>
            <a:off x="3378200" y="5286375"/>
            <a:ext cx="369760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在相邻节点间无差错地传输帧。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4" name="Shape 21"/>
          <p:cNvSpPr/>
          <p:nvPr>
            <p:custDataLst>
              <p:tags r:id="rId21"/>
            </p:custDataLst>
          </p:nvPr>
        </p:nvSpPr>
        <p:spPr>
          <a:xfrm>
            <a:off x="3175000" y="5782627"/>
            <a:ext cx="8763000" cy="635000"/>
          </a:xfrm>
          <a:custGeom>
            <a:avLst/>
            <a:gdLst/>
            <a:ahLst/>
            <a:cxnLst/>
            <a:rect l="l" t="t" r="r" b="b"/>
            <a:pathLst>
              <a:path w="8763000" h="635000">
                <a:moveTo>
                  <a:pt x="0" y="0"/>
                </a:moveTo>
                <a:lnTo>
                  <a:pt x="8661400" y="0"/>
                </a:lnTo>
                <a:cubicBezTo>
                  <a:pt x="8717475" y="0"/>
                  <a:pt x="8763000" y="45525"/>
                  <a:pt x="8763000" y="101600"/>
                </a:cubicBezTo>
                <a:lnTo>
                  <a:pt x="8763000" y="533400"/>
                </a:lnTo>
                <a:cubicBezTo>
                  <a:pt x="8763000" y="589475"/>
                  <a:pt x="8717475" y="635000"/>
                  <a:pt x="8661400" y="635000"/>
                </a:cubicBez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>
              <a:alpha val="40000"/>
            </a:srgbClr>
          </a:solidFill>
        </p:spPr>
      </p:sp>
      <p:sp>
        <p:nvSpPr>
          <p:cNvPr id="25" name="Text 22"/>
          <p:cNvSpPr/>
          <p:nvPr>
            <p:custDataLst>
              <p:tags r:id="rId22"/>
            </p:custDataLst>
          </p:nvPr>
        </p:nvSpPr>
        <p:spPr>
          <a:xfrm>
            <a:off x="3378200" y="5974080"/>
            <a:ext cx="37750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在物理媒介上传输原始的比特流。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7" grpId="0"/>
      <p:bldP spid="7" grpId="1"/>
      <p:bldP spid="8" grpId="0"/>
      <p:bldP spid="8" grpId="1"/>
      <p:bldP spid="10" grpId="0"/>
      <p:bldP spid="10" grpId="1"/>
      <p:bldP spid="11" grpId="0"/>
      <p:bldP spid="11" grpId="1"/>
      <p:bldP spid="6" grpId="0"/>
      <p:bldP spid="6" grpId="1"/>
      <p:bldP spid="9" grpId="0"/>
      <p:bldP spid="9" grpId="1"/>
      <p:bldP spid="13" grpId="0"/>
      <p:bldP spid="13" grpId="1"/>
      <p:bldP spid="15" grpId="0"/>
      <p:bldP spid="15" grpId="1"/>
      <p:bldP spid="17" grpId="0"/>
      <p:bldP spid="17" grpId="1"/>
      <p:bldP spid="19" grpId="0"/>
      <p:bldP spid="19" grpId="1"/>
      <p:bldP spid="21" grpId="0"/>
      <p:bldP spid="21" grpId="1"/>
      <p:bldP spid="23" grpId="0"/>
      <p:bldP spid="23" grpId="1"/>
      <p:bldP spid="25" grpId="0"/>
      <p:bldP spid="2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838519"/>
            <a:ext cx="5727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TCP/IP 四层模型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54000" y="1498919"/>
            <a:ext cx="5626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互联网的</a:t>
            </a:r>
            <a:r>
              <a:rPr lang="en-US" sz="20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事实标准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，将OSI七层模型简化合并，更注重实用性和实现效率。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254000" y="2311719"/>
            <a:ext cx="5537200" cy="812800"/>
          </a:xfrm>
          <a:custGeom>
            <a:avLst/>
            <a:gdLst/>
            <a:ahLst/>
            <a:cxnLst/>
            <a:rect l="l" t="t" r="r" b="b"/>
            <a:pathLst>
              <a:path w="5537200" h="8128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711200"/>
                </a:lnTo>
                <a:cubicBezTo>
                  <a:pt x="5537200" y="767275"/>
                  <a:pt x="5491675" y="812800"/>
                  <a:pt x="543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406400" y="2464119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应用层</a:t>
            </a:r>
            <a:endParaRPr lang="en-US" sz="20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406400" y="2768919"/>
            <a:ext cx="53086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合并了OSI的应用层、表示层、会话层。 (HTTP, FTP, DNS)</a:t>
            </a:r>
            <a:endParaRPr lang="en-US" sz="16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254000" y="3276758"/>
            <a:ext cx="5537200" cy="812800"/>
          </a:xfrm>
          <a:custGeom>
            <a:avLst/>
            <a:gdLst/>
            <a:ahLst/>
            <a:cxnLst/>
            <a:rect l="l" t="t" r="r" b="b"/>
            <a:pathLst>
              <a:path w="5537200" h="8128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711200"/>
                </a:lnTo>
                <a:cubicBezTo>
                  <a:pt x="5537200" y="767275"/>
                  <a:pt x="5491675" y="812800"/>
                  <a:pt x="543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406400" y="3429158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传输层</a:t>
            </a:r>
            <a:endParaRPr lang="en-US" sz="20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406400" y="3733958"/>
            <a:ext cx="53086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对应OSI传输层，提供端到端通信。 (TCP, UDP)</a:t>
            </a:r>
            <a:endParaRPr lang="en-US" sz="16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254000" y="4241800"/>
            <a:ext cx="5537200" cy="812800"/>
          </a:xfrm>
          <a:custGeom>
            <a:avLst/>
            <a:gdLst/>
            <a:ahLst/>
            <a:cxnLst/>
            <a:rect l="l" t="t" r="r" b="b"/>
            <a:pathLst>
              <a:path w="5537200" h="8128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711200"/>
                </a:lnTo>
                <a:cubicBezTo>
                  <a:pt x="5537200" y="767275"/>
                  <a:pt x="5491675" y="812800"/>
                  <a:pt x="543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406400" y="43942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网络层 (网际层)</a:t>
            </a:r>
            <a:endParaRPr lang="en-US" sz="20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406400" y="4699000"/>
            <a:ext cx="53086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对应OSI网络层，核心协议是IP。 (IP, ICMP)</a:t>
            </a:r>
            <a:endParaRPr lang="en-US" sz="16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4" name="Shape 11"/>
          <p:cNvSpPr/>
          <p:nvPr>
            <p:custDataLst>
              <p:tags r:id="rId11"/>
            </p:custDataLst>
          </p:nvPr>
        </p:nvSpPr>
        <p:spPr>
          <a:xfrm>
            <a:off x="254000" y="5206842"/>
            <a:ext cx="5537200" cy="812800"/>
          </a:xfrm>
          <a:custGeom>
            <a:avLst/>
            <a:gdLst/>
            <a:ahLst/>
            <a:cxnLst/>
            <a:rect l="l" t="t" r="r" b="b"/>
            <a:pathLst>
              <a:path w="5537200" h="8128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711200"/>
                </a:lnTo>
                <a:cubicBezTo>
                  <a:pt x="5537200" y="767275"/>
                  <a:pt x="5491675" y="812800"/>
                  <a:pt x="543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5" name="Text 12"/>
          <p:cNvSpPr/>
          <p:nvPr>
            <p:custDataLst>
              <p:tags r:id="rId12"/>
            </p:custDataLst>
          </p:nvPr>
        </p:nvSpPr>
        <p:spPr>
          <a:xfrm>
            <a:off x="406400" y="5359242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网络接口层</a:t>
            </a:r>
            <a:endParaRPr lang="en-US" sz="20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6" name="Text 13"/>
          <p:cNvSpPr/>
          <p:nvPr>
            <p:custDataLst>
              <p:tags r:id="rId13"/>
            </p:custDataLst>
          </p:nvPr>
        </p:nvSpPr>
        <p:spPr>
          <a:xfrm>
            <a:off x="406400" y="5664042"/>
            <a:ext cx="53086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合并了OSI数据链路层和物理层。 (Ethernet, Wi-Fi)</a:t>
            </a:r>
            <a:endParaRPr lang="en-US" sz="16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pic>
        <p:nvPicPr>
          <p:cNvPr id="17" name="Image 1" descr="https://kimi-web-img.moonshot.cn/img/img2020.cnblogs.com/ff40198a9a63101ce9678f2e9bee6660d46422d9.png"/>
          <p:cNvPicPr>
            <a:picLocks noChangeAspect="1"/>
          </p:cNvPicPr>
          <p:nvPr/>
        </p:nvPicPr>
        <p:blipFill>
          <a:blip r:embed="rId14"/>
          <a:srcRect t="17971" b="17971"/>
          <a:stretch>
            <a:fillRect/>
          </a:stretch>
        </p:blipFill>
        <p:spPr>
          <a:xfrm>
            <a:off x="6096000" y="783115"/>
            <a:ext cx="5842000" cy="5295900"/>
          </a:xfrm>
          <a:prstGeom prst="roundRect">
            <a:avLst>
              <a:gd name="adj" fmla="val 2878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  <p:bldP spid="7" grpId="0"/>
      <p:bldP spid="7" grpId="1"/>
      <p:bldP spid="9" grpId="0"/>
      <p:bldP spid="9" grpId="1"/>
      <p:bldP spid="10" grpId="0"/>
      <p:bldP spid="10" grpId="1"/>
      <p:bldP spid="12" grpId="0"/>
      <p:bldP spid="12" grpId="1"/>
      <p:bldP spid="13" grpId="0"/>
      <p:bldP spid="13" grpId="1"/>
      <p:bldP spid="16" grpId="0"/>
      <p:bldP spid="16" grpId="1"/>
      <p:bldP spid="15" grpId="0"/>
      <p:bldP spid="1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2871470"/>
            <a:ext cx="6607175" cy="7835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总结与展望</a:t>
            </a:r>
            <a:endParaRPr lang="en-US" sz="4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7" grpId="0"/>
      <p:bldP spid="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615442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关键概念回顾与展望</a:t>
            </a:r>
            <a:endParaRPr lang="en-US" sz="5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11150" y="2606042"/>
            <a:ext cx="2527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网络是</a:t>
            </a:r>
            <a:r>
              <a:rPr lang="en-US" sz="20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节点与链路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的系统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927350" y="258064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/>
        </p:nvSpPr>
        <p:spPr>
          <a:xfrm>
            <a:off x="3327400" y="2606042"/>
            <a:ext cx="2527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以</a:t>
            </a:r>
            <a:r>
              <a:rPr lang="en-US" sz="20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性能指标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衡量其品质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943600" y="258064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8" name="Text 5"/>
          <p:cNvSpPr/>
          <p:nvPr/>
        </p:nvSpPr>
        <p:spPr>
          <a:xfrm>
            <a:off x="6343650" y="2479042"/>
            <a:ext cx="2527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由</a:t>
            </a:r>
            <a:r>
              <a:rPr lang="en-US" sz="20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协议、实体、服务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构成其逻辑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959850" y="258064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" name="Text 7"/>
          <p:cNvSpPr/>
          <p:nvPr/>
        </p:nvSpPr>
        <p:spPr>
          <a:xfrm>
            <a:off x="9359900" y="2606042"/>
            <a:ext cx="2527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最终以</a:t>
            </a:r>
            <a:r>
              <a:rPr lang="en-US" sz="20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分层模型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实现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54000" y="3495042"/>
            <a:ext cx="11684000" cy="0"/>
          </a:xfrm>
          <a:prstGeom prst="line">
            <a:avLst/>
          </a:prstGeom>
          <a:noFill/>
          <a:ln w="20320">
            <a:solidFill>
              <a:srgbClr val="ADD8E6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177800" y="3820164"/>
            <a:ext cx="11836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未来展望</a:t>
            </a:r>
            <a:endParaRPr lang="en-US" sz="40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03200" y="4429602"/>
            <a:ext cx="1178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云计算、物联网、移动互联网正在重塑网络的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边缘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核心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，带来新的挑战与机遇。</a:t>
            </a:r>
            <a:endParaRPr lang="en-US" sz="24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994150" y="4937602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0" y="200025"/>
                </a:moveTo>
                <a:cubicBezTo>
                  <a:pt x="0" y="247352"/>
                  <a:pt x="38398" y="285750"/>
                  <a:pt x="85725" y="285750"/>
                </a:cubicBezTo>
                <a:lnTo>
                  <a:pt x="266700" y="285750"/>
                </a:lnTo>
                <a:cubicBezTo>
                  <a:pt x="308789" y="285750"/>
                  <a:pt x="342900" y="251639"/>
                  <a:pt x="342900" y="209550"/>
                </a:cubicBezTo>
                <a:cubicBezTo>
                  <a:pt x="342900" y="178832"/>
                  <a:pt x="324743" y="152340"/>
                  <a:pt x="298549" y="140315"/>
                </a:cubicBezTo>
                <a:cubicBezTo>
                  <a:pt x="302538" y="132517"/>
                  <a:pt x="304800" y="123646"/>
                  <a:pt x="304800" y="114300"/>
                </a:cubicBezTo>
                <a:cubicBezTo>
                  <a:pt x="304800" y="82748"/>
                  <a:pt x="279202" y="57150"/>
                  <a:pt x="247650" y="57150"/>
                </a:cubicBezTo>
                <a:cubicBezTo>
                  <a:pt x="237113" y="57150"/>
                  <a:pt x="227290" y="60007"/>
                  <a:pt x="218837" y="64949"/>
                </a:cubicBezTo>
                <a:cubicBezTo>
                  <a:pt x="204490" y="37683"/>
                  <a:pt x="175855" y="19050"/>
                  <a:pt x="142875" y="19050"/>
                </a:cubicBezTo>
                <a:cubicBezTo>
                  <a:pt x="95548" y="19050"/>
                  <a:pt x="57150" y="57448"/>
                  <a:pt x="57150" y="104775"/>
                </a:cubicBezTo>
                <a:cubicBezTo>
                  <a:pt x="57150" y="109537"/>
                  <a:pt x="57567" y="114240"/>
                  <a:pt x="58281" y="118765"/>
                </a:cubicBezTo>
                <a:cubicBezTo>
                  <a:pt x="24408" y="130195"/>
                  <a:pt x="0" y="162282"/>
                  <a:pt x="0" y="200025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5" name="Text 12"/>
          <p:cNvSpPr/>
          <p:nvPr/>
        </p:nvSpPr>
        <p:spPr>
          <a:xfrm>
            <a:off x="4368800" y="4937602"/>
            <a:ext cx="711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云计算</a:t>
            </a:r>
            <a:endParaRPr lang="en-US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416550" y="4937602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57150"/>
                </a:moveTo>
                <a:cubicBezTo>
                  <a:pt x="117336" y="57150"/>
                  <a:pt x="68342" y="78581"/>
                  <a:pt x="32325" y="113467"/>
                </a:cubicBezTo>
                <a:cubicBezTo>
                  <a:pt x="24765" y="120789"/>
                  <a:pt x="12680" y="120610"/>
                  <a:pt x="5417" y="113050"/>
                </a:cubicBezTo>
                <a:cubicBezTo>
                  <a:pt x="-1845" y="105489"/>
                  <a:pt x="-1726" y="93405"/>
                  <a:pt x="5834" y="86142"/>
                </a:cubicBezTo>
                <a:cubicBezTo>
                  <a:pt x="48637" y="44589"/>
                  <a:pt x="107097" y="19050"/>
                  <a:pt x="171450" y="19050"/>
                </a:cubicBezTo>
                <a:cubicBezTo>
                  <a:pt x="235803" y="19050"/>
                  <a:pt x="294263" y="44589"/>
                  <a:pt x="337125" y="86142"/>
                </a:cubicBezTo>
                <a:cubicBezTo>
                  <a:pt x="344686" y="93464"/>
                  <a:pt x="344865" y="105549"/>
                  <a:pt x="337542" y="113050"/>
                </a:cubicBezTo>
                <a:cubicBezTo>
                  <a:pt x="330220" y="120551"/>
                  <a:pt x="318135" y="120789"/>
                  <a:pt x="310634" y="113467"/>
                </a:cubicBezTo>
                <a:cubicBezTo>
                  <a:pt x="274558" y="78581"/>
                  <a:pt x="225564" y="57150"/>
                  <a:pt x="171450" y="57150"/>
                </a:cubicBezTo>
                <a:close/>
                <a:moveTo>
                  <a:pt x="142875" y="257175"/>
                </a:moveTo>
                <a:cubicBezTo>
                  <a:pt x="142875" y="241404"/>
                  <a:pt x="155679" y="228600"/>
                  <a:pt x="171450" y="228600"/>
                </a:cubicBezTo>
                <a:cubicBezTo>
                  <a:pt x="187221" y="228600"/>
                  <a:pt x="200025" y="241404"/>
                  <a:pt x="200025" y="257175"/>
                </a:cubicBezTo>
                <a:cubicBezTo>
                  <a:pt x="200025" y="272946"/>
                  <a:pt x="187221" y="285750"/>
                  <a:pt x="171450" y="285750"/>
                </a:cubicBezTo>
                <a:cubicBezTo>
                  <a:pt x="155679" y="285750"/>
                  <a:pt x="142875" y="272946"/>
                  <a:pt x="142875" y="257175"/>
                </a:cubicBezTo>
                <a:close/>
                <a:moveTo>
                  <a:pt x="100013" y="194191"/>
                </a:moveTo>
                <a:cubicBezTo>
                  <a:pt x="93047" y="202109"/>
                  <a:pt x="81022" y="202823"/>
                  <a:pt x="73104" y="195858"/>
                </a:cubicBezTo>
                <a:cubicBezTo>
                  <a:pt x="65187" y="188893"/>
                  <a:pt x="64472" y="176867"/>
                  <a:pt x="71438" y="168950"/>
                </a:cubicBezTo>
                <a:cubicBezTo>
                  <a:pt x="95845" y="141327"/>
                  <a:pt x="131624" y="123825"/>
                  <a:pt x="171450" y="123825"/>
                </a:cubicBezTo>
                <a:cubicBezTo>
                  <a:pt x="211276" y="123825"/>
                  <a:pt x="247055" y="141327"/>
                  <a:pt x="271463" y="168950"/>
                </a:cubicBezTo>
                <a:cubicBezTo>
                  <a:pt x="278428" y="176867"/>
                  <a:pt x="277654" y="188893"/>
                  <a:pt x="269796" y="195858"/>
                </a:cubicBezTo>
                <a:cubicBezTo>
                  <a:pt x="261937" y="202823"/>
                  <a:pt x="249853" y="202049"/>
                  <a:pt x="242888" y="194191"/>
                </a:cubicBezTo>
                <a:cubicBezTo>
                  <a:pt x="225385" y="174367"/>
                  <a:pt x="199906" y="161925"/>
                  <a:pt x="171450" y="161925"/>
                </a:cubicBezTo>
                <a:cubicBezTo>
                  <a:pt x="142994" y="161925"/>
                  <a:pt x="117515" y="174367"/>
                  <a:pt x="100013" y="194191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7" name="Text 14"/>
          <p:cNvSpPr/>
          <p:nvPr/>
        </p:nvSpPr>
        <p:spPr>
          <a:xfrm>
            <a:off x="5791200" y="4937602"/>
            <a:ext cx="711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物联网</a:t>
            </a:r>
            <a:endParaRPr lang="en-US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896100" y="4937602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9525" y="38100"/>
                </a:moveTo>
                <a:cubicBezTo>
                  <a:pt x="9525" y="17085"/>
                  <a:pt x="26610" y="0"/>
                  <a:pt x="47625" y="0"/>
                </a:cubicBezTo>
                <a:lnTo>
                  <a:pt x="180975" y="0"/>
                </a:lnTo>
                <a:cubicBezTo>
                  <a:pt x="201990" y="0"/>
                  <a:pt x="219075" y="17085"/>
                  <a:pt x="219075" y="38100"/>
                </a:cubicBezTo>
                <a:lnTo>
                  <a:pt x="219075" y="266700"/>
                </a:lnTo>
                <a:cubicBezTo>
                  <a:pt x="219075" y="287715"/>
                  <a:pt x="201990" y="304800"/>
                  <a:pt x="180975" y="304800"/>
                </a:cubicBezTo>
                <a:lnTo>
                  <a:pt x="47625" y="304800"/>
                </a:lnTo>
                <a:cubicBezTo>
                  <a:pt x="26610" y="304800"/>
                  <a:pt x="9525" y="287715"/>
                  <a:pt x="9525" y="266700"/>
                </a:cubicBezTo>
                <a:lnTo>
                  <a:pt x="9525" y="38100"/>
                </a:lnTo>
                <a:close/>
                <a:moveTo>
                  <a:pt x="47625" y="38100"/>
                </a:moveTo>
                <a:lnTo>
                  <a:pt x="47625" y="219075"/>
                </a:lnTo>
                <a:lnTo>
                  <a:pt x="180975" y="219075"/>
                </a:lnTo>
                <a:lnTo>
                  <a:pt x="180975" y="38100"/>
                </a:lnTo>
                <a:lnTo>
                  <a:pt x="47625" y="38100"/>
                </a:lnTo>
                <a:close/>
                <a:moveTo>
                  <a:pt x="114300" y="280987"/>
                </a:moveTo>
                <a:cubicBezTo>
                  <a:pt x="124837" y="280987"/>
                  <a:pt x="133350" y="272475"/>
                  <a:pt x="133350" y="261937"/>
                </a:cubicBezTo>
                <a:cubicBezTo>
                  <a:pt x="133350" y="251400"/>
                  <a:pt x="124837" y="242888"/>
                  <a:pt x="114300" y="242888"/>
                </a:cubicBezTo>
                <a:cubicBezTo>
                  <a:pt x="103763" y="242888"/>
                  <a:pt x="95250" y="251400"/>
                  <a:pt x="95250" y="261937"/>
                </a:cubicBezTo>
                <a:cubicBezTo>
                  <a:pt x="95250" y="272475"/>
                  <a:pt x="103763" y="280987"/>
                  <a:pt x="114300" y="280987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9" name="Text 16"/>
          <p:cNvSpPr/>
          <p:nvPr/>
        </p:nvSpPr>
        <p:spPr>
          <a:xfrm>
            <a:off x="7213600" y="4937760"/>
            <a:ext cx="158686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移动互联网</a:t>
            </a:r>
            <a:endParaRPr lang="en-US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2" grpId="0"/>
      <p:bldP spid="12" grpId="1"/>
      <p:bldP spid="4" grpId="0"/>
      <p:bldP spid="4" grpId="1"/>
      <p:bldP spid="6" grpId="0"/>
      <p:bldP spid="6" grpId="1"/>
      <p:bldP spid="8" grpId="0"/>
      <p:bldP spid="8" grpId="1"/>
      <p:bldP spid="10" grpId="0"/>
      <p:bldP spid="10" grpId="1"/>
      <p:bldP spid="13" grpId="0"/>
      <p:bldP spid="13" grpId="1"/>
      <p:bldP spid="19" grpId="0"/>
      <p:bldP spid="19" grpId="1"/>
      <p:bldP spid="17" grpId="0"/>
      <p:bldP spid="17" grpId="1"/>
      <p:bldP spid="15" grpId="0"/>
      <p:bldP spid="1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23-d2tarqtnfo2stf9djkm0.jpg"/>
          <p:cNvPicPr>
            <a:picLocks noChangeAspect="1"/>
          </p:cNvPicPr>
          <p:nvPr/>
        </p:nvPicPr>
        <p:blipFill>
          <a:blip r:embed="rId1"/>
          <a:srcRect t="104" b="104"/>
          <a:stretch>
            <a:fillRect/>
          </a:stretch>
        </p:blipFill>
        <p:spPr>
          <a:xfrm flipH="1"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7380" y="2440940"/>
            <a:ext cx="752729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627380" y="2440940"/>
            <a:ext cx="7527290" cy="1804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41909" y="845595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1909" y="84559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41909" y="942569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909" y="94256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1909" y="1039543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909" y="1039543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527665" y="365125"/>
            <a:ext cx="262890" cy="11703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56615" y="5796915"/>
            <a:ext cx="363283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856615" y="5542915"/>
            <a:ext cx="4363720" cy="585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甘芝清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黄慧雯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林银蕊</a:t>
            </a:r>
            <a:endParaRPr lang="zh-CN" altLang="en-US" sz="2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933565" y="581977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汇报日期：2025/11/23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2513887" y="5982681"/>
            <a:ext cx="6486525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2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Text 13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pic>
        <p:nvPicPr>
          <p:cNvPr id="20" name="Image 2" descr="https://kimi-img.moonshot.cn/pub/slides/slides_tmpl/image/25-09-05-17:31:23-d2tarqtnfo2stf9djk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805" y="1319530"/>
            <a:ext cx="3823335" cy="4227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17" grpId="0"/>
      <p:bldP spid="17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2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3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4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5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6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7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8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9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10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11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12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13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14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15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16.xml><?xml version="1.0" encoding="utf-8"?>
<p:tagLst xmlns:p="http://schemas.openxmlformats.org/presentationml/2006/main">
  <p:tag name="KSO_WM_DIAGRAM_VIRTUALLY_FRAME" val="{&quot;height&quot;:152.65,&quot;left&quot;:420,&quot;top&quot;:291.55,&quot;width&quot;:520}"/>
</p:tagLst>
</file>

<file path=ppt/tags/tag17.xml><?xml version="1.0" encoding="utf-8"?>
<p:tagLst xmlns:p="http://schemas.openxmlformats.org/presentationml/2006/main">
  <p:tag name="KSO_WM_DIAGRAM_VIRTUALLY_FRAME" val="{&quot;height&quot;:152.65,&quot;left&quot;:420,&quot;top&quot;:291.55,&quot;width&quot;:520}"/>
</p:tagLst>
</file>

<file path=ppt/tags/tag18.xml><?xml version="1.0" encoding="utf-8"?>
<p:tagLst xmlns:p="http://schemas.openxmlformats.org/presentationml/2006/main">
  <p:tag name="KSO_WM_DIAGRAM_VIRTUALLY_FRAME" val="{&quot;height&quot;:152.65,&quot;left&quot;:420,&quot;top&quot;:291.55,&quot;width&quot;:520}"/>
</p:tagLst>
</file>

<file path=ppt/tags/tag19.xml><?xml version="1.0" encoding="utf-8"?>
<p:tagLst xmlns:p="http://schemas.openxmlformats.org/presentationml/2006/main">
  <p:tag name="KSO_WM_DIAGRAM_VIRTUALLY_FRAME" val="{&quot;height&quot;:152.65,&quot;left&quot;:420,&quot;top&quot;:291.55,&quot;width&quot;:520}"/>
</p:tagLst>
</file>

<file path=ppt/tags/tag20.xml><?xml version="1.0" encoding="utf-8"?>
<p:tagLst xmlns:p="http://schemas.openxmlformats.org/presentationml/2006/main">
  <p:tag name="KSO_WM_DIAGRAM_VIRTUALLY_FRAME" val="{&quot;height&quot;:152.65,&quot;left&quot;:420,&quot;top&quot;:291.55,&quot;width&quot;:520}"/>
</p:tagLst>
</file>

<file path=ppt/tags/tag21.xml><?xml version="1.0" encoding="utf-8"?>
<p:tagLst xmlns:p="http://schemas.openxmlformats.org/presentationml/2006/main">
  <p:tag name="KSO_WM_DIAGRAM_VIRTUALLY_FRAME" val="{&quot;height&quot;:152.65,&quot;left&quot;:420,&quot;top&quot;:291.55,&quot;width&quot;:520}"/>
</p:tagLst>
</file>

<file path=ppt/tags/tag22.xml><?xml version="1.0" encoding="utf-8"?>
<p:tagLst xmlns:p="http://schemas.openxmlformats.org/presentationml/2006/main">
  <p:tag name="KSO_WM_DIAGRAM_VIRTUALLY_FRAME" val="{&quot;height&quot;:152.65,&quot;left&quot;:420,&quot;top&quot;:291.55,&quot;width&quot;:520}"/>
</p:tagLst>
</file>

<file path=ppt/tags/tag23.xml><?xml version="1.0" encoding="utf-8"?>
<p:tagLst xmlns:p="http://schemas.openxmlformats.org/presentationml/2006/main">
  <p:tag name="KSO_WM_DIAGRAM_VIRTUALLY_FRAME" val="{&quot;height&quot;:152.65,&quot;left&quot;:420,&quot;top&quot;:291.55,&quot;width&quot;:520}"/>
</p:tagLst>
</file>

<file path=ppt/tags/tag24.xml><?xml version="1.0" encoding="utf-8"?>
<p:tagLst xmlns:p="http://schemas.openxmlformats.org/presentationml/2006/main">
  <p:tag name="KSO_WM_DIAGRAM_VIRTUALLY_FRAME" val="{&quot;height&quot;:152.65,&quot;left&quot;:420,&quot;top&quot;:291.55,&quot;width&quot;:520}"/>
</p:tagLst>
</file>

<file path=ppt/tags/tag25.xml><?xml version="1.0" encoding="utf-8"?>
<p:tagLst xmlns:p="http://schemas.openxmlformats.org/presentationml/2006/main">
  <p:tag name="KSO_WM_DIAGRAM_VIRTUALLY_FRAME" val="{&quot;height&quot;:152.65,&quot;left&quot;:420,&quot;top&quot;:291.55,&quot;width&quot;:520}"/>
</p:tagLst>
</file>

<file path=ppt/tags/tag26.xml><?xml version="1.0" encoding="utf-8"?>
<p:tagLst xmlns:p="http://schemas.openxmlformats.org/presentationml/2006/main">
  <p:tag name="KSO_WM_DIAGRAM_VIRTUALLY_FRAME" val="{&quot;height&quot;:152.65,&quot;left&quot;:420,&quot;top&quot;:291.55,&quot;width&quot;:520}"/>
</p:tagLst>
</file>

<file path=ppt/tags/tag27.xml><?xml version="1.0" encoding="utf-8"?>
<p:tagLst xmlns:p="http://schemas.openxmlformats.org/presentationml/2006/main">
  <p:tag name="KSO_WM_DIAGRAM_VIRTUALLY_FRAME" val="{&quot;height&quot;:152.65,&quot;left&quot;:420,&quot;top&quot;:291.55,&quot;width&quot;:520}"/>
</p:tagLst>
</file>

<file path=ppt/tags/tag28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29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30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31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32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33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34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35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36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37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38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39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40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41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42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43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44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45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46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47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48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49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50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51.xml><?xml version="1.0" encoding="utf-8"?>
<p:tagLst xmlns:p="http://schemas.openxmlformats.org/presentationml/2006/main">
  <p:tag name="KSO_WM_DIAGRAM_VIRTUALLY_FRAME" val="{&quot;height&quot;:192.1,&quot;left&quot;:49.32503937007874,&quot;top&quot;:214,&quot;width&quot;:863.6249606299212}"/>
</p:tagLst>
</file>

<file path=ppt/tags/tag52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53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54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55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56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57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58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59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60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61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62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63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64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65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66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67.xml><?xml version="1.0" encoding="utf-8"?>
<p:tagLst xmlns:p="http://schemas.openxmlformats.org/presentationml/2006/main">
  <p:tag name="KSO_WM_DIAGRAM_VIRTUALLY_FRAME" val="{&quot;height&quot;:165.9,&quot;left&quot;:20,&quot;top&quot;:258,&quot;width&quot;:920}"/>
</p:tagLst>
</file>

<file path=ppt/tags/tag68.xml><?xml version="1.0" encoding="utf-8"?>
<p:tagLst xmlns:p="http://schemas.openxmlformats.org/presentationml/2006/main">
  <p:tag name="KSO_WM_DIAGRAM_VIRTUALLY_FRAME" val="{&quot;height&quot;:375,&quot;left&quot;:110,&quot;top&quot;:112.5,&quot;width&quot;:740}"/>
</p:tagLst>
</file>

<file path=ppt/tags/tag69.xml><?xml version="1.0" encoding="utf-8"?>
<p:tagLst xmlns:p="http://schemas.openxmlformats.org/presentationml/2006/main">
  <p:tag name="KSO_WM_DIAGRAM_VIRTUALLY_FRAME" val="{&quot;height&quot;:375,&quot;left&quot;:110,&quot;top&quot;:112.5,&quot;width&quot;:740}"/>
</p:tagLst>
</file>

<file path=ppt/tags/tag70.xml><?xml version="1.0" encoding="utf-8"?>
<p:tagLst xmlns:p="http://schemas.openxmlformats.org/presentationml/2006/main">
  <p:tag name="KSO_WM_DIAGRAM_VIRTUALLY_FRAME" val="{&quot;height&quot;:375,&quot;left&quot;:110,&quot;top&quot;:112.5,&quot;width&quot;:740}"/>
</p:tagLst>
</file>

<file path=ppt/tags/tag71.xml><?xml version="1.0" encoding="utf-8"?>
<p:tagLst xmlns:p="http://schemas.openxmlformats.org/presentationml/2006/main">
  <p:tag name="KSO_WM_DIAGRAM_VIRTUALLY_FRAME" val="{&quot;height&quot;:375,&quot;left&quot;:110,&quot;top&quot;:112.5,&quot;width&quot;:740}"/>
</p:tagLst>
</file>

<file path=ppt/tags/tag72.xml><?xml version="1.0" encoding="utf-8"?>
<p:tagLst xmlns:p="http://schemas.openxmlformats.org/presentationml/2006/main">
  <p:tag name="KSO_WM_DIAGRAM_VIRTUALLY_FRAME" val="{&quot;height&quot;:375,&quot;left&quot;:110,&quot;top&quot;:112.5,&quot;width&quot;:740}"/>
</p:tagLst>
</file>

<file path=ppt/tags/tag73.xml><?xml version="1.0" encoding="utf-8"?>
<p:tagLst xmlns:p="http://schemas.openxmlformats.org/presentationml/2006/main">
  <p:tag name="KSO_WM_DIAGRAM_VIRTUALLY_FRAME" val="{&quot;height&quot;:375,&quot;left&quot;:110,&quot;top&quot;:112.5,&quot;width&quot;:740}"/>
</p:tagLst>
</file>

<file path=ppt/tags/tag74.xml><?xml version="1.0" encoding="utf-8"?>
<p:tagLst xmlns:p="http://schemas.openxmlformats.org/presentationml/2006/main">
  <p:tag name="KSO_WM_DIAGRAM_VIRTUALLY_FRAME" val="{&quot;height&quot;:375,&quot;left&quot;:110,&quot;top&quot;:112.5,&quot;width&quot;:740}"/>
</p:tagLst>
</file>

<file path=ppt/tags/tag75.xml><?xml version="1.0" encoding="utf-8"?>
<p:tagLst xmlns:p="http://schemas.openxmlformats.org/presentationml/2006/main">
  <p:tag name="KSO_WM_DIAGRAM_VIRTUALLY_FRAME" val="{&quot;height&quot;:375,&quot;left&quot;:110,&quot;top&quot;:112.5,&quot;width&quot;:740}"/>
</p:tagLst>
</file>

<file path=ppt/tags/tag76.xml><?xml version="1.0" encoding="utf-8"?>
<p:tagLst xmlns:p="http://schemas.openxmlformats.org/presentationml/2006/main">
  <p:tag name="KSO_WM_DIAGRAM_VIRTUALLY_FRAME" val="{&quot;height&quot;:375,&quot;left&quot;:110,&quot;top&quot;:112.5,&quot;width&quot;:740}"/>
</p:tagLst>
</file>

<file path=ppt/tags/tag77.xml><?xml version="1.0" encoding="utf-8"?>
<p:tagLst xmlns:p="http://schemas.openxmlformats.org/presentationml/2006/main">
  <p:tag name="KSO_WM_DIAGRAM_VIRTUALLY_FRAME" val="{&quot;height&quot;:272,&quot;left&quot;:195,&quot;top&quot;:142,&quot;width&quot;:366.55}"/>
</p:tagLst>
</file>

<file path=ppt/tags/tag78.xml><?xml version="1.0" encoding="utf-8"?>
<p:tagLst xmlns:p="http://schemas.openxmlformats.org/presentationml/2006/main">
  <p:tag name="KSO_WM_DIAGRAM_VIRTUALLY_FRAME" val="{&quot;height&quot;:272,&quot;left&quot;:195,&quot;top&quot;:142,&quot;width&quot;:366.55}"/>
</p:tagLst>
</file>

<file path=ppt/tags/tag79.xml><?xml version="1.0" encoding="utf-8"?>
<p:tagLst xmlns:p="http://schemas.openxmlformats.org/presentationml/2006/main">
  <p:tag name="KSO_WM_DIAGRAM_VIRTUALLY_FRAME" val="{&quot;height&quot;:272,&quot;left&quot;:195,&quot;top&quot;:142,&quot;width&quot;:366.55}"/>
</p:tagLst>
</file>

<file path=ppt/tags/tag80.xml><?xml version="1.0" encoding="utf-8"?>
<p:tagLst xmlns:p="http://schemas.openxmlformats.org/presentationml/2006/main">
  <p:tag name="KSO_WM_DIAGRAM_VIRTUALLY_FRAME" val="{&quot;height&quot;:272,&quot;left&quot;:195,&quot;top&quot;:142,&quot;width&quot;:366.55}"/>
</p:tagLst>
</file>

<file path=ppt/tags/tag81.xml><?xml version="1.0" encoding="utf-8"?>
<p:tagLst xmlns:p="http://schemas.openxmlformats.org/presentationml/2006/main">
  <p:tag name="KSO_WM_DIAGRAM_VIRTUALLY_FRAME" val="{&quot;height&quot;:272,&quot;left&quot;:195,&quot;top&quot;:142,&quot;width&quot;:366.55}"/>
</p:tagLst>
</file>

<file path=ppt/tags/tag82.xml><?xml version="1.0" encoding="utf-8"?>
<p:tagLst xmlns:p="http://schemas.openxmlformats.org/presentationml/2006/main">
  <p:tag name="KSO_WM_DIAGRAM_VIRTUALLY_FRAME" val="{&quot;height&quot;:272,&quot;left&quot;:195,&quot;top&quot;:142,&quot;width&quot;:366.55}"/>
</p:tagLst>
</file>

<file path=ppt/tags/tag83.xml><?xml version="1.0" encoding="utf-8"?>
<p:tagLst xmlns:p="http://schemas.openxmlformats.org/presentationml/2006/main">
  <p:tag name="KSO_WM_DIAGRAM_VIRTUALLY_FRAME" val="{&quot;height&quot;:272,&quot;left&quot;:195,&quot;top&quot;:142,&quot;width&quot;:366.55}"/>
</p:tagLst>
</file>

<file path=ppt/tags/tag84.xml><?xml version="1.0" encoding="utf-8"?>
<p:tagLst xmlns:p="http://schemas.openxmlformats.org/presentationml/2006/main">
  <p:tag name="KSO_WM_DIAGRAM_VIRTUALLY_FRAME" val="{&quot;height&quot;:272,&quot;left&quot;:195,&quot;top&quot;:142,&quot;width&quot;:366.55}"/>
</p:tagLst>
</file>

<file path=ppt/tags/tag85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86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87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88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89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90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91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92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93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94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95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96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97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98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99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100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101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102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103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104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105.xml><?xml version="1.0" encoding="utf-8"?>
<p:tagLst xmlns:p="http://schemas.openxmlformats.org/presentationml/2006/main">
  <p:tag name="KSO_WM_DIAGRAM_VIRTUALLY_FRAME" val="{&quot;height&quot;:374.82496062992124,&quot;left&quot;:12,&quot;top&quot;:130.5,&quot;width&quot;:928}"/>
</p:tagLst>
</file>

<file path=ppt/tags/tag106.xml><?xml version="1.0" encoding="utf-8"?>
<p:tagLst xmlns:p="http://schemas.openxmlformats.org/presentationml/2006/main">
  <p:tag name="KSO_WM_DIAGRAM_VIRTUALLY_FRAME" val="{&quot;height&quot;:291.96244094488185,&quot;left&quot;:20,&quot;top&quot;:182.0251181102362,&quot;width&quot;:436}"/>
</p:tagLst>
</file>

<file path=ppt/tags/tag107.xml><?xml version="1.0" encoding="utf-8"?>
<p:tagLst xmlns:p="http://schemas.openxmlformats.org/presentationml/2006/main">
  <p:tag name="KSO_WM_DIAGRAM_VIRTUALLY_FRAME" val="{&quot;height&quot;:291.96244094488185,&quot;left&quot;:20,&quot;top&quot;:182.0251181102362,&quot;width&quot;:436}"/>
</p:tagLst>
</file>

<file path=ppt/tags/tag108.xml><?xml version="1.0" encoding="utf-8"?>
<p:tagLst xmlns:p="http://schemas.openxmlformats.org/presentationml/2006/main">
  <p:tag name="KSO_WM_DIAGRAM_VIRTUALLY_FRAME" val="{&quot;height&quot;:291.96244094488185,&quot;left&quot;:20,&quot;top&quot;:182.0251181102362,&quot;width&quot;:436}"/>
</p:tagLst>
</file>

<file path=ppt/tags/tag109.xml><?xml version="1.0" encoding="utf-8"?>
<p:tagLst xmlns:p="http://schemas.openxmlformats.org/presentationml/2006/main">
  <p:tag name="KSO_WM_DIAGRAM_VIRTUALLY_FRAME" val="{&quot;height&quot;:291.96244094488185,&quot;left&quot;:20,&quot;top&quot;:182.0251181102362,&quot;width&quot;:436}"/>
</p:tagLst>
</file>

<file path=ppt/tags/tag110.xml><?xml version="1.0" encoding="utf-8"?>
<p:tagLst xmlns:p="http://schemas.openxmlformats.org/presentationml/2006/main">
  <p:tag name="KSO_WM_DIAGRAM_VIRTUALLY_FRAME" val="{&quot;height&quot;:291.96244094488185,&quot;left&quot;:20,&quot;top&quot;:182.0251181102362,&quot;width&quot;:436}"/>
</p:tagLst>
</file>

<file path=ppt/tags/tag111.xml><?xml version="1.0" encoding="utf-8"?>
<p:tagLst xmlns:p="http://schemas.openxmlformats.org/presentationml/2006/main">
  <p:tag name="KSO_WM_DIAGRAM_VIRTUALLY_FRAME" val="{&quot;height&quot;:291.96244094488185,&quot;left&quot;:20,&quot;top&quot;:182.0251181102362,&quot;width&quot;:436}"/>
</p:tagLst>
</file>

<file path=ppt/tags/tag112.xml><?xml version="1.0" encoding="utf-8"?>
<p:tagLst xmlns:p="http://schemas.openxmlformats.org/presentationml/2006/main">
  <p:tag name="KSO_WM_DIAGRAM_VIRTUALLY_FRAME" val="{&quot;height&quot;:291.96244094488185,&quot;left&quot;:20,&quot;top&quot;:182.0251181102362,&quot;width&quot;:436}"/>
</p:tagLst>
</file>

<file path=ppt/tags/tag113.xml><?xml version="1.0" encoding="utf-8"?>
<p:tagLst xmlns:p="http://schemas.openxmlformats.org/presentationml/2006/main">
  <p:tag name="KSO_WM_DIAGRAM_VIRTUALLY_FRAME" val="{&quot;height&quot;:291.96244094488185,&quot;left&quot;:20,&quot;top&quot;:182.0251181102362,&quot;width&quot;:436}"/>
</p:tagLst>
</file>

<file path=ppt/tags/tag114.xml><?xml version="1.0" encoding="utf-8"?>
<p:tagLst xmlns:p="http://schemas.openxmlformats.org/presentationml/2006/main">
  <p:tag name="KSO_WM_DIAGRAM_VIRTUALLY_FRAME" val="{&quot;height&quot;:291.96244094488185,&quot;left&quot;:20,&quot;top&quot;:182.0251181102362,&quot;width&quot;:436}"/>
</p:tagLst>
</file>

<file path=ppt/tags/tag115.xml><?xml version="1.0" encoding="utf-8"?>
<p:tagLst xmlns:p="http://schemas.openxmlformats.org/presentationml/2006/main">
  <p:tag name="KSO_WM_DIAGRAM_VIRTUALLY_FRAME" val="{&quot;height&quot;:291.96244094488185,&quot;left&quot;:20,&quot;top&quot;:182.0251181102362,&quot;width&quot;:436}"/>
</p:tagLst>
</file>

<file path=ppt/tags/tag116.xml><?xml version="1.0" encoding="utf-8"?>
<p:tagLst xmlns:p="http://schemas.openxmlformats.org/presentationml/2006/main">
  <p:tag name="KSO_WM_DIAGRAM_VIRTUALLY_FRAME" val="{&quot;height&quot;:291.96244094488185,&quot;left&quot;:20,&quot;top&quot;:182.0251181102362,&quot;width&quot;:436}"/>
</p:tagLst>
</file>

<file path=ppt/tags/tag117.xml><?xml version="1.0" encoding="utf-8"?>
<p:tagLst xmlns:p="http://schemas.openxmlformats.org/presentationml/2006/main">
  <p:tag name="KSO_WM_DIAGRAM_VIRTUALLY_FRAME" val="{&quot;height&quot;:291.96244094488185,&quot;left&quot;:20,&quot;top&quot;:182.0251181102362,&quot;width&quot;:436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1210</Words>
  <Application>WPS 演示</Application>
  <PresentationFormat>On-screen Show (16:9)</PresentationFormat>
  <Paragraphs>214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计算机网络精要：从概念到模型</dc:title>
  <dc:creator>Kimi</dc:creator>
  <dc:subject>计算机网络精要：从概念到模型</dc:subject>
  <cp:lastModifiedBy>WPS_1694490358</cp:lastModifiedBy>
  <cp:revision>8</cp:revision>
  <dcterms:created xsi:type="dcterms:W3CDTF">2025-11-23T14:32:00Z</dcterms:created>
  <dcterms:modified xsi:type="dcterms:W3CDTF">2025-12-29T08:56:34Z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{"Label":"计算机网络精要：从概念到模型","ContentProducer":"001191110108MACG2KBH8F10000","ProduceID":"d4hhgopg4pnhipq4qvj0","ReservedCode1":"","ContentPropagator":"001191110108MACG2KBH8F20000","PropagateID":"d4hhgopg4pnhipq4qvj0","ReservedCode2":""}</vt:lpwstr>
  </property>
  <property fmtid="{D5CDD505-2E9C-101B-9397-08002B2CF9AE}" pid="3" name="ICV">
    <vt:lpwstr>C1B4D6B4E5464A7B915B50CB3ED1707C_13</vt:lpwstr>
  </property>
  <property fmtid="{D5CDD505-2E9C-101B-9397-08002B2CF9AE}" pid="4" name="KSOProductBuildVer">
    <vt:lpwstr>2052-12.1.0.24034</vt:lpwstr>
  </property>
</Properties>
</file>