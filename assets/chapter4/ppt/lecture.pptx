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embeddedFontLs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等线" panose="02010600030101010101" charset="-122"/>
      <p:regular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3.pn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5.pn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8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webp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notesSlide" Target="../notesSlides/notesSlide18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7.png"/><Relationship Id="rId10" Type="http://schemas.openxmlformats.org/officeDocument/2006/relationships/tags" Target="../tags/tag96.xml"/><Relationship Id="rId1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0" Type="http://schemas.openxmlformats.org/officeDocument/2006/relationships/notesSlide" Target="../notesSlides/notesSlide21.xml"/><Relationship Id="rId2" Type="http://schemas.openxmlformats.org/officeDocument/2006/relationships/tags" Target="../tags/tag104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png"/><Relationship Id="rId17" Type="http://schemas.openxmlformats.org/officeDocument/2006/relationships/tags" Target="../tags/tag119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19.png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0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1.png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3-d2tarltnfo2stf9djk2g.png"/>
          <p:cNvPicPr>
            <a:picLocks noChangeAspect="1"/>
          </p:cNvPicPr>
          <p:nvPr/>
        </p:nvPicPr>
        <p:blipFill>
          <a:blip r:embed="rId1"/>
          <a:srcRect l="11651" t="6196" r="5498" b="958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626745" y="5875020"/>
            <a:ext cx="5224145" cy="60833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甘芝清</a:t>
            </a:r>
            <a:r>
              <a:rPr lang="en-US" altLang="zh-CN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林银蕊</a:t>
            </a: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304972" y="6293196"/>
            <a:ext cx="704469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0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188085" y="102870"/>
            <a:ext cx="262890" cy="11703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745" y="2042160"/>
            <a:ext cx="6378575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网络层：从尽力交付到智能标签</a:t>
            </a:r>
            <a:endParaRPr lang="en-US" sz="6000" dirty="0"/>
          </a:p>
        </p:txBody>
      </p:sp>
      <p:pic>
        <p:nvPicPr>
          <p:cNvPr id="12" name="Image 2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09594" y="4470400"/>
            <a:ext cx="780106" cy="82078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4695" y="5018515"/>
            <a:ext cx="1131570" cy="81523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0:59-d2tarktnfo2stf9djjt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3"/>
            </p:custDataLst>
          </p:nvPr>
        </p:nvSpPr>
        <p:spPr>
          <a:xfrm flipH="1">
            <a:off x="4545965" y="261747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4"/>
            </p:custDataLst>
          </p:nvPr>
        </p:nvSpPr>
        <p:spPr>
          <a:xfrm flipH="1">
            <a:off x="4545965" y="339661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5"/>
            </p:custDataLst>
          </p:nvPr>
        </p:nvSpPr>
        <p:spPr>
          <a:xfrm flipH="1">
            <a:off x="4570730" y="417639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6"/>
            </p:custDataLst>
          </p:nvPr>
        </p:nvSpPr>
        <p:spPr>
          <a:xfrm flipH="1">
            <a:off x="4570730" y="49199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9" name="Shape 4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5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Text 12"/>
          <p:cNvSpPr/>
          <p:nvPr/>
        </p:nvSpPr>
        <p:spPr>
          <a:xfrm>
            <a:off x="844550" y="192595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5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844550" y="2692400"/>
            <a:ext cx="266319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3200" dirty="0"/>
          </a:p>
        </p:txBody>
      </p:sp>
      <p:sp>
        <p:nvSpPr>
          <p:cNvPr id="19" name="Shape 14"/>
          <p:cNvSpPr/>
          <p:nvPr/>
        </p:nvSpPr>
        <p:spPr>
          <a:xfrm>
            <a:off x="924560" y="267081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>
            <p:custDataLst>
              <p:tags r:id="rId7"/>
            </p:custDataLst>
          </p:nvPr>
        </p:nvSpPr>
        <p:spPr>
          <a:xfrm flipH="1">
            <a:off x="4570730" y="183388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pic>
        <p:nvPicPr>
          <p:cNvPr id="21" name="Image 3" descr="https://kimi-img.moonshot.cn/pub/slides/slides_tmpl/image/25-09-05-17:30:59-d2tarktnfo2stf9djjt0.png"/>
          <p:cNvPicPr>
            <a:picLocks noChangeAspect="1"/>
          </p:cNvPicPr>
          <p:nvPr/>
        </p:nvPicPr>
        <p:blipFill>
          <a:blip r:embed="rId8">
            <a:alphaModFix amt="80000"/>
          </a:blip>
          <a:stretch>
            <a:fillRect/>
          </a:stretch>
        </p:blipFill>
        <p:spPr>
          <a:xfrm>
            <a:off x="2209165" y="4778375"/>
            <a:ext cx="892175" cy="93853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009140" y="5405120"/>
            <a:ext cx="1294130" cy="932180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2700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</p:spPr>
      </p:sp>
      <p:pic>
        <p:nvPicPr>
          <p:cNvPr id="23" name="Image 4" descr="https://kimi-img.moonshot.cn/pub/slides/slides_tmpl/image/25-09-05-17:30:59-d2tarktnfo2stf9djju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9978390" y="1252855"/>
            <a:ext cx="1807845" cy="1654175"/>
          </a:xfrm>
          <a:prstGeom prst="rect">
            <a:avLst/>
          </a:prstGeom>
        </p:spPr>
      </p:pic>
      <p:sp>
        <p:nvSpPr>
          <p:cNvPr id="24" name="Text 17"/>
          <p:cNvSpPr/>
          <p:nvPr>
            <p:custDataLst>
              <p:tags r:id="rId10"/>
            </p:custDataLst>
          </p:nvPr>
        </p:nvSpPr>
        <p:spPr>
          <a:xfrm>
            <a:off x="4815840" y="167894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5" name="Text 18"/>
          <p:cNvSpPr/>
          <p:nvPr>
            <p:custDataLst>
              <p:tags r:id="rId11"/>
            </p:custDataLst>
          </p:nvPr>
        </p:nvSpPr>
        <p:spPr>
          <a:xfrm>
            <a:off x="5711190" y="967105"/>
            <a:ext cx="6267450" cy="4038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服务范式与协议概览</a:t>
            </a:r>
            <a:endParaRPr lang="en-US" sz="2800" dirty="0"/>
          </a:p>
        </p:txBody>
      </p:sp>
      <p:sp>
        <p:nvSpPr>
          <p:cNvPr id="26" name="Text 19"/>
          <p:cNvSpPr/>
          <p:nvPr>
            <p:custDataLst>
              <p:tags r:id="rId12"/>
            </p:custDataLst>
          </p:nvPr>
        </p:nvSpPr>
        <p:spPr>
          <a:xfrm>
            <a:off x="4815840" y="248094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7" name="Text 20"/>
          <p:cNvSpPr/>
          <p:nvPr>
            <p:custDataLst>
              <p:tags r:id="rId13"/>
            </p:custDataLst>
          </p:nvPr>
        </p:nvSpPr>
        <p:spPr>
          <a:xfrm>
            <a:off x="5711190" y="1741805"/>
            <a:ext cx="6268085" cy="4667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IP协议与地址机制</a:t>
            </a:r>
            <a:endParaRPr lang="en-US" sz="2800" dirty="0"/>
          </a:p>
        </p:txBody>
      </p:sp>
      <p:sp>
        <p:nvSpPr>
          <p:cNvPr id="28" name="Text 21"/>
          <p:cNvSpPr/>
          <p:nvPr>
            <p:custDataLst>
              <p:tags r:id="rId14"/>
            </p:custDataLst>
          </p:nvPr>
        </p:nvSpPr>
        <p:spPr>
          <a:xfrm>
            <a:off x="4815840" y="328295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9" name="Text 22"/>
          <p:cNvSpPr/>
          <p:nvPr>
            <p:custDataLst>
              <p:tags r:id="rId15"/>
            </p:custDataLst>
          </p:nvPr>
        </p:nvSpPr>
        <p:spPr>
          <a:xfrm>
            <a:off x="5711190" y="2564765"/>
            <a:ext cx="6266815" cy="4165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ARP与ICMP协作</a:t>
            </a:r>
            <a:endParaRPr lang="en-US" sz="2800" dirty="0"/>
          </a:p>
        </p:txBody>
      </p:sp>
      <p:sp>
        <p:nvSpPr>
          <p:cNvPr id="30" name="Text 23"/>
          <p:cNvSpPr/>
          <p:nvPr>
            <p:custDataLst>
              <p:tags r:id="rId16"/>
            </p:custDataLst>
          </p:nvPr>
        </p:nvSpPr>
        <p:spPr>
          <a:xfrm>
            <a:off x="4815840" y="408368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1" name="Text 24"/>
          <p:cNvSpPr/>
          <p:nvPr>
            <p:custDataLst>
              <p:tags r:id="rId17"/>
            </p:custDataLst>
          </p:nvPr>
        </p:nvSpPr>
        <p:spPr>
          <a:xfrm>
            <a:off x="5711190" y="3349625"/>
            <a:ext cx="6266815" cy="4089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路由协议分层</a:t>
            </a:r>
            <a:endParaRPr lang="en-US" sz="2800" dirty="0"/>
          </a:p>
        </p:txBody>
      </p:sp>
      <p:sp>
        <p:nvSpPr>
          <p:cNvPr id="32" name="Text 25"/>
          <p:cNvSpPr/>
          <p:nvPr>
            <p:custDataLst>
              <p:tags r:id="rId18"/>
            </p:custDataLst>
          </p:nvPr>
        </p:nvSpPr>
        <p:spPr>
          <a:xfrm>
            <a:off x="4815840" y="4791710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3" name="Text 26"/>
          <p:cNvSpPr/>
          <p:nvPr>
            <p:custDataLst>
              <p:tags r:id="rId19"/>
            </p:custDataLst>
          </p:nvPr>
        </p:nvSpPr>
        <p:spPr>
          <a:xfrm>
            <a:off x="5711190" y="4127500"/>
            <a:ext cx="6266815" cy="427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多播与地址转换</a:t>
            </a:r>
            <a:endParaRPr lang="en-US" sz="2800" dirty="0"/>
          </a:p>
        </p:txBody>
      </p:sp>
      <p:sp>
        <p:nvSpPr>
          <p:cNvPr id="37" name="Shape 15"/>
          <p:cNvSpPr/>
          <p:nvPr>
            <p:custDataLst>
              <p:tags r:id="rId20"/>
            </p:custDataLst>
          </p:nvPr>
        </p:nvSpPr>
        <p:spPr>
          <a:xfrm flipH="1">
            <a:off x="4570730" y="1037590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8" name="Shape 15"/>
          <p:cNvSpPr/>
          <p:nvPr>
            <p:custDataLst>
              <p:tags r:id="rId21"/>
            </p:custDataLst>
          </p:nvPr>
        </p:nvSpPr>
        <p:spPr>
          <a:xfrm flipH="1">
            <a:off x="4570730" y="5681345"/>
            <a:ext cx="127000" cy="342900"/>
          </a:xfrm>
          <a:prstGeom prst="line">
            <a:avLst/>
          </a:prstGeom>
          <a:noFill/>
          <a:ln w="28575">
            <a:solidFill>
              <a:srgbClr val="4B62E1"/>
            </a:solidFill>
            <a:prstDash val="solid"/>
            <a:headEnd type="none"/>
            <a:tailEnd type="none"/>
          </a:ln>
        </p:spPr>
      </p:sp>
      <p:sp>
        <p:nvSpPr>
          <p:cNvPr id="39" name="Text 17"/>
          <p:cNvSpPr/>
          <p:nvPr>
            <p:custDataLst>
              <p:tags r:id="rId22"/>
            </p:custDataLst>
          </p:nvPr>
        </p:nvSpPr>
        <p:spPr>
          <a:xfrm>
            <a:off x="4815840" y="87820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40" name="Text 17"/>
          <p:cNvSpPr/>
          <p:nvPr>
            <p:custDataLst>
              <p:tags r:id="rId23"/>
            </p:custDataLst>
          </p:nvPr>
        </p:nvSpPr>
        <p:spPr>
          <a:xfrm>
            <a:off x="4815840" y="5534025"/>
            <a:ext cx="104330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07.</a:t>
            </a:r>
            <a:endParaRPr lang="en-US" sz="1600" dirty="0"/>
          </a:p>
        </p:txBody>
      </p:sp>
      <p:sp>
        <p:nvSpPr>
          <p:cNvPr id="41" name="Text 26"/>
          <p:cNvSpPr/>
          <p:nvPr>
            <p:custDataLst>
              <p:tags r:id="rId24"/>
            </p:custDataLst>
          </p:nvPr>
        </p:nvSpPr>
        <p:spPr>
          <a:xfrm>
            <a:off x="5711190" y="4899025"/>
            <a:ext cx="6266815" cy="4533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IPv6</a:t>
            </a: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与</a:t>
            </a:r>
            <a:r>
              <a:rPr lang="en-US" altLang="zh-CN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MPLS</a:t>
            </a: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前沿</a:t>
            </a:r>
            <a:endParaRPr lang="en-US" sz="2800" dirty="0"/>
          </a:p>
        </p:txBody>
      </p:sp>
      <p:sp>
        <p:nvSpPr>
          <p:cNvPr id="42" name="Text 26"/>
          <p:cNvSpPr/>
          <p:nvPr>
            <p:custDataLst>
              <p:tags r:id="rId25"/>
            </p:custDataLst>
          </p:nvPr>
        </p:nvSpPr>
        <p:spPr>
          <a:xfrm>
            <a:off x="5711190" y="5590540"/>
            <a:ext cx="6266815" cy="4279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回顾与展望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  <p:bldP spid="39" grpId="0"/>
      <p:bldP spid="39" grpId="1"/>
      <p:bldP spid="26" grpId="0"/>
      <p:bldP spid="26" grpId="1"/>
      <p:bldP spid="24" grpId="0"/>
      <p:bldP spid="24" grpId="1"/>
      <p:bldP spid="28" grpId="0"/>
      <p:bldP spid="28" grpId="1"/>
      <p:bldP spid="30" grpId="0"/>
      <p:bldP spid="30" grpId="1"/>
      <p:bldP spid="32" grpId="0"/>
      <p:bldP spid="32" grpId="1"/>
      <p:bldP spid="40" grpId="0"/>
      <p:bldP spid="40" grpId="1"/>
      <p:bldP spid="42" grpId="0"/>
      <p:bldP spid="42" grpId="1"/>
      <p:bldP spid="41" grpId="0"/>
      <p:bldP spid="41" grpId="1"/>
      <p:bldP spid="33" grpId="0"/>
      <p:bldP spid="33" grpId="1"/>
      <p:bldP spid="31" grpId="0"/>
      <p:bldP spid="31" grpId="1"/>
      <p:bldP spid="29" grpId="0"/>
      <p:bldP spid="29" grpId="1"/>
      <p:bldP spid="27" grpId="0"/>
      <p:bldP spid="27" grpId="1"/>
      <p:bldP spid="25" grpId="0"/>
      <p:bldP spid="2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服务范式与协议概览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7" grpId="0"/>
      <p:bldP spid="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559435"/>
            <a:ext cx="11874500" cy="1218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虚电路与数据报：两种交付哲学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03200" y="1879600"/>
            <a:ext cx="11785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网络层提供两种服务模型，核心区别在于是否预先建立连接。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916940" y="2616200"/>
            <a:ext cx="4673600" cy="2921000"/>
          </a:xfrm>
          <a:custGeom>
            <a:avLst/>
            <a:gdLst/>
            <a:ahLst/>
            <a:cxnLst/>
            <a:rect l="l" t="t" r="r" b="b"/>
            <a:pathLst>
              <a:path w="4673600" h="2921000">
                <a:moveTo>
                  <a:pt x="50800" y="0"/>
                </a:moveTo>
                <a:lnTo>
                  <a:pt x="4622800" y="0"/>
                </a:lnTo>
                <a:cubicBezTo>
                  <a:pt x="4650837" y="0"/>
                  <a:pt x="4673600" y="22763"/>
                  <a:pt x="4673600" y="50800"/>
                </a:cubicBezTo>
                <a:lnTo>
                  <a:pt x="4673600" y="2768611"/>
                </a:lnTo>
                <a:cubicBezTo>
                  <a:pt x="4673600" y="2852773"/>
                  <a:pt x="4605373" y="2921000"/>
                  <a:pt x="4521211" y="2921000"/>
                </a:cubicBezTo>
                <a:lnTo>
                  <a:pt x="152389" y="2921000"/>
                </a:lnTo>
                <a:cubicBezTo>
                  <a:pt x="68283" y="2921000"/>
                  <a:pt x="0" y="2852717"/>
                  <a:pt x="0" y="2768611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6940" y="2616200"/>
            <a:ext cx="4673600" cy="50800"/>
          </a:xfrm>
          <a:custGeom>
            <a:avLst/>
            <a:gdLst/>
            <a:ahLst/>
            <a:cxnLst/>
            <a:rect l="l" t="t" r="r" b="b"/>
            <a:pathLst>
              <a:path w="4673600" h="50800">
                <a:moveTo>
                  <a:pt x="50800" y="0"/>
                </a:moveTo>
                <a:lnTo>
                  <a:pt x="4622800" y="0"/>
                </a:lnTo>
                <a:cubicBezTo>
                  <a:pt x="4650837" y="0"/>
                  <a:pt x="4673600" y="22763"/>
                  <a:pt x="4673600" y="50800"/>
                </a:cubicBezTo>
                <a:lnTo>
                  <a:pt x="4673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/>
        </p:nvSpPr>
        <p:spPr>
          <a:xfrm>
            <a:off x="1221740" y="294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Shape 5"/>
          <p:cNvSpPr/>
          <p:nvPr/>
        </p:nvSpPr>
        <p:spPr>
          <a:xfrm>
            <a:off x="1332865" y="3073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0656" y="-15875"/>
                </a:moveTo>
                <a:cubicBezTo>
                  <a:pt x="234206" y="-15875"/>
                  <a:pt x="285750" y="35669"/>
                  <a:pt x="285750" y="99219"/>
                </a:cubicBezTo>
                <a:cubicBezTo>
                  <a:pt x="285750" y="105817"/>
                  <a:pt x="280442" y="111125"/>
                  <a:pt x="273844" y="111125"/>
                </a:cubicBezTo>
                <a:cubicBezTo>
                  <a:pt x="267246" y="111125"/>
                  <a:pt x="261937" y="105817"/>
                  <a:pt x="261937" y="99219"/>
                </a:cubicBezTo>
                <a:cubicBezTo>
                  <a:pt x="261937" y="48816"/>
                  <a:pt x="221059" y="7938"/>
                  <a:pt x="170656" y="7938"/>
                </a:cubicBezTo>
                <a:cubicBezTo>
                  <a:pt x="164058" y="7938"/>
                  <a:pt x="158750" y="2629"/>
                  <a:pt x="158750" y="-3969"/>
                </a:cubicBezTo>
                <a:cubicBezTo>
                  <a:pt x="158750" y="-10567"/>
                  <a:pt x="164058" y="-15875"/>
                  <a:pt x="170656" y="-15875"/>
                </a:cubicBezTo>
                <a:close/>
                <a:moveTo>
                  <a:pt x="174625" y="79375"/>
                </a:moveTo>
                <a:cubicBezTo>
                  <a:pt x="183387" y="79375"/>
                  <a:pt x="190500" y="86488"/>
                  <a:pt x="190500" y="95250"/>
                </a:cubicBezTo>
                <a:cubicBezTo>
                  <a:pt x="190500" y="104012"/>
                  <a:pt x="183387" y="111125"/>
                  <a:pt x="174625" y="111125"/>
                </a:cubicBezTo>
                <a:cubicBezTo>
                  <a:pt x="165863" y="111125"/>
                  <a:pt x="158750" y="104012"/>
                  <a:pt x="158750" y="95250"/>
                </a:cubicBezTo>
                <a:cubicBezTo>
                  <a:pt x="158750" y="86488"/>
                  <a:pt x="165863" y="79375"/>
                  <a:pt x="174625" y="79375"/>
                </a:cubicBezTo>
                <a:close/>
                <a:moveTo>
                  <a:pt x="158750" y="43656"/>
                </a:moveTo>
                <a:cubicBezTo>
                  <a:pt x="158750" y="37058"/>
                  <a:pt x="164058" y="31750"/>
                  <a:pt x="170656" y="31750"/>
                </a:cubicBezTo>
                <a:cubicBezTo>
                  <a:pt x="207913" y="31750"/>
                  <a:pt x="238125" y="61962"/>
                  <a:pt x="238125" y="99219"/>
                </a:cubicBezTo>
                <a:cubicBezTo>
                  <a:pt x="238125" y="105817"/>
                  <a:pt x="232817" y="111125"/>
                  <a:pt x="226219" y="111125"/>
                </a:cubicBezTo>
                <a:cubicBezTo>
                  <a:pt x="219621" y="111125"/>
                  <a:pt x="214313" y="105817"/>
                  <a:pt x="214313" y="99219"/>
                </a:cubicBezTo>
                <a:cubicBezTo>
                  <a:pt x="214313" y="75109"/>
                  <a:pt x="194766" y="55563"/>
                  <a:pt x="170656" y="55563"/>
                </a:cubicBezTo>
                <a:cubicBezTo>
                  <a:pt x="164058" y="55563"/>
                  <a:pt x="158750" y="50254"/>
                  <a:pt x="158750" y="43656"/>
                </a:cubicBezTo>
                <a:close/>
                <a:moveTo>
                  <a:pt x="71487" y="695"/>
                </a:moveTo>
                <a:cubicBezTo>
                  <a:pt x="81260" y="-1984"/>
                  <a:pt x="91480" y="3026"/>
                  <a:pt x="95349" y="12353"/>
                </a:cubicBezTo>
                <a:lnTo>
                  <a:pt x="115441" y="60623"/>
                </a:lnTo>
                <a:cubicBezTo>
                  <a:pt x="118864" y="68808"/>
                  <a:pt x="116483" y="78284"/>
                  <a:pt x="109587" y="83939"/>
                </a:cubicBezTo>
                <a:lnTo>
                  <a:pt x="87709" y="101848"/>
                </a:lnTo>
                <a:cubicBezTo>
                  <a:pt x="103832" y="137368"/>
                  <a:pt x="131862" y="166340"/>
                  <a:pt x="166737" y="183654"/>
                </a:cubicBezTo>
                <a:lnTo>
                  <a:pt x="185886" y="160238"/>
                </a:lnTo>
                <a:cubicBezTo>
                  <a:pt x="191492" y="153343"/>
                  <a:pt x="200968" y="151011"/>
                  <a:pt x="209203" y="154384"/>
                </a:cubicBezTo>
                <a:lnTo>
                  <a:pt x="257473" y="174526"/>
                </a:lnTo>
                <a:cubicBezTo>
                  <a:pt x="266799" y="178395"/>
                  <a:pt x="271810" y="188615"/>
                  <a:pt x="269131" y="198388"/>
                </a:cubicBezTo>
                <a:lnTo>
                  <a:pt x="268387" y="201116"/>
                </a:lnTo>
                <a:cubicBezTo>
                  <a:pt x="259655" y="233214"/>
                  <a:pt x="228650" y="260598"/>
                  <a:pt x="190798" y="252611"/>
                </a:cubicBezTo>
                <a:cubicBezTo>
                  <a:pt x="103981" y="234206"/>
                  <a:pt x="35669" y="165894"/>
                  <a:pt x="17264" y="79077"/>
                </a:cubicBezTo>
                <a:cubicBezTo>
                  <a:pt x="9277" y="41225"/>
                  <a:pt x="36661" y="10220"/>
                  <a:pt x="68709" y="1439"/>
                </a:cubicBezTo>
                <a:lnTo>
                  <a:pt x="71438" y="69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882140" y="2997200"/>
            <a:ext cx="1676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虚电路服务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21740" y="3606800"/>
            <a:ext cx="415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面向连接，类似电话通信，保证分组顺序和可靠性。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221740" y="4267200"/>
            <a:ext cx="4152900" cy="96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建立连接: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通信前需建立虚电路。</a:t>
            </a:r>
            <a:endParaRPr lang="en-US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顺序交付: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保证分组按序到达。</a:t>
            </a:r>
            <a:endParaRPr lang="en-US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可靠传输: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提供错误检测与恢复。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895340" y="2590800"/>
            <a:ext cx="558800" cy="294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01460" y="2616200"/>
            <a:ext cx="4673600" cy="2921000"/>
          </a:xfrm>
          <a:custGeom>
            <a:avLst/>
            <a:gdLst/>
            <a:ahLst/>
            <a:cxnLst/>
            <a:rect l="l" t="t" r="r" b="b"/>
            <a:pathLst>
              <a:path w="4673600" h="2921000">
                <a:moveTo>
                  <a:pt x="50800" y="0"/>
                </a:moveTo>
                <a:lnTo>
                  <a:pt x="4622800" y="0"/>
                </a:lnTo>
                <a:cubicBezTo>
                  <a:pt x="4650837" y="0"/>
                  <a:pt x="4673600" y="22763"/>
                  <a:pt x="4673600" y="50800"/>
                </a:cubicBezTo>
                <a:lnTo>
                  <a:pt x="4673600" y="2768611"/>
                </a:lnTo>
                <a:cubicBezTo>
                  <a:pt x="4673600" y="2852773"/>
                  <a:pt x="4605373" y="2921000"/>
                  <a:pt x="4521211" y="2921000"/>
                </a:cubicBezTo>
                <a:lnTo>
                  <a:pt x="152389" y="2921000"/>
                </a:lnTo>
                <a:cubicBezTo>
                  <a:pt x="68283" y="2921000"/>
                  <a:pt x="0" y="2852717"/>
                  <a:pt x="0" y="2768611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460" y="2616200"/>
            <a:ext cx="4673600" cy="50800"/>
          </a:xfrm>
          <a:custGeom>
            <a:avLst/>
            <a:gdLst/>
            <a:ahLst/>
            <a:cxnLst/>
            <a:rect l="l" t="t" r="r" b="b"/>
            <a:pathLst>
              <a:path w="4673600" h="50800">
                <a:moveTo>
                  <a:pt x="50800" y="0"/>
                </a:moveTo>
                <a:lnTo>
                  <a:pt x="4622800" y="0"/>
                </a:lnTo>
                <a:cubicBezTo>
                  <a:pt x="4650837" y="0"/>
                  <a:pt x="4673600" y="22763"/>
                  <a:pt x="4673600" y="50800"/>
                </a:cubicBezTo>
                <a:lnTo>
                  <a:pt x="46736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5" name="Shape 12"/>
          <p:cNvSpPr/>
          <p:nvPr/>
        </p:nvSpPr>
        <p:spPr>
          <a:xfrm>
            <a:off x="6906260" y="2946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6" name="Shape 13"/>
          <p:cNvSpPr/>
          <p:nvPr/>
        </p:nvSpPr>
        <p:spPr>
          <a:xfrm>
            <a:off x="7017385" y="3073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6818"/>
                </a:moveTo>
                <a:lnTo>
                  <a:pt x="47823" y="87213"/>
                </a:lnTo>
                <a:lnTo>
                  <a:pt x="126256" y="145355"/>
                </a:lnTo>
                <a:cubicBezTo>
                  <a:pt x="128885" y="147290"/>
                  <a:pt x="131812" y="148779"/>
                  <a:pt x="134938" y="149671"/>
                </a:cubicBezTo>
                <a:lnTo>
                  <a:pt x="134938" y="230188"/>
                </a:lnTo>
                <a:cubicBezTo>
                  <a:pt x="134938" y="232916"/>
                  <a:pt x="135186" y="235545"/>
                  <a:pt x="135582" y="238125"/>
                </a:cubicBezTo>
                <a:lnTo>
                  <a:pt x="47625" y="238125"/>
                </a:lnTo>
                <a:cubicBezTo>
                  <a:pt x="30113" y="238125"/>
                  <a:pt x="15875" y="223887"/>
                  <a:pt x="15875" y="206375"/>
                </a:cubicBezTo>
                <a:lnTo>
                  <a:pt x="15875" y="87362"/>
                </a:lnTo>
                <a:cubicBezTo>
                  <a:pt x="15875" y="77291"/>
                  <a:pt x="20638" y="67816"/>
                  <a:pt x="28724" y="61863"/>
                </a:cubicBezTo>
                <a:lnTo>
                  <a:pt x="126256" y="-10418"/>
                </a:lnTo>
                <a:cubicBezTo>
                  <a:pt x="131068" y="-13990"/>
                  <a:pt x="136872" y="-15875"/>
                  <a:pt x="142875" y="-15875"/>
                </a:cubicBezTo>
                <a:cubicBezTo>
                  <a:pt x="148878" y="-15875"/>
                  <a:pt x="154682" y="-13940"/>
                  <a:pt x="159494" y="-10418"/>
                </a:cubicBezTo>
                <a:lnTo>
                  <a:pt x="257026" y="61863"/>
                </a:lnTo>
                <a:cubicBezTo>
                  <a:pt x="260598" y="64492"/>
                  <a:pt x="263525" y="67816"/>
                  <a:pt x="265658" y="71586"/>
                </a:cubicBezTo>
                <a:cubicBezTo>
                  <a:pt x="264418" y="71487"/>
                  <a:pt x="263178" y="71438"/>
                  <a:pt x="261937" y="71438"/>
                </a:cubicBezTo>
                <a:lnTo>
                  <a:pt x="216595" y="71438"/>
                </a:lnTo>
                <a:lnTo>
                  <a:pt x="142875" y="16818"/>
                </a:lnTo>
                <a:close/>
                <a:moveTo>
                  <a:pt x="158750" y="119063"/>
                </a:moveTo>
                <a:cubicBezTo>
                  <a:pt x="158750" y="105916"/>
                  <a:pt x="169416" y="95250"/>
                  <a:pt x="182563" y="95250"/>
                </a:cubicBezTo>
                <a:lnTo>
                  <a:pt x="261937" y="95250"/>
                </a:lnTo>
                <a:cubicBezTo>
                  <a:pt x="275084" y="95250"/>
                  <a:pt x="285750" y="105916"/>
                  <a:pt x="285750" y="119063"/>
                </a:cubicBezTo>
                <a:lnTo>
                  <a:pt x="285750" y="230188"/>
                </a:lnTo>
                <a:cubicBezTo>
                  <a:pt x="285750" y="243334"/>
                  <a:pt x="275084" y="254000"/>
                  <a:pt x="261937" y="254000"/>
                </a:cubicBezTo>
                <a:lnTo>
                  <a:pt x="182563" y="254000"/>
                </a:lnTo>
                <a:cubicBezTo>
                  <a:pt x="169416" y="254000"/>
                  <a:pt x="158750" y="243334"/>
                  <a:pt x="158750" y="230188"/>
                </a:cubicBezTo>
                <a:lnTo>
                  <a:pt x="158750" y="119063"/>
                </a:lnTo>
                <a:close/>
                <a:moveTo>
                  <a:pt x="198438" y="127000"/>
                </a:moveTo>
                <a:cubicBezTo>
                  <a:pt x="191839" y="127000"/>
                  <a:pt x="186531" y="132308"/>
                  <a:pt x="186531" y="138906"/>
                </a:cubicBezTo>
                <a:cubicBezTo>
                  <a:pt x="186531" y="145504"/>
                  <a:pt x="191839" y="150813"/>
                  <a:pt x="198438" y="150813"/>
                </a:cubicBezTo>
                <a:lnTo>
                  <a:pt x="246063" y="150813"/>
                </a:lnTo>
                <a:cubicBezTo>
                  <a:pt x="252661" y="150813"/>
                  <a:pt x="257969" y="145504"/>
                  <a:pt x="257969" y="138906"/>
                </a:cubicBezTo>
                <a:cubicBezTo>
                  <a:pt x="257969" y="132308"/>
                  <a:pt x="252661" y="127000"/>
                  <a:pt x="246063" y="127000"/>
                </a:cubicBezTo>
                <a:lnTo>
                  <a:pt x="198438" y="127000"/>
                </a:lnTo>
                <a:close/>
                <a:moveTo>
                  <a:pt x="198438" y="174625"/>
                </a:moveTo>
                <a:cubicBezTo>
                  <a:pt x="191839" y="174625"/>
                  <a:pt x="186531" y="179933"/>
                  <a:pt x="186531" y="186531"/>
                </a:cubicBezTo>
                <a:cubicBezTo>
                  <a:pt x="186531" y="193129"/>
                  <a:pt x="191839" y="198438"/>
                  <a:pt x="198438" y="198438"/>
                </a:cubicBezTo>
                <a:lnTo>
                  <a:pt x="226219" y="198438"/>
                </a:lnTo>
                <a:cubicBezTo>
                  <a:pt x="232817" y="198438"/>
                  <a:pt x="238125" y="193129"/>
                  <a:pt x="238125" y="186531"/>
                </a:cubicBezTo>
                <a:cubicBezTo>
                  <a:pt x="238125" y="179933"/>
                  <a:pt x="232817" y="174625"/>
                  <a:pt x="226219" y="174625"/>
                </a:cubicBezTo>
                <a:lnTo>
                  <a:pt x="198438" y="1746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7" name="Text 14"/>
          <p:cNvSpPr/>
          <p:nvPr/>
        </p:nvSpPr>
        <p:spPr>
          <a:xfrm>
            <a:off x="7566660" y="2997200"/>
            <a:ext cx="1676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数据报服务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6260" y="3606800"/>
            <a:ext cx="4152900" cy="458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无连接，类似邮政系统，每个分组独立选择路由。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06260" y="4064635"/>
            <a:ext cx="4152900" cy="1229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无连接: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每个分组携带完整地址。</a:t>
            </a:r>
            <a:endParaRPr lang="en-US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独立路由: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分组独立选择路径。</a:t>
            </a:r>
            <a:endParaRPr lang="en-US" dirty="0"/>
          </a:p>
          <a:p>
            <a:pPr marL="254000" indent="-254000">
              <a:lnSpc>
                <a:spcPct val="120000"/>
              </a:lnSpc>
              <a:spcBef>
                <a:spcPts val="10"/>
              </a:spcBef>
              <a:buSzPct val="100000"/>
              <a:buChar char="•"/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灵活简单: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不保证顺序，容错性高。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9" grpId="0"/>
      <p:bldP spid="9" grpId="1"/>
      <p:bldP spid="17" grpId="0"/>
      <p:bldP spid="17" grpId="1"/>
      <p:bldP spid="10" grpId="0"/>
      <p:bldP spid="10" grpId="1"/>
      <p:bldP spid="18" grpId="0"/>
      <p:bldP spid="18" grpId="1"/>
      <p:bldP spid="19" grpId="0"/>
      <p:bldP spid="19" grpId="1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196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网络层协议族全景图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5080000" y="2743200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2032000" h="2032000">
                <a:moveTo>
                  <a:pt x="1016000" y="0"/>
                </a:moveTo>
                <a:lnTo>
                  <a:pt x="1016000" y="0"/>
                </a:lnTo>
                <a:cubicBezTo>
                  <a:pt x="1576746" y="0"/>
                  <a:pt x="2032000" y="455254"/>
                  <a:pt x="2032000" y="1016000"/>
                </a:cubicBezTo>
                <a:lnTo>
                  <a:pt x="2032000" y="1016000"/>
                </a:lnTo>
                <a:cubicBezTo>
                  <a:pt x="2032000" y="1576746"/>
                  <a:pt x="1576746" y="2032000"/>
                  <a:pt x="1016000" y="2032000"/>
                </a:cubicBezTo>
                <a:lnTo>
                  <a:pt x="1016000" y="2032000"/>
                </a:lnTo>
                <a:cubicBezTo>
                  <a:pt x="455254" y="2032000"/>
                  <a:pt x="0" y="1576746"/>
                  <a:pt x="0" y="1016000"/>
                </a:cubicBezTo>
                <a:lnTo>
                  <a:pt x="0" y="1016000"/>
                </a:lnTo>
                <a:cubicBezTo>
                  <a:pt x="0" y="455254"/>
                  <a:pt x="455254" y="0"/>
                  <a:pt x="1016000" y="0"/>
                </a:cubicBezTo>
                <a:close/>
              </a:path>
            </a:pathLst>
          </a:custGeom>
          <a:solidFill>
            <a:srgbClr val="4A90E2">
              <a:alpha val="20000"/>
            </a:srgbClr>
          </a:solidFill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254000" y="2184400"/>
            <a:ext cx="2921000" cy="914400"/>
          </a:xfrm>
          <a:custGeom>
            <a:avLst/>
            <a:gdLst/>
            <a:ahLst/>
            <a:cxnLst/>
            <a:rect l="l" t="t" r="r" b="b"/>
            <a:pathLst>
              <a:path w="2921000" h="9144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812801"/>
                </a:lnTo>
                <a:cubicBezTo>
                  <a:pt x="2921000" y="868913"/>
                  <a:pt x="2875513" y="914400"/>
                  <a:pt x="2819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349250" y="2310130"/>
            <a:ext cx="2730500" cy="382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核心协议</a:t>
            </a:r>
            <a:endParaRPr lang="en-US" sz="24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361950" y="2692400"/>
            <a:ext cx="2705100" cy="382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IP, ARP, ICMP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9017000" y="2184400"/>
            <a:ext cx="2921000" cy="914400"/>
          </a:xfrm>
          <a:custGeom>
            <a:avLst/>
            <a:gdLst/>
            <a:ahLst/>
            <a:cxnLst/>
            <a:rect l="l" t="t" r="r" b="b"/>
            <a:pathLst>
              <a:path w="2921000" h="9144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812801"/>
                </a:lnTo>
                <a:cubicBezTo>
                  <a:pt x="2921000" y="868913"/>
                  <a:pt x="2875513" y="914400"/>
                  <a:pt x="2819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9112250" y="2230755"/>
            <a:ext cx="2730500" cy="461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路由协议</a:t>
            </a:r>
            <a:endParaRPr lang="en-US" sz="2400" dirty="0"/>
          </a:p>
        </p:txBody>
      </p:sp>
      <p:sp>
        <p:nvSpPr>
          <p:cNvPr id="11" name="Text 8"/>
          <p:cNvSpPr/>
          <p:nvPr>
            <p:custDataLst>
              <p:tags r:id="rId8"/>
            </p:custDataLst>
          </p:nvPr>
        </p:nvSpPr>
        <p:spPr>
          <a:xfrm>
            <a:off x="9124950" y="2692400"/>
            <a:ext cx="2705100" cy="382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RIP, OSPF, BGP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3175000" y="3302000"/>
            <a:ext cx="5842000" cy="914400"/>
          </a:xfrm>
          <a:custGeom>
            <a:avLst/>
            <a:gdLst/>
            <a:ahLst/>
            <a:cxnLst/>
            <a:rect l="l" t="t" r="r" b="b"/>
            <a:pathLst>
              <a:path w="5842000" h="914400">
                <a:moveTo>
                  <a:pt x="101599" y="0"/>
                </a:moveTo>
                <a:lnTo>
                  <a:pt x="5740401" y="0"/>
                </a:lnTo>
                <a:cubicBezTo>
                  <a:pt x="5796513" y="0"/>
                  <a:pt x="5842000" y="45487"/>
                  <a:pt x="5842000" y="101599"/>
                </a:cubicBezTo>
                <a:lnTo>
                  <a:pt x="5842000" y="812801"/>
                </a:lnTo>
                <a:cubicBezTo>
                  <a:pt x="5842000" y="868913"/>
                  <a:pt x="5796513" y="914400"/>
                  <a:pt x="5740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7484DF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10"/>
            </p:custDataLst>
          </p:nvPr>
        </p:nvSpPr>
        <p:spPr>
          <a:xfrm>
            <a:off x="3270250" y="3454400"/>
            <a:ext cx="5651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chemeClr val="bg1"/>
                </a:solidFill>
                <a:uFillTx/>
                <a:latin typeface="Noto Sans SC" charset="0"/>
                <a:ea typeface="Noto Sans SC" panose="020B0200000000000000" pitchFamily="34" charset="-122"/>
                <a:cs typeface="Noto Sans SC" panose="020B0200000000000000" pitchFamily="34" charset="-120"/>
              </a:rPr>
              <a:t>增强技术</a:t>
            </a:r>
            <a:endParaRPr lang="en-US" sz="2400" b="1" dirty="0">
              <a:solidFill>
                <a:schemeClr val="bg1"/>
              </a:solidFill>
              <a:uFillTx/>
              <a:latin typeface="Noto Sans SC" charset="0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3270250" y="3810000"/>
            <a:ext cx="5626100" cy="383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uFillTx/>
                <a:latin typeface="Noto Sans SC" charset="0"/>
                <a:ea typeface="Noto Sans SC" panose="020B0200000000000000" pitchFamily="34" charset="-122"/>
                <a:cs typeface="Noto Sans SC" panose="020B0200000000000000" pitchFamily="34" charset="-120"/>
              </a:rPr>
              <a:t>NAT, VPN, 多播, MPLS</a:t>
            </a:r>
            <a:endParaRPr lang="en-US" dirty="0">
              <a:solidFill>
                <a:schemeClr val="bg1"/>
              </a:solidFill>
              <a:uFillTx/>
              <a:latin typeface="Noto Sans SC" charset="0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2"/>
            </p:custDataLst>
          </p:nvPr>
        </p:nvSpPr>
        <p:spPr>
          <a:xfrm>
            <a:off x="254000" y="4419600"/>
            <a:ext cx="2921000" cy="914400"/>
          </a:xfrm>
          <a:custGeom>
            <a:avLst/>
            <a:gdLst/>
            <a:ahLst/>
            <a:cxnLst/>
            <a:rect l="l" t="t" r="r" b="b"/>
            <a:pathLst>
              <a:path w="2921000" h="9144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812801"/>
                </a:lnTo>
                <a:cubicBezTo>
                  <a:pt x="2921000" y="868913"/>
                  <a:pt x="2875513" y="914400"/>
                  <a:pt x="2819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349250" y="4536440"/>
            <a:ext cx="2730500" cy="391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地址机制</a:t>
            </a:r>
            <a:endParaRPr lang="en-US" sz="2400" dirty="0"/>
          </a:p>
        </p:txBody>
      </p:sp>
      <p:sp>
        <p:nvSpPr>
          <p:cNvPr id="17" name="Text 14"/>
          <p:cNvSpPr/>
          <p:nvPr>
            <p:custDataLst>
              <p:tags r:id="rId14"/>
            </p:custDataLst>
          </p:nvPr>
        </p:nvSpPr>
        <p:spPr>
          <a:xfrm>
            <a:off x="361950" y="4927600"/>
            <a:ext cx="2705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IPv4, IPv6</a:t>
            </a:r>
            <a:endParaRPr lang="en-US" dirty="0"/>
          </a:p>
        </p:txBody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9017000" y="4419600"/>
            <a:ext cx="2921000" cy="914400"/>
          </a:xfrm>
          <a:custGeom>
            <a:avLst/>
            <a:gdLst/>
            <a:ahLst/>
            <a:cxnLst/>
            <a:rect l="l" t="t" r="r" b="b"/>
            <a:pathLst>
              <a:path w="2921000" h="914400">
                <a:moveTo>
                  <a:pt x="101599" y="0"/>
                </a:moveTo>
                <a:lnTo>
                  <a:pt x="2819401" y="0"/>
                </a:lnTo>
                <a:cubicBezTo>
                  <a:pt x="2875513" y="0"/>
                  <a:pt x="2921000" y="45487"/>
                  <a:pt x="2921000" y="101599"/>
                </a:cubicBezTo>
                <a:lnTo>
                  <a:pt x="2921000" y="812801"/>
                </a:lnTo>
                <a:cubicBezTo>
                  <a:pt x="2921000" y="868913"/>
                  <a:pt x="2875513" y="914400"/>
                  <a:pt x="2819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6"/>
          <p:cNvSpPr/>
          <p:nvPr>
            <p:custDataLst>
              <p:tags r:id="rId16"/>
            </p:custDataLst>
          </p:nvPr>
        </p:nvSpPr>
        <p:spPr>
          <a:xfrm>
            <a:off x="9112250" y="4521200"/>
            <a:ext cx="27305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控制与差错</a:t>
            </a:r>
            <a:endParaRPr lang="en-US" sz="2400" dirty="0"/>
          </a:p>
        </p:txBody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9124950" y="4927600"/>
            <a:ext cx="2705100" cy="415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ICMP, IGMP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3" grpId="0"/>
      <p:bldP spid="13" grpId="1"/>
      <p:bldP spid="14" grpId="0"/>
      <p:bldP spid="14" grpId="1"/>
      <p:bldP spid="7" grpId="0"/>
      <p:bldP spid="7" grpId="1"/>
      <p:bldP spid="8" grpId="0"/>
      <p:bldP spid="8" grpId="1"/>
      <p:bldP spid="16" grpId="0"/>
      <p:bldP spid="16" grpId="1"/>
      <p:bldP spid="17" grpId="0"/>
      <p:bldP spid="17" grpId="1"/>
      <p:bldP spid="10" grpId="0"/>
      <p:bldP spid="10" grpId="1"/>
      <p:bldP spid="11" grpId="0"/>
      <p:bldP spid="11" grpId="1"/>
      <p:bldP spid="19" grpId="0"/>
      <p:bldP spid="19" grpId="1"/>
      <p:bldP spid="20" grpId="0"/>
      <p:bldP spid="2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IP协议与地址机制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9607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IP分组结构：首部里的20字节乾坤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1229995"/>
            <a:ext cx="5791200" cy="166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IPv4首部包含路由和转发所需的所有控制信息，是实现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“尽力交付”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的核心。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99720" y="314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759" y="0"/>
                </a:moveTo>
                <a:cubicBezTo>
                  <a:pt x="94734" y="0"/>
                  <a:pt x="89059" y="5675"/>
                  <a:pt x="89059" y="12700"/>
                </a:cubicBezTo>
                <a:lnTo>
                  <a:pt x="89059" y="25400"/>
                </a:lnTo>
                <a:lnTo>
                  <a:pt x="25559" y="25400"/>
                </a:lnTo>
                <a:cubicBezTo>
                  <a:pt x="18534" y="25400"/>
                  <a:pt x="12859" y="31075"/>
                  <a:pt x="12859" y="38100"/>
                </a:cubicBezTo>
                <a:lnTo>
                  <a:pt x="12859" y="63500"/>
                </a:lnTo>
                <a:cubicBezTo>
                  <a:pt x="12859" y="70525"/>
                  <a:pt x="18534" y="76200"/>
                  <a:pt x="25559" y="76200"/>
                </a:cubicBezTo>
                <a:lnTo>
                  <a:pt x="89059" y="76200"/>
                </a:lnTo>
                <a:lnTo>
                  <a:pt x="89059" y="101600"/>
                </a:lnTo>
                <a:lnTo>
                  <a:pt x="28178" y="101600"/>
                </a:lnTo>
                <a:cubicBezTo>
                  <a:pt x="26511" y="101600"/>
                  <a:pt x="24884" y="102275"/>
                  <a:pt x="23693" y="103465"/>
                </a:cubicBezTo>
                <a:lnTo>
                  <a:pt x="4643" y="122515"/>
                </a:lnTo>
                <a:cubicBezTo>
                  <a:pt x="2183" y="124976"/>
                  <a:pt x="2183" y="129024"/>
                  <a:pt x="4643" y="131485"/>
                </a:cubicBezTo>
                <a:lnTo>
                  <a:pt x="23693" y="150535"/>
                </a:lnTo>
                <a:cubicBezTo>
                  <a:pt x="24884" y="151725"/>
                  <a:pt x="26511" y="152400"/>
                  <a:pt x="28178" y="152400"/>
                </a:cubicBezTo>
                <a:lnTo>
                  <a:pt x="89059" y="152400"/>
                </a:lnTo>
                <a:lnTo>
                  <a:pt x="89059" y="190500"/>
                </a:lnTo>
                <a:cubicBezTo>
                  <a:pt x="89059" y="197525"/>
                  <a:pt x="94734" y="203200"/>
                  <a:pt x="101759" y="203200"/>
                </a:cubicBezTo>
                <a:cubicBezTo>
                  <a:pt x="108783" y="203200"/>
                  <a:pt x="114459" y="197525"/>
                  <a:pt x="114459" y="190500"/>
                </a:cubicBezTo>
                <a:lnTo>
                  <a:pt x="114459" y="152400"/>
                </a:lnTo>
                <a:lnTo>
                  <a:pt x="177959" y="152400"/>
                </a:lnTo>
                <a:cubicBezTo>
                  <a:pt x="184983" y="152400"/>
                  <a:pt x="190659" y="146725"/>
                  <a:pt x="190659" y="139700"/>
                </a:cubicBezTo>
                <a:lnTo>
                  <a:pt x="190659" y="114300"/>
                </a:lnTo>
                <a:cubicBezTo>
                  <a:pt x="190659" y="107275"/>
                  <a:pt x="184983" y="101600"/>
                  <a:pt x="177959" y="101600"/>
                </a:cubicBezTo>
                <a:lnTo>
                  <a:pt x="114459" y="101600"/>
                </a:lnTo>
                <a:lnTo>
                  <a:pt x="114459" y="76200"/>
                </a:lnTo>
                <a:lnTo>
                  <a:pt x="175339" y="76200"/>
                </a:lnTo>
                <a:cubicBezTo>
                  <a:pt x="177006" y="76200"/>
                  <a:pt x="178633" y="75525"/>
                  <a:pt x="179824" y="74335"/>
                </a:cubicBezTo>
                <a:lnTo>
                  <a:pt x="198874" y="55285"/>
                </a:lnTo>
                <a:cubicBezTo>
                  <a:pt x="201335" y="52824"/>
                  <a:pt x="201335" y="48776"/>
                  <a:pt x="198874" y="46315"/>
                </a:cubicBezTo>
                <a:lnTo>
                  <a:pt x="179824" y="27265"/>
                </a:lnTo>
                <a:cubicBezTo>
                  <a:pt x="178633" y="26075"/>
                  <a:pt x="177006" y="25400"/>
                  <a:pt x="175339" y="25400"/>
                </a:cubicBezTo>
                <a:lnTo>
                  <a:pt x="114459" y="25400"/>
                </a:lnTo>
                <a:lnTo>
                  <a:pt x="114459" y="12700"/>
                </a:lnTo>
                <a:cubicBezTo>
                  <a:pt x="114459" y="5675"/>
                  <a:pt x="108783" y="0"/>
                  <a:pt x="101759" y="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650240" y="2932430"/>
            <a:ext cx="5397500" cy="7759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地址与协议: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源/目的IP地址和协议字段指明数据报的来源、去向和上层协议类型。</a:t>
            </a:r>
            <a:endParaRPr lang="en-US" dirty="0"/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292417" y="3911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397" y="175300"/>
                </a:moveTo>
                <a:cubicBezTo>
                  <a:pt x="2183" y="183952"/>
                  <a:pt x="9843" y="190500"/>
                  <a:pt x="19050" y="190500"/>
                </a:cubicBezTo>
                <a:lnTo>
                  <a:pt x="158750" y="190500"/>
                </a:lnTo>
                <a:cubicBezTo>
                  <a:pt x="169267" y="190500"/>
                  <a:pt x="177800" y="181967"/>
                  <a:pt x="177800" y="171450"/>
                </a:cubicBezTo>
                <a:lnTo>
                  <a:pt x="177800" y="133350"/>
                </a:lnTo>
                <a:cubicBezTo>
                  <a:pt x="177800" y="122833"/>
                  <a:pt x="169267" y="114300"/>
                  <a:pt x="158750" y="114300"/>
                </a:cubicBezTo>
                <a:lnTo>
                  <a:pt x="139700" y="114300"/>
                </a:lnTo>
                <a:lnTo>
                  <a:pt x="139700" y="142875"/>
                </a:lnTo>
                <a:cubicBezTo>
                  <a:pt x="139700" y="148153"/>
                  <a:pt x="135453" y="152400"/>
                  <a:pt x="130175" y="152400"/>
                </a:cubicBezTo>
                <a:cubicBezTo>
                  <a:pt x="124897" y="152400"/>
                  <a:pt x="120650" y="148153"/>
                  <a:pt x="120650" y="142875"/>
                </a:cubicBezTo>
                <a:lnTo>
                  <a:pt x="120650" y="114300"/>
                </a:lnTo>
                <a:lnTo>
                  <a:pt x="95250" y="114300"/>
                </a:lnTo>
                <a:lnTo>
                  <a:pt x="95250" y="142875"/>
                </a:lnTo>
                <a:cubicBezTo>
                  <a:pt x="95250" y="148153"/>
                  <a:pt x="91003" y="152400"/>
                  <a:pt x="85725" y="152400"/>
                </a:cubicBezTo>
                <a:cubicBezTo>
                  <a:pt x="80447" y="152400"/>
                  <a:pt x="76200" y="148153"/>
                  <a:pt x="76200" y="142875"/>
                </a:cubicBezTo>
                <a:lnTo>
                  <a:pt x="76200" y="114300"/>
                </a:lnTo>
                <a:lnTo>
                  <a:pt x="47625" y="114300"/>
                </a:lnTo>
                <a:cubicBezTo>
                  <a:pt x="42347" y="114300"/>
                  <a:pt x="38100" y="110053"/>
                  <a:pt x="38100" y="104775"/>
                </a:cubicBezTo>
                <a:cubicBezTo>
                  <a:pt x="38100" y="99497"/>
                  <a:pt x="42347" y="95250"/>
                  <a:pt x="47625" y="95250"/>
                </a:cubicBezTo>
                <a:lnTo>
                  <a:pt x="76200" y="95250"/>
                </a:lnTo>
                <a:lnTo>
                  <a:pt x="76200" y="69850"/>
                </a:lnTo>
                <a:lnTo>
                  <a:pt x="47625" y="69850"/>
                </a:lnTo>
                <a:cubicBezTo>
                  <a:pt x="42347" y="69850"/>
                  <a:pt x="38100" y="65603"/>
                  <a:pt x="38100" y="60325"/>
                </a:cubicBezTo>
                <a:cubicBezTo>
                  <a:pt x="38100" y="55047"/>
                  <a:pt x="42347" y="50800"/>
                  <a:pt x="47625" y="50800"/>
                </a:cubicBezTo>
                <a:lnTo>
                  <a:pt x="76200" y="50800"/>
                </a:lnTo>
                <a:lnTo>
                  <a:pt x="76200" y="31750"/>
                </a:lnTo>
                <a:cubicBezTo>
                  <a:pt x="76200" y="21233"/>
                  <a:pt x="67667" y="12700"/>
                  <a:pt x="57150" y="12700"/>
                </a:cubicBezTo>
                <a:lnTo>
                  <a:pt x="19050" y="12700"/>
                </a:lnTo>
                <a:cubicBezTo>
                  <a:pt x="8533" y="12700"/>
                  <a:pt x="0" y="21233"/>
                  <a:pt x="0" y="31750"/>
                </a:cubicBezTo>
                <a:lnTo>
                  <a:pt x="0" y="171450"/>
                </a:lnTo>
                <a:cubicBezTo>
                  <a:pt x="0" y="172760"/>
                  <a:pt x="119" y="174069"/>
                  <a:pt x="397" y="1753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10235" y="3829685"/>
            <a:ext cx="5435600" cy="640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长度与分片: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总长度、标识、标志、片偏移用于数据报的分片和重组，以适应不同网络的MTU。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291306" y="4673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633730" y="4622800"/>
            <a:ext cx="5410200" cy="766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生存与控制: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TTL防止环路，首部校验和保证首部完整性，服务类型（TOS）支持QoS。</a:t>
            </a:r>
            <a:endParaRPr lang="en-US" dirty="0"/>
          </a:p>
        </p:txBody>
      </p:sp>
      <p:pic>
        <p:nvPicPr>
          <p:cNvPr id="12" name="图片 11" descr="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6170" y="1401445"/>
            <a:ext cx="5605780" cy="4227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169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 B C D E：类地址的荣枯</a:t>
            </a:r>
            <a:endParaRPr lang="en-US" sz="48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842804" y="2336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766604" y="2336800"/>
            <a:ext cx="1168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560070" y="3454400"/>
            <a:ext cx="142938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巨型网络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287020" y="3759200"/>
            <a:ext cx="2052955" cy="840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(1.0.0.0 - 127.255.255.255)</a:t>
            </a:r>
            <a:endParaRPr lang="en-US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3125946" y="2336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3049746" y="2336800"/>
            <a:ext cx="1168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2856865" y="3454400"/>
            <a:ext cx="16205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大中型网络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2552700" y="3759200"/>
            <a:ext cx="2205355" cy="892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(128.0.0.0 - 191.255.255.255)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5498465" y="2336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7484DF">
              <a:alpha val="8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11"/>
            </p:custDataLst>
          </p:nvPr>
        </p:nvSpPr>
        <p:spPr>
          <a:xfrm>
            <a:off x="5422265" y="2336800"/>
            <a:ext cx="1168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5174615" y="3454400"/>
            <a:ext cx="157099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小型网络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4925060" y="3759200"/>
            <a:ext cx="2232025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(192.0.0.0 - 223.255.255.255)</a:t>
            </a:r>
            <a:endParaRPr lang="en-US" dirty="0"/>
          </a:p>
        </p:txBody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7870984" y="2336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4A90E2">
              <a:alpha val="5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Text 14"/>
          <p:cNvSpPr/>
          <p:nvPr>
            <p:custDataLst>
              <p:tags r:id="rId15"/>
            </p:custDataLst>
          </p:nvPr>
        </p:nvSpPr>
        <p:spPr>
          <a:xfrm>
            <a:off x="7794784" y="2336800"/>
            <a:ext cx="1168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7861300" y="3454400"/>
            <a:ext cx="103632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多播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7297420" y="3759200"/>
            <a:ext cx="2159000" cy="933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(224.0.0.0 - 239.255.255.255)</a:t>
            </a:r>
            <a:endParaRPr lang="en-US" dirty="0"/>
          </a:p>
        </p:txBody>
      </p:sp>
      <p:sp>
        <p:nvSpPr>
          <p:cNvPr id="20" name="Shape 17"/>
          <p:cNvSpPr/>
          <p:nvPr>
            <p:custDataLst>
              <p:tags r:id="rId18"/>
            </p:custDataLst>
          </p:nvPr>
        </p:nvSpPr>
        <p:spPr>
          <a:xfrm>
            <a:off x="10243503" y="23368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ADD8E6">
              <a:alpha val="5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8"/>
          <p:cNvSpPr/>
          <p:nvPr>
            <p:custDataLst>
              <p:tags r:id="rId19"/>
            </p:custDataLst>
          </p:nvPr>
        </p:nvSpPr>
        <p:spPr>
          <a:xfrm>
            <a:off x="10167303" y="2336800"/>
            <a:ext cx="11684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Text 19"/>
          <p:cNvSpPr/>
          <p:nvPr>
            <p:custDataLst>
              <p:tags r:id="rId20"/>
            </p:custDataLst>
          </p:nvPr>
        </p:nvSpPr>
        <p:spPr>
          <a:xfrm>
            <a:off x="10167620" y="3454400"/>
            <a:ext cx="121666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保留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3" name="Text 20"/>
          <p:cNvSpPr/>
          <p:nvPr>
            <p:custDataLst>
              <p:tags r:id="rId21"/>
            </p:custDataLst>
          </p:nvPr>
        </p:nvSpPr>
        <p:spPr>
          <a:xfrm>
            <a:off x="9669780" y="3759200"/>
            <a:ext cx="2159000" cy="92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(240.0.0.0 - 255.255.255.255)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254000" y="5337175"/>
            <a:ext cx="11684000" cy="1266825"/>
          </a:xfrm>
          <a:custGeom>
            <a:avLst/>
            <a:gdLst/>
            <a:ahLst/>
            <a:cxnLst/>
            <a:rect l="l" t="t" r="r" b="b"/>
            <a:pathLst>
              <a:path w="11684000" h="1016000">
                <a:moveTo>
                  <a:pt x="101600" y="0"/>
                </a:moveTo>
                <a:lnTo>
                  <a:pt x="11582400" y="0"/>
                </a:lnTo>
                <a:cubicBezTo>
                  <a:pt x="11638475" y="0"/>
                  <a:pt x="11684000" y="45525"/>
                  <a:pt x="11684000" y="101600"/>
                </a:cubicBezTo>
                <a:lnTo>
                  <a:pt x="11684000" y="914400"/>
                </a:lnTo>
                <a:cubicBezTo>
                  <a:pt x="11684000" y="970475"/>
                  <a:pt x="11638475" y="1016000"/>
                  <a:pt x="115824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457200" y="59080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26" name="Text 23"/>
          <p:cNvSpPr/>
          <p:nvPr/>
        </p:nvSpPr>
        <p:spPr>
          <a:xfrm>
            <a:off x="1136650" y="5340985"/>
            <a:ext cx="10087610" cy="567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地址危机与无类革命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78155" y="5913120"/>
            <a:ext cx="11298555" cy="487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分类法导致地址分配不灵活、浪费严重，催生了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子网划分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CIDR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（无类域间路由）技术，使地址分配更加高效。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10" grpId="0"/>
      <p:bldP spid="10" grpId="1"/>
      <p:bldP spid="14" grpId="0"/>
      <p:bldP spid="14" grpId="1"/>
      <p:bldP spid="18" grpId="0"/>
      <p:bldP spid="18" grpId="1"/>
      <p:bldP spid="22" grpId="0"/>
      <p:bldP spid="22" grpId="1"/>
      <p:bldP spid="7" grpId="0"/>
      <p:bldP spid="7" grpId="1"/>
      <p:bldP spid="11" grpId="0"/>
      <p:bldP spid="11" grpId="1"/>
      <p:bldP spid="15" grpId="0"/>
      <p:bldP spid="15" grpId="1"/>
      <p:bldP spid="19" grpId="0"/>
      <p:bldP spid="19" grpId="1"/>
      <p:bldP spid="23" grpId="0"/>
      <p:bldP spid="23" grpId="1"/>
      <p:bldP spid="26" grpId="0"/>
      <p:bldP spid="26" grpId="1"/>
      <p:bldP spid="27" grpId="0"/>
      <p:bldP spid="2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96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分片与重组：MTU的适配游戏</a:t>
            </a:r>
            <a:endParaRPr lang="en-US" sz="4800" dirty="0"/>
          </a:p>
        </p:txBody>
      </p:sp>
      <p:pic>
        <p:nvPicPr>
          <p:cNvPr id="4" name="Image 1" descr="https://kimi-web-img.moonshot.cn/img/pic.pngsucai.com/e654fa775ac70f6a821cc8dff9fe6a8b45ab5310.web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3146" y="24130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5" name="Text 1"/>
          <p:cNvSpPr/>
          <p:nvPr/>
        </p:nvSpPr>
        <p:spPr>
          <a:xfrm>
            <a:off x="862330" y="3733800"/>
            <a:ext cx="137604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大数据报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62330" y="4038600"/>
            <a:ext cx="1386840" cy="524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(Size &gt; MTU)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3399155" y="27686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8" name="Text 4"/>
          <p:cNvSpPr/>
          <p:nvPr/>
        </p:nvSpPr>
        <p:spPr>
          <a:xfrm>
            <a:off x="2997200" y="3429000"/>
            <a:ext cx="142621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DF=0 允许分片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432300" y="2085975"/>
            <a:ext cx="3746500" cy="2437765"/>
          </a:xfrm>
          <a:custGeom>
            <a:avLst/>
            <a:gdLst/>
            <a:ahLst/>
            <a:cxnLst/>
            <a:rect l="l" t="t" r="r" b="b"/>
            <a:pathLst>
              <a:path w="3746500" h="1574800">
                <a:moveTo>
                  <a:pt x="101606" y="0"/>
                </a:moveTo>
                <a:lnTo>
                  <a:pt x="3644894" y="0"/>
                </a:lnTo>
                <a:cubicBezTo>
                  <a:pt x="3701009" y="0"/>
                  <a:pt x="3746500" y="45491"/>
                  <a:pt x="3746500" y="101606"/>
                </a:cubicBezTo>
                <a:lnTo>
                  <a:pt x="3746500" y="1473194"/>
                </a:lnTo>
                <a:cubicBezTo>
                  <a:pt x="3746500" y="1529309"/>
                  <a:pt x="3701009" y="1574800"/>
                  <a:pt x="36448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5222240" y="2268220"/>
            <a:ext cx="220027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分片过程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40567" y="2985135"/>
            <a:ext cx="3530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在MTU较小的网络入口，由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路由器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将数据报分割成多个片段。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52169" y="3987800"/>
            <a:ext cx="3302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每个片段都有独立的标识、标志(MF)和片偏移。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15008" y="3048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674608" y="277892"/>
                </a:moveTo>
                <a:cubicBezTo>
                  <a:pt x="689491" y="292775"/>
                  <a:pt x="689491" y="316944"/>
                  <a:pt x="674608" y="331827"/>
                </a:cubicBezTo>
                <a:lnTo>
                  <a:pt x="522208" y="484227"/>
                </a:lnTo>
                <a:cubicBezTo>
                  <a:pt x="511254" y="495181"/>
                  <a:pt x="494943" y="498396"/>
                  <a:pt x="480655" y="492442"/>
                </a:cubicBezTo>
                <a:cubicBezTo>
                  <a:pt x="466368" y="486489"/>
                  <a:pt x="457200" y="472559"/>
                  <a:pt x="457200" y="457200"/>
                </a:cubicBezTo>
                <a:lnTo>
                  <a:pt x="457200" y="381000"/>
                </a:lnTo>
                <a:lnTo>
                  <a:pt x="57150" y="381000"/>
                </a:lnTo>
                <a:cubicBezTo>
                  <a:pt x="25598" y="381000"/>
                  <a:pt x="0" y="355402"/>
                  <a:pt x="0" y="323850"/>
                </a:cubicBezTo>
                <a:lnTo>
                  <a:pt x="0" y="285750"/>
                </a:lnTo>
                <a:cubicBezTo>
                  <a:pt x="0" y="254198"/>
                  <a:pt x="25598" y="228600"/>
                  <a:pt x="57150" y="228600"/>
                </a:cubicBezTo>
                <a:lnTo>
                  <a:pt x="457200" y="228600"/>
                </a:lnTo>
                <a:lnTo>
                  <a:pt x="457200" y="152400"/>
                </a:lnTo>
                <a:cubicBezTo>
                  <a:pt x="457200" y="137041"/>
                  <a:pt x="466487" y="123111"/>
                  <a:pt x="480774" y="117157"/>
                </a:cubicBezTo>
                <a:cubicBezTo>
                  <a:pt x="495062" y="111204"/>
                  <a:pt x="511373" y="114538"/>
                  <a:pt x="522327" y="125373"/>
                </a:cubicBezTo>
                <a:lnTo>
                  <a:pt x="674727" y="277773"/>
                </a:lnTo>
                <a:close/>
              </a:path>
            </a:pathLst>
          </a:custGeom>
          <a:solidFill>
            <a:srgbClr val="4A90E2"/>
          </a:solidFill>
        </p:spPr>
      </p:sp>
      <p:pic>
        <p:nvPicPr>
          <p:cNvPr id="14" name="Image 2" descr="https://kimi-web-img.moonshot.cn/img/img.88icon.com/b18b0df457afd012c71ce51a4a5247c9ab906f04.jpg!b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929654" y="2413000"/>
            <a:ext cx="1219200" cy="1219200"/>
          </a:xfrm>
          <a:prstGeom prst="roundRect">
            <a:avLst>
              <a:gd name="adj" fmla="val 50000"/>
            </a:avLst>
          </a:prstGeom>
        </p:spPr>
      </p:pic>
      <p:sp>
        <p:nvSpPr>
          <p:cNvPr id="15" name="Text 10"/>
          <p:cNvSpPr/>
          <p:nvPr/>
        </p:nvSpPr>
        <p:spPr>
          <a:xfrm>
            <a:off x="9434830" y="3733800"/>
            <a:ext cx="210439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多个片段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630410" y="4038600"/>
            <a:ext cx="1713230" cy="524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(按偏移量排序)</a:t>
            </a: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254000" y="5639435"/>
            <a:ext cx="11684000" cy="964565"/>
          </a:xfrm>
          <a:custGeom>
            <a:avLst/>
            <a:gdLst/>
            <a:ahLst/>
            <a:cxnLst/>
            <a:rect l="l" t="t" r="r" b="b"/>
            <a:pathLst>
              <a:path w="11684000" h="609600">
                <a:moveTo>
                  <a:pt x="101602" y="0"/>
                </a:moveTo>
                <a:lnTo>
                  <a:pt x="11582398" y="0"/>
                </a:lnTo>
                <a:cubicBezTo>
                  <a:pt x="11638511" y="0"/>
                  <a:pt x="11684000" y="45489"/>
                  <a:pt x="11684000" y="101602"/>
                </a:cubicBezTo>
                <a:lnTo>
                  <a:pt x="11684000" y="507998"/>
                </a:lnTo>
                <a:cubicBezTo>
                  <a:pt x="11684000" y="564111"/>
                  <a:pt x="11638511" y="609600"/>
                  <a:pt x="115823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484DF">
              <a:alpha val="20000"/>
            </a:srgbClr>
          </a:solidFill>
        </p:spPr>
      </p:sp>
      <p:sp>
        <p:nvSpPr>
          <p:cNvPr id="18" name="Text 13"/>
          <p:cNvSpPr/>
          <p:nvPr/>
        </p:nvSpPr>
        <p:spPr>
          <a:xfrm>
            <a:off x="355600" y="5685790"/>
            <a:ext cx="11480800" cy="7658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重组：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</a:t>
            </a: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最终目的主机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根据</a:t>
            </a:r>
            <a:r>
              <a:rPr lang="en-US" sz="2400" dirty="0">
                <a:solidFill>
                  <a:srgbClr val="FFFFFF"/>
                </a:solidFill>
                <a:highlight>
                  <a:srgbClr val="7484DF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标识、标志(MF)、片偏移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将片段重新组装成原始数据报。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" grpId="0"/>
      <p:bldP spid="10" grpId="1"/>
      <p:bldP spid="11" grpId="0"/>
      <p:bldP spid="11" grpId="1"/>
      <p:bldP spid="12" grpId="0"/>
      <p:bldP spid="12" grpId="1"/>
      <p:bldP spid="5" grpId="0"/>
      <p:bldP spid="5" grpId="1"/>
      <p:bldP spid="15" grpId="0"/>
      <p:bldP spid="15" grpId="1"/>
      <p:bldP spid="18" grpId="0"/>
      <p:bldP spid="18" grpId="1"/>
      <p:bldP spid="6" grpId="0"/>
      <p:bldP spid="6" grpId="1"/>
      <p:bldP spid="16" grpId="0"/>
      <p:bldP spid="16" grpId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ARP与ICMP协作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84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ARP：一次广播一场暗恋</a:t>
            </a:r>
            <a:endParaRPr lang="en-US" sz="4800" dirty="0"/>
          </a:p>
        </p:txBody>
      </p:sp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3721576" y="2717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0" name="Shape 7"/>
          <p:cNvSpPr/>
          <p:nvPr>
            <p:custDataLst>
              <p:tags r:id="rId3"/>
            </p:custDataLst>
          </p:nvPr>
        </p:nvSpPr>
        <p:spPr>
          <a:xfrm>
            <a:off x="8007668" y="2717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14" name="Shape 11"/>
          <p:cNvSpPr/>
          <p:nvPr/>
        </p:nvSpPr>
        <p:spPr>
          <a:xfrm>
            <a:off x="254000" y="5354320"/>
            <a:ext cx="11684000" cy="1249680"/>
          </a:xfrm>
          <a:custGeom>
            <a:avLst/>
            <a:gdLst/>
            <a:ahLst/>
            <a:cxnLst/>
            <a:rect l="l" t="t" r="r" b="b"/>
            <a:pathLst>
              <a:path w="11684000" h="863600">
                <a:moveTo>
                  <a:pt x="101603" y="0"/>
                </a:moveTo>
                <a:lnTo>
                  <a:pt x="11582397" y="0"/>
                </a:lnTo>
                <a:cubicBezTo>
                  <a:pt x="11638511" y="0"/>
                  <a:pt x="11684000" y="45489"/>
                  <a:pt x="11684000" y="101603"/>
                </a:cubicBezTo>
                <a:lnTo>
                  <a:pt x="11684000" y="761997"/>
                </a:lnTo>
                <a:cubicBezTo>
                  <a:pt x="11684000" y="818111"/>
                  <a:pt x="11638511" y="863600"/>
                  <a:pt x="115823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406400" y="6019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6" name="Text 13"/>
          <p:cNvSpPr/>
          <p:nvPr/>
        </p:nvSpPr>
        <p:spPr>
          <a:xfrm>
            <a:off x="990600" y="5407660"/>
            <a:ext cx="7162800" cy="39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ARP缓存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90600" y="5817870"/>
            <a:ext cx="10385425" cy="633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为提高效率，主机会将IP-MAC映射关系存入本地缓存，并设置老化时间，减少重复广播。</a:t>
            </a:r>
            <a:endParaRPr lang="en-US" dirty="0"/>
          </a:p>
        </p:txBody>
      </p:sp>
      <p:sp>
        <p:nvSpPr>
          <p:cNvPr id="19" name="Shape 2"/>
          <p:cNvSpPr/>
          <p:nvPr>
            <p:custDataLst>
              <p:tags r:id="rId4"/>
            </p:custDataLst>
          </p:nvPr>
        </p:nvSpPr>
        <p:spPr>
          <a:xfrm>
            <a:off x="506095" y="2672080"/>
            <a:ext cx="2130425" cy="2065655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Text 1"/>
          <p:cNvSpPr/>
          <p:nvPr>
            <p:custDataLst>
              <p:tags r:id="rId5"/>
            </p:custDataLst>
          </p:nvPr>
        </p:nvSpPr>
        <p:spPr>
          <a:xfrm>
            <a:off x="990600" y="3073400"/>
            <a:ext cx="10858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源主机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2"/>
          <p:cNvSpPr/>
          <p:nvPr>
            <p:custDataLst>
              <p:tags r:id="rId6"/>
            </p:custDataLst>
          </p:nvPr>
        </p:nvSpPr>
        <p:spPr>
          <a:xfrm>
            <a:off x="781050" y="3648710"/>
            <a:ext cx="1670685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知道目标IP</a:t>
            </a: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不知道目标MAC</a:t>
            </a:r>
            <a:endParaRPr lang="en-US" dirty="0"/>
          </a:p>
        </p:txBody>
      </p:sp>
      <p:sp>
        <p:nvSpPr>
          <p:cNvPr id="20" name="Shape 7"/>
          <p:cNvSpPr/>
          <p:nvPr>
            <p:custDataLst>
              <p:tags r:id="rId7"/>
            </p:custDataLst>
          </p:nvPr>
        </p:nvSpPr>
        <p:spPr>
          <a:xfrm>
            <a:off x="5037455" y="3035935"/>
            <a:ext cx="1990090" cy="1991995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7"/>
          <p:cNvSpPr/>
          <p:nvPr>
            <p:custDataLst>
              <p:tags r:id="rId8"/>
            </p:custDataLst>
          </p:nvPr>
        </p:nvSpPr>
        <p:spPr>
          <a:xfrm>
            <a:off x="7407275" y="1758315"/>
            <a:ext cx="1433195" cy="140589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7"/>
          <p:cNvSpPr/>
          <p:nvPr>
            <p:custDataLst>
              <p:tags r:id="rId9"/>
            </p:custDataLst>
          </p:nvPr>
        </p:nvSpPr>
        <p:spPr>
          <a:xfrm>
            <a:off x="9368790" y="3032125"/>
            <a:ext cx="1991995" cy="1970405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7"/>
          <p:cNvSpPr/>
          <p:nvPr>
            <p:custDataLst>
              <p:tags r:id="rId10"/>
            </p:custDataLst>
          </p:nvPr>
        </p:nvSpPr>
        <p:spPr>
          <a:xfrm>
            <a:off x="3051810" y="1456055"/>
            <a:ext cx="1522730" cy="157988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ADD8E6"/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150235" y="1786255"/>
            <a:ext cx="1424305" cy="9315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ARP Request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(Broadcast)</a:t>
            </a:r>
            <a:endParaRPr lang="en-US" dirty="0"/>
          </a:p>
        </p:txBody>
      </p:sp>
      <p:sp>
        <p:nvSpPr>
          <p:cNvPr id="8" name="Text 5"/>
          <p:cNvSpPr/>
          <p:nvPr>
            <p:custDataLst>
              <p:tags r:id="rId11"/>
            </p:custDataLst>
          </p:nvPr>
        </p:nvSpPr>
        <p:spPr>
          <a:xfrm>
            <a:off x="5335905" y="3479800"/>
            <a:ext cx="141668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局域网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12"/>
            </p:custDataLst>
          </p:nvPr>
        </p:nvSpPr>
        <p:spPr>
          <a:xfrm>
            <a:off x="5325110" y="3784600"/>
            <a:ext cx="1457960" cy="939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所有主机接收</a:t>
            </a: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目标主机响应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599680" y="2275840"/>
            <a:ext cx="14097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ARP Reply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(Unicast)</a:t>
            </a:r>
            <a:endParaRPr lang="en-US" dirty="0"/>
          </a:p>
        </p:txBody>
      </p:sp>
      <p:sp>
        <p:nvSpPr>
          <p:cNvPr id="12" name="Text 9"/>
          <p:cNvSpPr/>
          <p:nvPr>
            <p:custDataLst>
              <p:tags r:id="rId13"/>
            </p:custDataLst>
          </p:nvPr>
        </p:nvSpPr>
        <p:spPr>
          <a:xfrm>
            <a:off x="9656445" y="3479800"/>
            <a:ext cx="14122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目标主机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14"/>
            </p:custDataLst>
          </p:nvPr>
        </p:nvSpPr>
        <p:spPr>
          <a:xfrm>
            <a:off x="9471660" y="3784600"/>
            <a:ext cx="1787525" cy="955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收到请求</a:t>
            </a:r>
            <a:endParaRPr lang="en-US" dirty="0"/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单播回复MAC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7" grpId="0"/>
      <p:bldP spid="17" grpId="1"/>
      <p:bldP spid="16" grpId="0"/>
      <p:bldP spid="16" grpId="1"/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965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ICMP：网络体检的听诊器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1672590"/>
            <a:ext cx="3797300" cy="4120515"/>
          </a:xfrm>
          <a:custGeom>
            <a:avLst/>
            <a:gdLst/>
            <a:ahLst/>
            <a:cxnLst/>
            <a:rect l="l" t="t" r="r" b="b"/>
            <a:pathLst>
              <a:path w="3797300" h="5689600">
                <a:moveTo>
                  <a:pt x="101616" y="0"/>
                </a:moveTo>
                <a:lnTo>
                  <a:pt x="3695684" y="0"/>
                </a:lnTo>
                <a:cubicBezTo>
                  <a:pt x="3751805" y="0"/>
                  <a:pt x="3797300" y="45495"/>
                  <a:pt x="3797300" y="101616"/>
                </a:cubicBezTo>
                <a:lnTo>
                  <a:pt x="3797300" y="5587984"/>
                </a:lnTo>
                <a:cubicBezTo>
                  <a:pt x="3797300" y="5644105"/>
                  <a:pt x="3751805" y="5689600"/>
                  <a:pt x="3695684" y="5689600"/>
                </a:cubicBezTo>
                <a:lnTo>
                  <a:pt x="101616" y="5689600"/>
                </a:lnTo>
                <a:cubicBezTo>
                  <a:pt x="45495" y="5689600"/>
                  <a:pt x="0" y="5644105"/>
                  <a:pt x="0" y="5587984"/>
                </a:cubicBezTo>
                <a:lnTo>
                  <a:pt x="0" y="101616"/>
                </a:lnTo>
                <a:cubicBezTo>
                  <a:pt x="0" y="45532"/>
                  <a:pt x="45532" y="0"/>
                  <a:pt x="101616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1677829" y="27686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/>
        </p:nvSpPr>
        <p:spPr>
          <a:xfrm>
            <a:off x="757555" y="2527300"/>
            <a:ext cx="2567305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2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ICMP协议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12750" y="3319780"/>
            <a:ext cx="3479800" cy="1837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作为IP的伴随协议，用于传递网络控制信息和检测网络连通性。</a:t>
            </a:r>
            <a:endParaRPr lang="en-US" sz="2400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8" name="Shape 5"/>
          <p:cNvSpPr/>
          <p:nvPr>
            <p:custDataLst>
              <p:tags r:id="rId2"/>
            </p:custDataLst>
          </p:nvPr>
        </p:nvSpPr>
        <p:spPr>
          <a:xfrm>
            <a:off x="4359275" y="1672590"/>
            <a:ext cx="7581900" cy="1257935"/>
          </a:xfrm>
          <a:custGeom>
            <a:avLst/>
            <a:gdLst/>
            <a:ahLst/>
            <a:cxnLst/>
            <a:rect l="l" t="t" r="r" b="b"/>
            <a:pathLst>
              <a:path w="7581900" h="914400">
                <a:moveTo>
                  <a:pt x="101599" y="0"/>
                </a:moveTo>
                <a:lnTo>
                  <a:pt x="7480301" y="0"/>
                </a:lnTo>
                <a:cubicBezTo>
                  <a:pt x="7536413" y="0"/>
                  <a:pt x="7581900" y="45487"/>
                  <a:pt x="7581900" y="101599"/>
                </a:cubicBezTo>
                <a:lnTo>
                  <a:pt x="7581900" y="812801"/>
                </a:lnTo>
                <a:cubicBezTo>
                  <a:pt x="7581900" y="868913"/>
                  <a:pt x="7536413" y="914400"/>
                  <a:pt x="7480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9" name="Shape 6"/>
          <p:cNvSpPr/>
          <p:nvPr>
            <p:custDataLst>
              <p:tags r:id="rId3"/>
            </p:custDataLst>
          </p:nvPr>
        </p:nvSpPr>
        <p:spPr>
          <a:xfrm>
            <a:off x="4578191" y="24536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5324475" y="1784350"/>
            <a:ext cx="5513070" cy="552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Ping (Echo Request/Reply)</a:t>
            </a:r>
            <a:endParaRPr lang="en-US" sz="2400" dirty="0"/>
          </a:p>
        </p:txBody>
      </p:sp>
      <p:sp>
        <p:nvSpPr>
          <p:cNvPr id="11" name="Text 8"/>
          <p:cNvSpPr/>
          <p:nvPr>
            <p:custDataLst>
              <p:tags r:id="rId5"/>
            </p:custDataLst>
          </p:nvPr>
        </p:nvSpPr>
        <p:spPr>
          <a:xfrm>
            <a:off x="5324475" y="2390140"/>
            <a:ext cx="5289550" cy="556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测试网络连通性和主机可达性。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6"/>
            </p:custDataLst>
          </p:nvPr>
        </p:nvSpPr>
        <p:spPr>
          <a:xfrm>
            <a:off x="4359275" y="3152775"/>
            <a:ext cx="7581900" cy="1241425"/>
          </a:xfrm>
          <a:custGeom>
            <a:avLst/>
            <a:gdLst/>
            <a:ahLst/>
            <a:cxnLst/>
            <a:rect l="l" t="t" r="r" b="b"/>
            <a:pathLst>
              <a:path w="7581900" h="914400">
                <a:moveTo>
                  <a:pt x="101599" y="0"/>
                </a:moveTo>
                <a:lnTo>
                  <a:pt x="7480301" y="0"/>
                </a:lnTo>
                <a:cubicBezTo>
                  <a:pt x="7536413" y="0"/>
                  <a:pt x="7581900" y="45487"/>
                  <a:pt x="7581900" y="101599"/>
                </a:cubicBezTo>
                <a:lnTo>
                  <a:pt x="7581900" y="812801"/>
                </a:lnTo>
                <a:cubicBezTo>
                  <a:pt x="7581900" y="868913"/>
                  <a:pt x="7536413" y="914400"/>
                  <a:pt x="7480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13" name="Shape 10"/>
          <p:cNvSpPr/>
          <p:nvPr>
            <p:custDataLst>
              <p:tags r:id="rId7"/>
            </p:custDataLst>
          </p:nvPr>
        </p:nvSpPr>
        <p:spPr>
          <a:xfrm>
            <a:off x="4578191" y="35712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4" name="Text 11"/>
          <p:cNvSpPr/>
          <p:nvPr>
            <p:custDataLst>
              <p:tags r:id="rId8"/>
            </p:custDataLst>
          </p:nvPr>
        </p:nvSpPr>
        <p:spPr>
          <a:xfrm>
            <a:off x="5324475" y="3277870"/>
            <a:ext cx="6079490" cy="532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Traceroute (TTL Expired)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9"/>
            </p:custDataLst>
          </p:nvPr>
        </p:nvSpPr>
        <p:spPr>
          <a:xfrm>
            <a:off x="5324475" y="3818890"/>
            <a:ext cx="4739640" cy="513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利用TTL超时报告，追踪数据包路径。</a:t>
            </a:r>
            <a:endParaRPr lang="en-US" dirty="0"/>
          </a:p>
        </p:txBody>
      </p:sp>
      <p:sp>
        <p:nvSpPr>
          <p:cNvPr id="16" name="Shape 13"/>
          <p:cNvSpPr/>
          <p:nvPr>
            <p:custDataLst>
              <p:tags r:id="rId10"/>
            </p:custDataLst>
          </p:nvPr>
        </p:nvSpPr>
        <p:spPr>
          <a:xfrm>
            <a:off x="4359275" y="4592955"/>
            <a:ext cx="7581900" cy="1200785"/>
          </a:xfrm>
          <a:custGeom>
            <a:avLst/>
            <a:gdLst/>
            <a:ahLst/>
            <a:cxnLst/>
            <a:rect l="l" t="t" r="r" b="b"/>
            <a:pathLst>
              <a:path w="7581900" h="914400">
                <a:moveTo>
                  <a:pt x="101599" y="0"/>
                </a:moveTo>
                <a:lnTo>
                  <a:pt x="7480301" y="0"/>
                </a:lnTo>
                <a:cubicBezTo>
                  <a:pt x="7536413" y="0"/>
                  <a:pt x="7581900" y="45487"/>
                  <a:pt x="7581900" y="101599"/>
                </a:cubicBezTo>
                <a:lnTo>
                  <a:pt x="7581900" y="812801"/>
                </a:lnTo>
                <a:cubicBezTo>
                  <a:pt x="7581900" y="868913"/>
                  <a:pt x="7536413" y="914400"/>
                  <a:pt x="7480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</p:spPr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>
            <a:off x="4578191" y="4688840"/>
            <a:ext cx="482600" cy="381000"/>
          </a:xfrm>
          <a:custGeom>
            <a:avLst/>
            <a:gdLst/>
            <a:ahLst/>
            <a:cxnLst/>
            <a:rect l="l" t="t" r="r" b="b"/>
            <a:pathLst>
              <a:path w="482600" h="381000"/>
            </a:pathLst>
          </a:custGeom>
          <a:solidFill>
            <a:srgbClr val="7484DF"/>
          </a:solidFill>
        </p:spPr>
      </p:sp>
      <p:sp>
        <p:nvSpPr>
          <p:cNvPr id="18" name="Text 15"/>
          <p:cNvSpPr/>
          <p:nvPr>
            <p:custDataLst>
              <p:tags r:id="rId12"/>
            </p:custDataLst>
          </p:nvPr>
        </p:nvSpPr>
        <p:spPr>
          <a:xfrm>
            <a:off x="5324475" y="4616450"/>
            <a:ext cx="5051425" cy="612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Error Reporting (Type 3)</a:t>
            </a:r>
            <a:endParaRPr lang="en-US" sz="2400" dirty="0"/>
          </a:p>
        </p:txBody>
      </p:sp>
      <p:sp>
        <p:nvSpPr>
          <p:cNvPr id="19" name="Text 16"/>
          <p:cNvSpPr/>
          <p:nvPr>
            <p:custDataLst>
              <p:tags r:id="rId13"/>
            </p:custDataLst>
          </p:nvPr>
        </p:nvSpPr>
        <p:spPr>
          <a:xfrm>
            <a:off x="5324475" y="5182235"/>
            <a:ext cx="5871210" cy="575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报告目标不可达、网络/主机不可达等错误。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10" grpId="0"/>
      <p:bldP spid="10" grpId="1"/>
      <p:bldP spid="11" grpId="0"/>
      <p:bldP spid="11" grpId="1"/>
      <p:bldP spid="14" grpId="0"/>
      <p:bldP spid="14" grpId="1"/>
      <p:bldP spid="15" grpId="0"/>
      <p:bldP spid="15" grpId="1"/>
      <p:bldP spid="18" grpId="0"/>
      <p:bldP spid="18" grpId="1"/>
      <p:bldP spid="19" grpId="0"/>
      <p:bldP spid="1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路由协议分层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541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RIP：距离向量的邻里 gossip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74460" y="1061085"/>
            <a:ext cx="5565140" cy="2113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RIP是一种基于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距离向量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算法的内部网关协议，通过周期性（30秒）与邻居路由器交换整张路由表来学习网络拓扑。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263640" y="34188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6" name="Text 3"/>
          <p:cNvSpPr/>
          <p:nvPr/>
        </p:nvSpPr>
        <p:spPr>
          <a:xfrm>
            <a:off x="6539865" y="3177540"/>
            <a:ext cx="5485765" cy="7086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度量: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以跳数（Hop Count）为唯一度量，最大有效跳数为15，16跳表示不可达。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289675" y="40792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/>
        </p:nvSpPr>
        <p:spPr>
          <a:xfrm>
            <a:off x="6539865" y="4257040"/>
            <a:ext cx="532701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更新: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定期广播完整路由表，收敛速度较慢。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81103" y="44856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/>
        </p:nvSpPr>
        <p:spPr>
          <a:xfrm>
            <a:off x="6518275" y="5003800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缺陷: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存在“计数到无穷”问题，可能导致慢收敛和不正确的路由信息。</a:t>
            </a:r>
            <a:endParaRPr lang="en-US" dirty="0"/>
          </a:p>
        </p:txBody>
      </p:sp>
      <p:pic>
        <p:nvPicPr>
          <p:cNvPr id="11" name="图片 10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" y="1409700"/>
            <a:ext cx="5973445" cy="4478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OSPF：链路状态的地图同步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912495"/>
            <a:ext cx="5519420" cy="2414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OSPF是一种基于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链路状态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算法的内部网关协议。每个路由器泛洪自己的链路状态信息，构建一张全网统一的拓扑数据库（地图）。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69240" y="35712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6" name="Text 3"/>
          <p:cNvSpPr/>
          <p:nvPr/>
        </p:nvSpPr>
        <p:spPr>
          <a:xfrm>
            <a:off x="158750" y="3429000"/>
            <a:ext cx="542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全局视图: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每个路由器都拥有完整的网络拓扑图，使用Dijkstra算法计算最短路径。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95275" y="42316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/>
        </p:nvSpPr>
        <p:spPr>
          <a:xfrm>
            <a:off x="158750" y="4363720"/>
            <a:ext cx="4635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快速收敛: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链路状态变化时，立即发送更新，收敛速度快。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267970" y="46380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/>
        </p:nvSpPr>
        <p:spPr>
          <a:xfrm>
            <a:off x="158750" y="5044440"/>
            <a:ext cx="54229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区域分层: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支持将网络划分为不同区域，减少路由信息的传播范围，适合大型网络。</a:t>
            </a:r>
            <a:endParaRPr lang="en-US" dirty="0"/>
          </a:p>
        </p:txBody>
      </p:sp>
      <p:pic>
        <p:nvPicPr>
          <p:cNvPr id="11" name="图片 10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595" y="1154430"/>
            <a:ext cx="5949315" cy="4622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BGP：自治系统间的商路外交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52870" y="1089660"/>
            <a:ext cx="5586730" cy="1958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BGP（边界网关协议）是一种用于在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不同自治系统(AS)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之间交换路由信息的外部网关协议，其本质是策略驱动的路径向量协议。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248876" y="32918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6" name="Text 3"/>
          <p:cNvSpPr/>
          <p:nvPr/>
        </p:nvSpPr>
        <p:spPr>
          <a:xfrm>
            <a:off x="6482080" y="3051175"/>
            <a:ext cx="5448300" cy="844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策略优先: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路由选择基于策略属性（Local-Pref, MED），而非单纯路径长短，体现商业意图。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282531" y="39522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/>
        </p:nvSpPr>
        <p:spPr>
          <a:xfrm>
            <a:off x="6452870" y="3898900"/>
            <a:ext cx="5384800" cy="859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路径向量: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携带完整的AS路径信息（AS_PATH），有效防止路由环路。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53163" y="4612640"/>
            <a:ext cx="228600" cy="177800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/>
        </p:nvSpPr>
        <p:spPr>
          <a:xfrm>
            <a:off x="6452235" y="4572000"/>
            <a:ext cx="5473700" cy="1217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互联网基石: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是构成全球互联网路由系统的核心协议，确保不同运营商网络能够互联互通。</a:t>
            </a:r>
            <a:endParaRPr lang="en-US" dirty="0"/>
          </a:p>
        </p:txBody>
      </p:sp>
      <p:pic>
        <p:nvPicPr>
          <p:cNvPr id="11" name="图片 10" descr="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1099185"/>
            <a:ext cx="5944870" cy="46951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多播与地址转换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217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多播：一对多的高效投递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264160" y="1981200"/>
            <a:ext cx="5621020" cy="3110865"/>
          </a:xfrm>
          <a:custGeom>
            <a:avLst/>
            <a:gdLst/>
            <a:ahLst/>
            <a:cxnLst/>
            <a:rect l="l" t="t" r="r" b="b"/>
            <a:pathLst>
              <a:path w="5621020" h="2865120">
                <a:moveTo>
                  <a:pt x="101597" y="0"/>
                </a:moveTo>
                <a:lnTo>
                  <a:pt x="5519423" y="0"/>
                </a:lnTo>
                <a:cubicBezTo>
                  <a:pt x="5575533" y="0"/>
                  <a:pt x="5621020" y="45487"/>
                  <a:pt x="5621020" y="101597"/>
                </a:cubicBezTo>
                <a:lnTo>
                  <a:pt x="5621020" y="2763523"/>
                </a:lnTo>
                <a:cubicBezTo>
                  <a:pt x="5621020" y="2819633"/>
                  <a:pt x="5575533" y="2865120"/>
                  <a:pt x="5519423" y="2865120"/>
                </a:cubicBezTo>
                <a:lnTo>
                  <a:pt x="101597" y="2865120"/>
                </a:lnTo>
                <a:cubicBezTo>
                  <a:pt x="45487" y="2865120"/>
                  <a:pt x="0" y="2819633"/>
                  <a:pt x="0" y="2763523"/>
                </a:cubicBezTo>
                <a:lnTo>
                  <a:pt x="0" y="101597"/>
                </a:lnTo>
                <a:cubicBezTo>
                  <a:pt x="0" y="45524"/>
                  <a:pt x="45524" y="0"/>
                  <a:pt x="10159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4A90E2"/>
            </a:solidFill>
            <a:prstDash val="dash"/>
          </a:ln>
        </p:spPr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640715" y="2202815"/>
            <a:ext cx="4817745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传统单播 (Unicast)</a:t>
            </a:r>
            <a:endParaRPr lang="en-US" sz="2400" b="1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327660" y="4495800"/>
            <a:ext cx="5592445" cy="386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源服务器为每个接收者发送一份独立的数据拷贝，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浪费带宽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6299835" y="1980565"/>
            <a:ext cx="5638800" cy="3099435"/>
          </a:xfrm>
          <a:custGeom>
            <a:avLst/>
            <a:gdLst/>
            <a:ahLst/>
            <a:cxnLst/>
            <a:rect l="l" t="t" r="r" b="b"/>
            <a:pathLst>
              <a:path w="5638800" h="3098800">
                <a:moveTo>
                  <a:pt x="101610" y="0"/>
                </a:moveTo>
                <a:lnTo>
                  <a:pt x="5537190" y="0"/>
                </a:lnTo>
                <a:cubicBezTo>
                  <a:pt x="5593308" y="0"/>
                  <a:pt x="5638800" y="45492"/>
                  <a:pt x="5638800" y="101610"/>
                </a:cubicBezTo>
                <a:lnTo>
                  <a:pt x="5638800" y="2997190"/>
                </a:lnTo>
                <a:cubicBezTo>
                  <a:pt x="5638800" y="3053308"/>
                  <a:pt x="5593308" y="3098800"/>
                  <a:pt x="55371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190500" dist="127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6325870" y="2002790"/>
            <a:ext cx="5554980" cy="537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高效多播 (Multicast)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6293485" y="4368800"/>
            <a:ext cx="5620385" cy="709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源服务器只发送一份数据，由网络设备复制并转发给组内所有成员，</a:t>
            </a:r>
            <a:r>
              <a:rPr lang="en-US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节省带宽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09550" y="5877560"/>
            <a:ext cx="11772900" cy="726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多播使用D类地址 (224.0.0.0/4)，通过IGMP和PIM等协议管理组成员关系和路由转发，广泛应用于</a:t>
            </a: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视频会议、在线直播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等场景。</a:t>
            </a:r>
            <a:endParaRPr lang="en-US" sz="2400" dirty="0"/>
          </a:p>
        </p:txBody>
      </p:sp>
      <p:pic>
        <p:nvPicPr>
          <p:cNvPr id="11" name="图片 10" descr="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875155" y="2746375"/>
            <a:ext cx="2186940" cy="1560830"/>
          </a:xfrm>
          <a:prstGeom prst="rect">
            <a:avLst/>
          </a:prstGeom>
        </p:spPr>
      </p:pic>
      <p:pic>
        <p:nvPicPr>
          <p:cNvPr id="12" name="图片 11" descr="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760970" y="2616200"/>
            <a:ext cx="2482215" cy="167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8" grpId="0"/>
      <p:bldP spid="8" grpId="1"/>
      <p:bldP spid="9" grpId="0"/>
      <p:bldP spid="9" grpId="1"/>
      <p:bldP spid="6" grpId="0"/>
      <p:bldP spid="6" grpId="1"/>
      <p:bldP spid="10" grpId="0"/>
      <p:bldP spid="1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1001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NAT：私有地址的出境护照</a:t>
            </a:r>
            <a:endParaRPr lang="en-US" sz="4800" dirty="0"/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254000" y="2514600"/>
            <a:ext cx="302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内部主机</a:t>
            </a:r>
            <a:endParaRPr lang="en-US" sz="2400" dirty="0"/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412750" y="3225800"/>
            <a:ext cx="3009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(私有IP: 192.168.1.10)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3824764" y="27228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7" name="Shape 4"/>
          <p:cNvSpPr/>
          <p:nvPr>
            <p:custDataLst>
              <p:tags r:id="rId5"/>
            </p:custDataLst>
          </p:nvPr>
        </p:nvSpPr>
        <p:spPr>
          <a:xfrm>
            <a:off x="4699635" y="1905000"/>
            <a:ext cx="2868295" cy="2082800"/>
          </a:xfrm>
          <a:custGeom>
            <a:avLst/>
            <a:gdLst/>
            <a:ahLst/>
            <a:cxnLst/>
            <a:rect l="l" t="t" r="r" b="b"/>
            <a:pathLst>
              <a:path w="2095500" h="2082800">
                <a:moveTo>
                  <a:pt x="101599" y="0"/>
                </a:moveTo>
                <a:lnTo>
                  <a:pt x="1993901" y="0"/>
                </a:lnTo>
                <a:cubicBezTo>
                  <a:pt x="2050013" y="0"/>
                  <a:pt x="2095500" y="45487"/>
                  <a:pt x="2095500" y="101599"/>
                </a:cubicBezTo>
                <a:lnTo>
                  <a:pt x="2095500" y="1981201"/>
                </a:lnTo>
                <a:cubicBezTo>
                  <a:pt x="2095500" y="2037313"/>
                  <a:pt x="2050013" y="2082800"/>
                  <a:pt x="19939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ADD8E6">
              <a:alpha val="40000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5200333" y="2451100"/>
            <a:ext cx="179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NAT路由器</a:t>
            </a:r>
            <a:endParaRPr lang="en-US" sz="2400" dirty="0"/>
          </a:p>
        </p:txBody>
      </p:sp>
      <p:sp>
        <p:nvSpPr>
          <p:cNvPr id="9" name="Text 6"/>
          <p:cNvSpPr/>
          <p:nvPr>
            <p:custDataLst>
              <p:tags r:id="rId7"/>
            </p:custDataLst>
          </p:nvPr>
        </p:nvSpPr>
        <p:spPr>
          <a:xfrm>
            <a:off x="4686935" y="3180715"/>
            <a:ext cx="2855595" cy="4768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公有IP: 203.0.113.5)</a:t>
            </a:r>
            <a:endParaRPr lang="en-US" dirty="0"/>
          </a:p>
        </p:txBody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7795578" y="27228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4A90E2"/>
          </a:solidFill>
        </p:spPr>
      </p:sp>
      <p:sp>
        <p:nvSpPr>
          <p:cNvPr id="11" name="Text 8"/>
          <p:cNvSpPr/>
          <p:nvPr/>
        </p:nvSpPr>
        <p:spPr>
          <a:xfrm>
            <a:off x="8756491" y="2722880"/>
            <a:ext cx="3022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外部服务器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54000" y="4292600"/>
            <a:ext cx="11684000" cy="1320800"/>
          </a:xfrm>
          <a:custGeom>
            <a:avLst/>
            <a:gdLst/>
            <a:ahLst/>
            <a:cxnLst/>
            <a:rect l="l" t="t" r="r" b="b"/>
            <a:pathLst>
              <a:path w="11684000" h="1320800">
                <a:moveTo>
                  <a:pt x="101596" y="0"/>
                </a:moveTo>
                <a:lnTo>
                  <a:pt x="11582404" y="0"/>
                </a:lnTo>
                <a:cubicBezTo>
                  <a:pt x="11638514" y="0"/>
                  <a:pt x="11684000" y="45486"/>
                  <a:pt x="11684000" y="101596"/>
                </a:cubicBezTo>
                <a:lnTo>
                  <a:pt x="11684000" y="1219204"/>
                </a:lnTo>
                <a:cubicBezTo>
                  <a:pt x="11684000" y="1275314"/>
                  <a:pt x="11638514" y="1320800"/>
                  <a:pt x="115824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7484DF">
              <a:alpha val="20000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406400" y="4495800"/>
            <a:ext cx="11379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核心功能：多对一地址复用 (PAT)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12750" y="4902200"/>
            <a:ext cx="113665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NAT路由器通过维护一个</a:t>
            </a: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转换表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，将多个内部私有IP地址和端口号，映射为一个外部公有IP地址和不同的端口号，从而实现多主机共享一个公网IP访问互联网，有效缓解了IPv4地址短缺问题。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4" grpId="0"/>
      <p:bldP spid="14" grpId="1"/>
      <p:bldP spid="13" grpId="0"/>
      <p:bldP spid="1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077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IPv6与MPLS前沿</a:t>
            </a:r>
            <a:endParaRPr lang="en-US" sz="44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IPv6：128位地址的星辰大海</a:t>
            </a:r>
            <a:endParaRPr lang="en-US" sz="4800" dirty="0"/>
          </a:p>
        </p:txBody>
      </p:sp>
      <p:sp>
        <p:nvSpPr>
          <p:cNvPr id="4" name="Shape 1"/>
          <p:cNvSpPr/>
          <p:nvPr>
            <p:custDataLst>
              <p:tags r:id="rId2"/>
            </p:custDataLst>
          </p:nvPr>
        </p:nvSpPr>
        <p:spPr>
          <a:xfrm>
            <a:off x="6248400" y="1619250"/>
            <a:ext cx="5689600" cy="97917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>
            <a:off x="6464300" y="2082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7061200" y="1668145"/>
            <a:ext cx="3086100" cy="459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巨大地址空间</a:t>
            </a:r>
            <a:endParaRPr lang="en-US" sz="24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7061200" y="2260600"/>
            <a:ext cx="400812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128位地址，彻底解决地址耗尽问题。</a:t>
            </a:r>
            <a:endParaRPr lang="en-US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6248400" y="2749550"/>
            <a:ext cx="5689600" cy="106299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6464300" y="3098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0" name="Text 7"/>
          <p:cNvSpPr/>
          <p:nvPr>
            <p:custDataLst>
              <p:tags r:id="rId8"/>
            </p:custDataLst>
          </p:nvPr>
        </p:nvSpPr>
        <p:spPr>
          <a:xfrm>
            <a:off x="7061200" y="2800350"/>
            <a:ext cx="4394200" cy="361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简化首部</a:t>
            </a:r>
            <a:endParaRPr lang="en-US" sz="2400" dirty="0"/>
          </a:p>
        </p:txBody>
      </p:sp>
      <p:sp>
        <p:nvSpPr>
          <p:cNvPr id="11" name="Text 8"/>
          <p:cNvSpPr/>
          <p:nvPr>
            <p:custDataLst>
              <p:tags r:id="rId9"/>
            </p:custDataLst>
          </p:nvPr>
        </p:nvSpPr>
        <p:spPr>
          <a:xfrm>
            <a:off x="7061200" y="3276600"/>
            <a:ext cx="4845685" cy="3536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固定40字节，取消校验和与中间分片，提升转发效率。</a:t>
            </a:r>
            <a:endParaRPr lang="en-US" dirty="0"/>
          </a:p>
        </p:txBody>
      </p:sp>
      <p:sp>
        <p:nvSpPr>
          <p:cNvPr id="12" name="Shape 9"/>
          <p:cNvSpPr/>
          <p:nvPr>
            <p:custDataLst>
              <p:tags r:id="rId10"/>
            </p:custDataLst>
          </p:nvPr>
        </p:nvSpPr>
        <p:spPr>
          <a:xfrm>
            <a:off x="6217285" y="3976370"/>
            <a:ext cx="5689600" cy="990600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13" name="Shape 10"/>
          <p:cNvSpPr/>
          <p:nvPr>
            <p:custDataLst>
              <p:tags r:id="rId11"/>
            </p:custDataLst>
          </p:nvPr>
        </p:nvSpPr>
        <p:spPr>
          <a:xfrm>
            <a:off x="6464300" y="4114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4" name="Text 11"/>
          <p:cNvSpPr/>
          <p:nvPr>
            <p:custDataLst>
              <p:tags r:id="rId12"/>
            </p:custDataLst>
          </p:nvPr>
        </p:nvSpPr>
        <p:spPr>
          <a:xfrm>
            <a:off x="7061200" y="3987800"/>
            <a:ext cx="379730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即插即用</a:t>
            </a:r>
            <a:endParaRPr lang="en-US" sz="2400" dirty="0"/>
          </a:p>
        </p:txBody>
      </p:sp>
      <p:sp>
        <p:nvSpPr>
          <p:cNvPr id="15" name="Text 12"/>
          <p:cNvSpPr/>
          <p:nvPr>
            <p:custDataLst>
              <p:tags r:id="rId13"/>
            </p:custDataLst>
          </p:nvPr>
        </p:nvSpPr>
        <p:spPr>
          <a:xfrm>
            <a:off x="7061200" y="4434205"/>
            <a:ext cx="4852670" cy="497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支持地址自动配置，无需DHCP也可获取地址。</a:t>
            </a:r>
            <a:endParaRPr lang="en-US" dirty="0"/>
          </a:p>
        </p:txBody>
      </p:sp>
      <p:sp>
        <p:nvSpPr>
          <p:cNvPr id="16" name="Shape 13"/>
          <p:cNvSpPr/>
          <p:nvPr>
            <p:custDataLst>
              <p:tags r:id="rId14"/>
            </p:custDataLst>
          </p:nvPr>
        </p:nvSpPr>
        <p:spPr>
          <a:xfrm>
            <a:off x="6217285" y="5130800"/>
            <a:ext cx="5689600" cy="967105"/>
          </a:xfrm>
          <a:custGeom>
            <a:avLst/>
            <a:gdLst/>
            <a:ahLst/>
            <a:cxnLst/>
            <a:rect l="l" t="t" r="r" b="b"/>
            <a:pathLst>
              <a:path w="5689600" h="863600">
                <a:moveTo>
                  <a:pt x="101603" y="0"/>
                </a:moveTo>
                <a:lnTo>
                  <a:pt x="5587997" y="0"/>
                </a:lnTo>
                <a:cubicBezTo>
                  <a:pt x="5644111" y="0"/>
                  <a:pt x="5689600" y="45489"/>
                  <a:pt x="5689600" y="101603"/>
                </a:cubicBezTo>
                <a:lnTo>
                  <a:pt x="5689600" y="761997"/>
                </a:lnTo>
                <a:cubicBezTo>
                  <a:pt x="5689600" y="818111"/>
                  <a:pt x="5644111" y="863600"/>
                  <a:pt x="55879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</p:spPr>
      </p:sp>
      <p:sp>
        <p:nvSpPr>
          <p:cNvPr id="17" name="Shape 14"/>
          <p:cNvSpPr/>
          <p:nvPr>
            <p:custDataLst>
              <p:tags r:id="rId15"/>
            </p:custDataLst>
          </p:nvPr>
        </p:nvSpPr>
        <p:spPr>
          <a:xfrm>
            <a:off x="6464300" y="5130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/>
            </a:pathLst>
          </a:custGeom>
          <a:solidFill>
            <a:srgbClr val="4A90E2"/>
          </a:solidFill>
        </p:spPr>
      </p:sp>
      <p:sp>
        <p:nvSpPr>
          <p:cNvPr id="18" name="Text 15"/>
          <p:cNvSpPr/>
          <p:nvPr>
            <p:custDataLst>
              <p:tags r:id="rId16"/>
            </p:custDataLst>
          </p:nvPr>
        </p:nvSpPr>
        <p:spPr>
          <a:xfrm>
            <a:off x="7061200" y="5130800"/>
            <a:ext cx="337820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内置安全</a:t>
            </a:r>
            <a:endParaRPr lang="en-US" sz="2400" dirty="0"/>
          </a:p>
        </p:txBody>
      </p:sp>
      <p:sp>
        <p:nvSpPr>
          <p:cNvPr id="19" name="Text 16"/>
          <p:cNvSpPr/>
          <p:nvPr>
            <p:custDataLst>
              <p:tags r:id="rId17"/>
            </p:custDataLst>
          </p:nvPr>
        </p:nvSpPr>
        <p:spPr>
          <a:xfrm>
            <a:off x="7061200" y="5554345"/>
            <a:ext cx="4849495" cy="497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IPsec为端到端加密和认证提供原生支持。</a:t>
            </a:r>
            <a:endParaRPr lang="en-US" dirty="0"/>
          </a:p>
        </p:txBody>
      </p:sp>
      <p:pic>
        <p:nvPicPr>
          <p:cNvPr id="20" name="图片 19" descr="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205" y="1416685"/>
            <a:ext cx="5737860" cy="46139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7" grpId="0"/>
      <p:bldP spid="7" grpId="1"/>
      <p:bldP spid="11" grpId="0"/>
      <p:bldP spid="11" grpId="1"/>
      <p:bldP spid="10" grpId="0"/>
      <p:bldP spid="10" grpId="1"/>
      <p:bldP spid="14" grpId="0"/>
      <p:bldP spid="14" grpId="1"/>
      <p:bldP spid="15" grpId="0"/>
      <p:bldP spid="15" grpId="1"/>
      <p:bldP spid="18" grpId="0"/>
      <p:bldP spid="18" grpId="1"/>
      <p:bldP spid="19" grpId="0"/>
      <p:bldP spid="19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884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双栈与隧道：IPv4海洋中的IPv6航船</a:t>
            </a:r>
            <a:endParaRPr lang="en-US" sz="4800" dirty="0"/>
          </a:p>
        </p:txBody>
      </p:sp>
      <p:sp>
        <p:nvSpPr>
          <p:cNvPr id="4" name="Text 1"/>
          <p:cNvSpPr/>
          <p:nvPr>
            <p:custDataLst>
              <p:tags r:id="rId2"/>
            </p:custDataLst>
          </p:nvPr>
        </p:nvSpPr>
        <p:spPr>
          <a:xfrm>
            <a:off x="422275" y="4834255"/>
            <a:ext cx="538543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双协议栈</a:t>
            </a:r>
            <a:endParaRPr lang="en-US" sz="2400" b="1" dirty="0">
              <a:solidFill>
                <a:srgbClr val="4A90E2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5" name="Text 2"/>
          <p:cNvSpPr/>
          <p:nvPr>
            <p:custDataLst>
              <p:tags r:id="rId3"/>
            </p:custDataLst>
          </p:nvPr>
        </p:nvSpPr>
        <p:spPr>
          <a:xfrm>
            <a:off x="429260" y="5565775"/>
            <a:ext cx="5377815" cy="774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主机同时具备IPv4和IPv6协议栈，根据目的地址选择通信协议。</a:t>
            </a:r>
            <a:endParaRPr lang="en-US" dirty="0"/>
          </a:p>
        </p:txBody>
      </p:sp>
      <p:sp>
        <p:nvSpPr>
          <p:cNvPr id="6" name="Shape 3"/>
          <p:cNvSpPr/>
          <p:nvPr>
            <p:custDataLst>
              <p:tags r:id="rId4"/>
            </p:custDataLst>
          </p:nvPr>
        </p:nvSpPr>
        <p:spPr>
          <a:xfrm>
            <a:off x="5810250" y="27736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/>
            </a:pathLst>
          </a:custGeom>
          <a:solidFill>
            <a:srgbClr val="7484DF"/>
          </a:solidFill>
        </p:spPr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6421120" y="4878070"/>
            <a:ext cx="5248275" cy="6870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隧道技术</a:t>
            </a:r>
            <a:endParaRPr lang="en-US" sz="24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6421120" y="5565775"/>
            <a:ext cx="5241290" cy="774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将IPv6数据包封装在IPv4数据包中，通过IPv4网络进行传输。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pic>
        <p:nvPicPr>
          <p:cNvPr id="9" name="图片 8" descr="屏幕截图 2025-12-26 17425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07365" y="1444625"/>
            <a:ext cx="5345430" cy="3115310"/>
          </a:xfrm>
          <a:prstGeom prst="rect">
            <a:avLst/>
          </a:prstGeom>
        </p:spPr>
      </p:pic>
      <p:pic>
        <p:nvPicPr>
          <p:cNvPr id="10" name="图片 9" descr="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84925" y="1444625"/>
            <a:ext cx="5478780" cy="3128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7" grpId="0"/>
      <p:bldP spid="7" grpId="1"/>
      <p:bldP spid="5" grpId="0"/>
      <p:bldP spid="5" grpId="1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MPLS：标签交换的流量高铁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254000" y="958215"/>
            <a:ext cx="5406390" cy="2470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MPLS (多协议标签交换) 的核心思想是在IP包头前增加一个</a:t>
            </a:r>
            <a:r>
              <a:rPr lang="en-US" sz="2400" dirty="0">
                <a:solidFill>
                  <a:srgbClr val="333333"/>
                </a:solidFill>
                <a:highlight>
                  <a:srgbClr val="ADD8E6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定长标签 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，让核心路由器只需查表交换标签，实现硬件级高速转发。</a:t>
            </a:r>
            <a:endParaRPr lang="en-US" sz="24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271780" y="3697092"/>
            <a:ext cx="219864" cy="171006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6" name="Text 3"/>
          <p:cNvSpPr/>
          <p:nvPr>
            <p:custDataLst>
              <p:tags r:id="rId3"/>
            </p:custDataLst>
          </p:nvPr>
        </p:nvSpPr>
        <p:spPr>
          <a:xfrm>
            <a:off x="309522" y="3429635"/>
            <a:ext cx="4904559" cy="84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提高转发速度: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基于标签的精确匹配比IP最长前缀匹配快得多。</a:t>
            </a:r>
            <a:endParaRPr lang="en-US" dirty="0"/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271780" y="4087961"/>
            <a:ext cx="219864" cy="171006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319405" y="4271010"/>
            <a:ext cx="5054600" cy="831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支持流量工程: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可灵活控制数据流路径，优化网络资源利用。</a:t>
            </a:r>
            <a:endParaRPr lang="en-US" dirty="0"/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>
            <a:off x="271780" y="4478831"/>
            <a:ext cx="219864" cy="171006"/>
          </a:xfrm>
          <a:custGeom>
            <a:avLst/>
            <a:gdLst/>
            <a:ahLst/>
            <a:cxnLst/>
            <a:rect l="l" t="t" r="r" b="b"/>
            <a:pathLst>
              <a:path w="228600" h="177800"/>
            </a:pathLst>
          </a:custGeom>
          <a:solidFill>
            <a:srgbClr val="7484DF"/>
          </a:solidFill>
        </p:spPr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308610" y="5090795"/>
            <a:ext cx="4912360" cy="906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保证服务质量: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可为不同业务建立不同的LSP，提供QoS保障。</a:t>
            </a:r>
            <a:endParaRPr lang="en-US" dirty="0"/>
          </a:p>
        </p:txBody>
      </p:sp>
      <p:pic>
        <p:nvPicPr>
          <p:cNvPr id="11" name="图片 10" descr="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0390" y="1245235"/>
            <a:ext cx="6175375" cy="4899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8" grpId="0"/>
      <p:bldP spid="8" grpId="1"/>
      <p:bldP spid="10" grpId="0"/>
      <p:bldP spid="1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7:31:00-d2tarl5nfo2stf9djj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7:31:00-d2tarl5nfo2stf9djj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7:31:00-d2tarl5nfo2stf9djj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660717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回顾与展望</a:t>
            </a:r>
            <a:endParaRPr lang="en-US" sz="44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0390" y="914400"/>
            <a:ext cx="1064641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关键概念串联：从地址到路径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1250950" y="295148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168414"/>
                </a:moveTo>
                <a:cubicBezTo>
                  <a:pt x="0" y="75367"/>
                  <a:pt x="76795" y="0"/>
                  <a:pt x="171450" y="0"/>
                </a:cubicBezTo>
                <a:cubicBezTo>
                  <a:pt x="266105" y="0"/>
                  <a:pt x="342900" y="75367"/>
                  <a:pt x="342900" y="168414"/>
                </a:cubicBezTo>
                <a:cubicBezTo>
                  <a:pt x="342900" y="274945"/>
                  <a:pt x="235565" y="402640"/>
                  <a:pt x="190738" y="451306"/>
                </a:cubicBezTo>
                <a:cubicBezTo>
                  <a:pt x="180201" y="462736"/>
                  <a:pt x="162610" y="462736"/>
                  <a:pt x="152073" y="451306"/>
                </a:cubicBezTo>
                <a:cubicBezTo>
                  <a:pt x="107246" y="402640"/>
                  <a:pt x="-89" y="274945"/>
                  <a:pt x="-89" y="168414"/>
                </a:cubicBezTo>
                <a:close/>
                <a:moveTo>
                  <a:pt x="171450" y="228600"/>
                </a:moveTo>
                <a:cubicBezTo>
                  <a:pt x="202992" y="228600"/>
                  <a:pt x="228600" y="202992"/>
                  <a:pt x="228600" y="171450"/>
                </a:cubicBezTo>
                <a:cubicBezTo>
                  <a:pt x="228600" y="139908"/>
                  <a:pt x="202992" y="114300"/>
                  <a:pt x="171450" y="114300"/>
                </a:cubicBezTo>
                <a:cubicBezTo>
                  <a:pt x="139908" y="114300"/>
                  <a:pt x="114300" y="139908"/>
                  <a:pt x="114300" y="171450"/>
                </a:cubicBezTo>
                <a:cubicBezTo>
                  <a:pt x="114300" y="202992"/>
                  <a:pt x="139908" y="228600"/>
                  <a:pt x="171450" y="228600"/>
                </a:cubicBezTo>
                <a:close/>
              </a:path>
            </a:pathLst>
          </a:custGeom>
          <a:solidFill>
            <a:srgbClr val="4A90E2"/>
          </a:solidFill>
        </p:spPr>
      </p:sp>
      <p:sp>
        <p:nvSpPr>
          <p:cNvPr id="5" name="Text 2"/>
          <p:cNvSpPr/>
          <p:nvPr/>
        </p:nvSpPr>
        <p:spPr>
          <a:xfrm>
            <a:off x="625475" y="3530600"/>
            <a:ext cx="166941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地址机制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54380" y="3835400"/>
            <a:ext cx="1284605" cy="8248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(IP地址</a:t>
            </a: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dirty="0">
              <a:solidFill>
                <a:srgbClr val="333333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2590800" y="3454241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/>
              </a:gs>
              <a:gs pos="100000">
                <a:srgbClr val="ADD8E6"/>
              </a:gs>
            </a:gsLst>
            <a:lin ang="0" scaled="1"/>
          </a:gradFill>
        </p:spPr>
      </p:sp>
      <p:sp>
        <p:nvSpPr>
          <p:cNvPr id="8" name="Shape 5"/>
          <p:cNvSpPr/>
          <p:nvPr/>
        </p:nvSpPr>
        <p:spPr>
          <a:xfrm>
            <a:off x="3530600" y="29514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9" name="Text 6"/>
          <p:cNvSpPr/>
          <p:nvPr>
            <p:custDataLst>
              <p:tags r:id="rId3"/>
            </p:custDataLst>
          </p:nvPr>
        </p:nvSpPr>
        <p:spPr>
          <a:xfrm>
            <a:off x="3094355" y="3530600"/>
            <a:ext cx="132334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地址映射</a:t>
            </a:r>
            <a:endParaRPr lang="en-US" sz="2400" dirty="0"/>
          </a:p>
        </p:txBody>
      </p:sp>
      <p:sp>
        <p:nvSpPr>
          <p:cNvPr id="10" name="Text 7"/>
          <p:cNvSpPr/>
          <p:nvPr>
            <p:custDataLst>
              <p:tags r:id="rId4"/>
            </p:custDataLst>
          </p:nvPr>
        </p:nvSpPr>
        <p:spPr>
          <a:xfrm>
            <a:off x="3520440" y="3957320"/>
            <a:ext cx="482600" cy="574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(ARP)</a:t>
            </a:r>
            <a:endParaRPr lang="en-US" dirty="0"/>
          </a:p>
        </p:txBody>
      </p:sp>
      <p:sp>
        <p:nvSpPr>
          <p:cNvPr id="11" name="Shape 8"/>
          <p:cNvSpPr/>
          <p:nvPr>
            <p:custDataLst>
              <p:tags r:id="rId5"/>
            </p:custDataLst>
          </p:nvPr>
        </p:nvSpPr>
        <p:spPr>
          <a:xfrm>
            <a:off x="4927600" y="3454241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DD8E6"/>
              </a:gs>
              <a:gs pos="100000">
                <a:srgbClr val="7484DF"/>
              </a:gs>
            </a:gsLst>
            <a:lin ang="0" scaled="1"/>
          </a:gradFill>
        </p:spPr>
      </p:sp>
      <p:sp>
        <p:nvSpPr>
          <p:cNvPr id="12" name="Shape 9"/>
          <p:cNvSpPr/>
          <p:nvPr/>
        </p:nvSpPr>
        <p:spPr>
          <a:xfrm>
            <a:off x="5867400" y="29514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7484DF"/>
          </a:solidFill>
        </p:spPr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5454015" y="3530600"/>
            <a:ext cx="131254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路由计算</a:t>
            </a:r>
            <a:endParaRPr lang="en-US" sz="2400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5347335" y="3936365"/>
            <a:ext cx="1548765" cy="539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(RIP/OSPF/BGP)</a:t>
            </a:r>
            <a:endParaRPr lang="en-US" dirty="0"/>
          </a:p>
        </p:txBody>
      </p:sp>
      <p:sp>
        <p:nvSpPr>
          <p:cNvPr id="15" name="Shape 12"/>
          <p:cNvSpPr/>
          <p:nvPr>
            <p:custDataLst>
              <p:tags r:id="rId8"/>
            </p:custDataLst>
          </p:nvPr>
        </p:nvSpPr>
        <p:spPr>
          <a:xfrm>
            <a:off x="7264400" y="3454241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7484DF"/>
              </a:gs>
              <a:gs pos="100000">
                <a:srgbClr val="4A90E2"/>
              </a:gs>
            </a:gsLst>
            <a:lin ang="0" scaled="1"/>
          </a:gradFill>
        </p:spPr>
      </p:sp>
      <p:sp>
        <p:nvSpPr>
          <p:cNvPr id="16" name="Shape 13"/>
          <p:cNvSpPr/>
          <p:nvPr/>
        </p:nvSpPr>
        <p:spPr>
          <a:xfrm>
            <a:off x="8175625" y="295148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478988" y="-23485"/>
                </a:moveTo>
                <a:cubicBezTo>
                  <a:pt x="487740" y="-26610"/>
                  <a:pt x="497384" y="-24378"/>
                  <a:pt x="503992" y="-17859"/>
                </a:cubicBezTo>
                <a:cubicBezTo>
                  <a:pt x="510600" y="-11341"/>
                  <a:pt x="512743" y="-1607"/>
                  <a:pt x="509617" y="7144"/>
                </a:cubicBezTo>
                <a:lnTo>
                  <a:pt x="350669" y="450860"/>
                </a:lnTo>
                <a:cubicBezTo>
                  <a:pt x="346204" y="463272"/>
                  <a:pt x="334506" y="471488"/>
                  <a:pt x="321379" y="471488"/>
                </a:cubicBezTo>
                <a:cubicBezTo>
                  <a:pt x="308699" y="471488"/>
                  <a:pt x="297269" y="463808"/>
                  <a:pt x="292537" y="452110"/>
                </a:cubicBezTo>
                <a:lnTo>
                  <a:pt x="235208" y="311021"/>
                </a:lnTo>
                <a:cubicBezTo>
                  <a:pt x="231190" y="301198"/>
                  <a:pt x="232976" y="289947"/>
                  <a:pt x="239851" y="281910"/>
                </a:cubicBezTo>
                <a:lnTo>
                  <a:pt x="324237" y="181541"/>
                </a:lnTo>
                <a:cubicBezTo>
                  <a:pt x="328791" y="176093"/>
                  <a:pt x="328434" y="168146"/>
                  <a:pt x="323433" y="163145"/>
                </a:cubicBezTo>
                <a:cubicBezTo>
                  <a:pt x="318433" y="158145"/>
                  <a:pt x="310396" y="157788"/>
                  <a:pt x="305038" y="162342"/>
                </a:cubicBezTo>
                <a:lnTo>
                  <a:pt x="204668" y="246549"/>
                </a:lnTo>
                <a:cubicBezTo>
                  <a:pt x="196542" y="253335"/>
                  <a:pt x="185380" y="255121"/>
                  <a:pt x="175558" y="251192"/>
                </a:cubicBezTo>
                <a:lnTo>
                  <a:pt x="34022" y="193596"/>
                </a:lnTo>
                <a:cubicBezTo>
                  <a:pt x="22324" y="188863"/>
                  <a:pt x="14645" y="177433"/>
                  <a:pt x="14645" y="164753"/>
                </a:cubicBezTo>
                <a:cubicBezTo>
                  <a:pt x="14645" y="151626"/>
                  <a:pt x="22860" y="139928"/>
                  <a:pt x="35272" y="135463"/>
                </a:cubicBezTo>
                <a:lnTo>
                  <a:pt x="478988" y="-23485"/>
                </a:lnTo>
                <a:close/>
              </a:path>
            </a:pathLst>
          </a:custGeom>
          <a:solidFill>
            <a:srgbClr val="4A90E2"/>
          </a:solidFill>
        </p:spPr>
      </p:sp>
      <p:sp>
        <p:nvSpPr>
          <p:cNvPr id="17" name="Text 14"/>
          <p:cNvSpPr/>
          <p:nvPr>
            <p:custDataLst>
              <p:tags r:id="rId9"/>
            </p:custDataLst>
          </p:nvPr>
        </p:nvSpPr>
        <p:spPr>
          <a:xfrm>
            <a:off x="7802880" y="3530600"/>
            <a:ext cx="1295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数据转发</a:t>
            </a:r>
            <a:endParaRPr lang="en-US" sz="2400" dirty="0"/>
          </a:p>
        </p:txBody>
      </p:sp>
      <p:sp>
        <p:nvSpPr>
          <p:cNvPr id="18" name="Text 15"/>
          <p:cNvSpPr/>
          <p:nvPr>
            <p:custDataLst>
              <p:tags r:id="rId10"/>
            </p:custDataLst>
          </p:nvPr>
        </p:nvSpPr>
        <p:spPr>
          <a:xfrm>
            <a:off x="7866380" y="3977005"/>
            <a:ext cx="1231900" cy="589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(IP/MPLS)</a:t>
            </a:r>
            <a:endParaRPr lang="en-US" dirty="0"/>
          </a:p>
        </p:txBody>
      </p:sp>
      <p:sp>
        <p:nvSpPr>
          <p:cNvPr id="19" name="Shape 16"/>
          <p:cNvSpPr/>
          <p:nvPr>
            <p:custDataLst>
              <p:tags r:id="rId11"/>
            </p:custDataLst>
          </p:nvPr>
        </p:nvSpPr>
        <p:spPr>
          <a:xfrm>
            <a:off x="9601200" y="3454241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90E2"/>
              </a:gs>
              <a:gs pos="100000">
                <a:srgbClr val="ADD8E6"/>
              </a:gs>
            </a:gsLst>
            <a:lin ang="0" scaled="1"/>
          </a:gradFill>
        </p:spPr>
      </p:sp>
      <p:sp>
        <p:nvSpPr>
          <p:cNvPr id="20" name="Shape 17"/>
          <p:cNvSpPr/>
          <p:nvPr/>
        </p:nvSpPr>
        <p:spPr>
          <a:xfrm>
            <a:off x="10483850" y="295148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ADD8E6"/>
          </a:solidFill>
        </p:spPr>
      </p:sp>
      <p:sp>
        <p:nvSpPr>
          <p:cNvPr id="21" name="Text 18"/>
          <p:cNvSpPr/>
          <p:nvPr>
            <p:custDataLst>
              <p:tags r:id="rId12"/>
            </p:custDataLst>
          </p:nvPr>
        </p:nvSpPr>
        <p:spPr>
          <a:xfrm>
            <a:off x="10134600" y="3530600"/>
            <a:ext cx="129984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功能增强</a:t>
            </a:r>
            <a:endParaRPr lang="en-US" sz="2400" dirty="0"/>
          </a:p>
        </p:txBody>
      </p:sp>
      <p:sp>
        <p:nvSpPr>
          <p:cNvPr id="22" name="Text 19"/>
          <p:cNvSpPr/>
          <p:nvPr>
            <p:custDataLst>
              <p:tags r:id="rId13"/>
            </p:custDataLst>
          </p:nvPr>
        </p:nvSpPr>
        <p:spPr>
          <a:xfrm>
            <a:off x="10158730" y="3928110"/>
            <a:ext cx="1245870" cy="6902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(NAT/VPN)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112520" y="4711065"/>
            <a:ext cx="9910445" cy="12788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网络层的核心使命：实现</a:t>
            </a: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端到端</a:t>
            </a:r>
            <a:r>
              <a:rPr lang="en-US" sz="24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的数据交付。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9" grpId="0"/>
      <p:bldP spid="9" grpId="1"/>
      <p:bldP spid="13" grpId="0"/>
      <p:bldP spid="13" grpId="1"/>
      <p:bldP spid="17" grpId="0"/>
      <p:bldP spid="17" grpId="1"/>
      <p:bldP spid="21" grpId="0"/>
      <p:bldP spid="21" grpId="1"/>
      <p:bldP spid="22" grpId="0"/>
      <p:bldP spid="22" grpId="1"/>
      <p:bldP spid="18" grpId="0"/>
      <p:bldP spid="18" grpId="1"/>
      <p:bldP spid="14" grpId="0"/>
      <p:bldP spid="14" grpId="1"/>
      <p:bldP spid="10" grpId="0"/>
      <p:bldP spid="10" grpId="1"/>
      <p:bldP spid="6" grpId="0"/>
      <p:bldP spid="6" grpId="1"/>
      <p:bldP spid="23" grpId="0"/>
      <p:bldP spid="2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01-d2tarldnfo2stf9djk0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750" y="254000"/>
            <a:ext cx="118745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未来展望：向下一代网络层演进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2540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5486410"/>
                </a:lnTo>
                <a:cubicBezTo>
                  <a:pt x="5638800" y="5542517"/>
                  <a:pt x="5593317" y="5588000"/>
                  <a:pt x="5537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ADD8E6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58800" y="2087245"/>
            <a:ext cx="518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90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从“尽力交付”到“确定性服务”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4350" y="3235325"/>
            <a:ext cx="5118100" cy="1904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随着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IPv6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规模部署，其与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SRv6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、网络切片、可编程数据面等技术融合，推动网络层向提供</a:t>
            </a:r>
            <a:r>
              <a:rPr lang="en-US" sz="2000" dirty="0">
                <a:solidFill>
                  <a:srgbClr val="FFFFFF"/>
                </a:solidFill>
                <a:highlight>
                  <a:srgbClr val="4A90E2">
                    <a:alpha val="80000"/>
                  </a:srgbClr>
                </a:highlight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确定性时延、抖动和带宽 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的服务演进。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99200" y="1016000"/>
            <a:ext cx="5638800" cy="5588000"/>
          </a:xfrm>
          <a:custGeom>
            <a:avLst/>
            <a:gdLst/>
            <a:ahLst/>
            <a:cxnLst/>
            <a:rect l="l" t="t" r="r" b="b"/>
            <a:pathLst>
              <a:path w="5638800" h="5588000">
                <a:moveTo>
                  <a:pt x="101590" y="0"/>
                </a:moveTo>
                <a:lnTo>
                  <a:pt x="5537210" y="0"/>
                </a:lnTo>
                <a:cubicBezTo>
                  <a:pt x="5593317" y="0"/>
                  <a:pt x="5638800" y="45483"/>
                  <a:pt x="5638800" y="101590"/>
                </a:cubicBezTo>
                <a:lnTo>
                  <a:pt x="5638800" y="5486410"/>
                </a:lnTo>
                <a:cubicBezTo>
                  <a:pt x="5638800" y="5542517"/>
                  <a:pt x="5593317" y="5588000"/>
                  <a:pt x="5537210" y="5588000"/>
                </a:cubicBezTo>
                <a:lnTo>
                  <a:pt x="101590" y="5588000"/>
                </a:lnTo>
                <a:cubicBezTo>
                  <a:pt x="45483" y="5588000"/>
                  <a:pt x="0" y="5542517"/>
                  <a:pt x="0" y="5486410"/>
                </a:cubicBezTo>
                <a:lnTo>
                  <a:pt x="0" y="101590"/>
                </a:lnTo>
                <a:cubicBezTo>
                  <a:pt x="0" y="45521"/>
                  <a:pt x="45521" y="0"/>
                  <a:pt x="101590" y="0"/>
                </a:cubicBezTo>
                <a:close/>
              </a:path>
            </a:pathLst>
          </a:custGeom>
          <a:solidFill>
            <a:srgbClr val="7484DF">
              <a:alpha val="30196"/>
            </a:srgbClr>
          </a:solidFill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04000" y="1905161"/>
            <a:ext cx="5181600" cy="812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7484D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从“MPLS”到“SR-MPLS/EVPN”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04000" y="3213735"/>
            <a:ext cx="5118100" cy="2199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网络层控制平面继续简化，转发面持续可编程。MPLS向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SR-MPLS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和</a:t>
            </a:r>
            <a:r>
              <a:rPr lang="en-US" sz="200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EVPN</a:t>
            </a:r>
            <a:r>
              <a:rPr lang="en-US" sz="2000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过渡，实现更灵活的流量工程、更简化的协议栈和更强大的VPN业务支持能力。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  <p:bldP spid="5" grpId="0"/>
      <p:bldP spid="5" grpId="1"/>
      <p:bldP spid="6" grpId="0"/>
      <p:bldP spid="6" grpId="1"/>
      <p:bldP spid="9" grpId="0"/>
      <p:bldP spid="9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7:31:23-d2tarqtnfo2stf9djkm0.jpg"/>
          <p:cNvPicPr>
            <a:picLocks noChangeAspect="1"/>
          </p:cNvPicPr>
          <p:nvPr/>
        </p:nvPicPr>
        <p:blipFill>
          <a:blip r:embed="rId1"/>
          <a:srcRect t="104" b="104"/>
          <a:stretch>
            <a:fillRect/>
          </a:stretch>
        </p:blipFill>
        <p:spPr>
          <a:xfrm flipH="1"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7380" y="2440940"/>
            <a:ext cx="752729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941909" y="845595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41909" y="942569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1909" y="1039543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</p:sp>
      <p:pic>
        <p:nvPicPr>
          <p:cNvPr id="7" name="Image 1" descr="https://kimi-img.moonshot.cn/pub/slides/slides_tmpl/image/25-09-05-17:30:59-d2tarktnfo2stf9djjsg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527665" y="365125"/>
            <a:ext cx="262890" cy="11703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6615" y="5796915"/>
            <a:ext cx="363283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5"/>
          <p:cNvSpPr/>
          <p:nvPr/>
        </p:nvSpPr>
        <p:spPr>
          <a:xfrm>
            <a:off x="856615" y="5604510"/>
            <a:ext cx="6015355" cy="523875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甘芝清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黄慧雯</a:t>
            </a:r>
            <a:r>
              <a:rPr lang="en-US" altLang="zh-CN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林银蕊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933565" y="581977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汇报日期：2025/12/26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513887" y="5982681"/>
            <a:ext cx="6486525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732155" y="3269615"/>
            <a:ext cx="589280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732155" y="2532380"/>
            <a:ext cx="6677660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4B62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pic>
        <p:nvPicPr>
          <p:cNvPr id="16" name="Image 2" descr="https://kimi-img.moonshot.cn/pub/slides/slides_tmpl/image/25-09-05-17:31:23-d2tarqtnfo2stf9djkm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805" y="1319530"/>
            <a:ext cx="3823335" cy="4227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3" grpId="0"/>
      <p:bldP spid="13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2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3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4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5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6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7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8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9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0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1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2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3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4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5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6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7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8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19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20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21.xml><?xml version="1.0" encoding="utf-8"?>
<p:tagLst xmlns:p="http://schemas.openxmlformats.org/presentationml/2006/main">
  <p:tag name="KSO_WM_DIAGRAM_VIRTUALLY_FRAME" val="{&quot;height&quot;:429.75,&quot;left&quot;:357.95,&quot;top&quot;:69.15,&quot;width&quot;:585.3}"/>
</p:tagLst>
</file>

<file path=ppt/tags/tag22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3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4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5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6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7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8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29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0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1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2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3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4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5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6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7.xml><?xml version="1.0" encoding="utf-8"?>
<p:tagLst xmlns:p="http://schemas.openxmlformats.org/presentationml/2006/main">
  <p:tag name="KSO_WM_DIAGRAM_VIRTUALLY_FRAME" val="{&quot;height&quot;:339.75,&quot;left&quot;:20,&quot;top&quot;:81,&quot;width&quot;:920}"/>
</p:tagLst>
</file>

<file path=ppt/tags/tag38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39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40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41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42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43.xml><?xml version="1.0" encoding="utf-8"?>
<p:tagLst xmlns:p="http://schemas.openxmlformats.org/presentationml/2006/main">
  <p:tag name="KSO_WM_DIAGRAM_VIRTUALLY_FRAME" val="{&quot;height&quot;:214.85,&quot;left&quot;:22.93748031496063,&quot;top&quot;:219.35,&quot;width&quot;:453.2750393700788}"/>
</p:tagLst>
</file>

<file path=ppt/tags/tag44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45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46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47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48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49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0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1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2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3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4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5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6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7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8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59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60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61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62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63.xml><?xml version="1.0" encoding="utf-8"?>
<p:tagLst xmlns:p="http://schemas.openxmlformats.org/presentationml/2006/main">
  <p:tag name="KSO_WM_DIAGRAM_VIRTUALLY_FRAME" val="{&quot;height&quot;:185.5,&quot;left&quot;:15.85,&quot;top&quot;:184,&quot;width&quot;:924.5749606299212}"/>
</p:tagLst>
</file>

<file path=ppt/tags/tag64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65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66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67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68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69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0.xml><?xml version="1.0" encoding="utf-8"?>
<p:tagLst xmlns:p="http://schemas.openxmlformats.org/presentationml/2006/main">
  <p:tag name="KSO_WM_DIAGRAM_VIRTUALLY_FRAME" val="{&quot;height&quot;:152,&quot;left&quot;:94.5,&quot;top&quot;:208,&quot;width&quot;:792}"/>
</p:tagLst>
</file>

<file path=ppt/tags/tag71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2.xml><?xml version="1.0" encoding="utf-8"?>
<p:tagLst xmlns:p="http://schemas.openxmlformats.org/presentationml/2006/main">
  <p:tag name="KSO_WM_DIAGRAM_VIRTUALLY_FRAME" val="{&quot;height&quot;:152,&quot;left&quot;:94.5,&quot;top&quot;:208,&quot;width&quot;:792}"/>
</p:tagLst>
</file>

<file path=ppt/tags/tag73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4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5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6.xml><?xml version="1.0" encoding="utf-8"?>
<p:tagLst xmlns:p="http://schemas.openxmlformats.org/presentationml/2006/main">
  <p:tag name="KSO_WM_DIAGRAM_VIRTUALLY_FRAME" val="{&quot;height&quot;:187.9,&quot;left&quot;:39.85,&quot;top&quot;:208,&quot;width&quot;:854.7}"/>
</p:tagLst>
</file>

<file path=ppt/tags/tag77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78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79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0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1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2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3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4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5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6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7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8.xml><?xml version="1.0" encoding="utf-8"?>
<p:tagLst xmlns:p="http://schemas.openxmlformats.org/presentationml/2006/main">
  <p:tag name="KSO_WM_DIAGRAM_VIRTUALLY_FRAME" val="{&quot;height&quot;:336.8,&quot;left&quot;:343.23748031496064,&quot;top&quot;:129.25,&quot;width&quot;:597.0125196850394}"/>
</p:tagLst>
</file>

<file path=ppt/tags/tag89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0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1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2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3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4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5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6.xml><?xml version="1.0" encoding="utf-8"?>
<p:tagLst xmlns:p="http://schemas.openxmlformats.org/presentationml/2006/main">
  <p:tag name="KSO_WM_DIAGRAM_VIRTUALLY_FRAME" val="{&quot;height&quot;:310.55,&quot;left&quot;:20.8,&quot;top&quot;:111.45,&quot;width&quot;:919.2625196850393}"/>
</p:tagLst>
</file>

<file path=ppt/tags/tag97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98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99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100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101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102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103.xml><?xml version="1.0" encoding="utf-8"?>
<p:tagLst xmlns:p="http://schemas.openxmlformats.org/presentationml/2006/main">
  <p:tag name="KSO_WM_DIAGRAM_VIRTUALLY_FRAME" val="{&quot;height&quot;:164,&quot;left&quot;:16,&quot;top&quot;:150,&quot;width&quot;:642.8250393700788}"/>
</p:tagLst>
</file>

<file path=ppt/tags/tag104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05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06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07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08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09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0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1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2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3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4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5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6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7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8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19.xml><?xml version="1.0" encoding="utf-8"?>
<p:tagLst xmlns:p="http://schemas.openxmlformats.org/presentationml/2006/main">
  <p:tag name="KSO_WM_DIAGRAM_VIRTUALLY_FRAME" val="{&quot;height&quot;:355.4,&quot;left&quot;:489.55,&quot;top&quot;:124.75,&quot;width&quot;:450.45}"/>
</p:tagLst>
</file>

<file path=ppt/tags/tag120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1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2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3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4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5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6.xml><?xml version="1.0" encoding="utf-8"?>
<p:tagLst xmlns:p="http://schemas.openxmlformats.org/presentationml/2006/main">
  <p:tag name="KSO_WM_DIAGRAM_VIRTUALLY_FRAME" val="{&quot;height&quot;:411.7,&quot;left&quot;:33.25,&quot;top&quot;:113.75,&quot;width&quot;:900.9}"/>
</p:tagLst>
</file>

<file path=ppt/tags/tag127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28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29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30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31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32.xml><?xml version="1.0" encoding="utf-8"?>
<p:tagLst xmlns:p="http://schemas.openxmlformats.org/presentationml/2006/main">
  <p:tag name="KSO_WM_DIAGRAM_VIRTUALLY_FRAME" val="{&quot;height&quot;:203.5,&quot;left&quot;:21.4,&quot;top&quot;:270.05,&quot;width&quot;:401.75}"/>
</p:tagLst>
</file>

<file path=ppt/tags/tag133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4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5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6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7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8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39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40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41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42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43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ags/tag144.xml><?xml version="1.0" encoding="utf-8"?>
<p:tagLst xmlns:p="http://schemas.openxmlformats.org/presentationml/2006/main">
  <p:tag name="KSO_WM_DIAGRAM_VIRTUALLY_FRAME" val="{&quot;height&quot;:91.66251968503938,&quot;left&quot;:204,&quot;top&quot;:271.98748031496064,&quot;width&quot;:696.3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2998</Words>
  <Application>WPS 演示</Application>
  <PresentationFormat>On-screen Show (16:9)</PresentationFormat>
  <Paragraphs>360</Paragraphs>
  <Slides>27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Noto Sans SC</vt:lpstr>
      <vt:lpstr>Calibri</vt:lpstr>
      <vt:lpstr>微软雅黑</vt:lpstr>
      <vt:lpstr>Arial Unicode MS</vt:lpstr>
      <vt:lpstr>等线</vt:lpstr>
      <vt:lpstr>MingLiU-ExtB</vt:lpstr>
      <vt:lpstr>Microsoft JhengHei UI Light</vt:lpstr>
      <vt:lpstr>Segoe Print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网络层：从尽力交付到智能标签</dc:title>
  <dc:creator>Kimi</dc:creator>
  <dc:subject>网络层：从尽力交付到智能标签</dc:subject>
  <cp:lastModifiedBy>WPS_1694490358</cp:lastModifiedBy>
  <cp:revision>15</cp:revision>
  <dcterms:created xsi:type="dcterms:W3CDTF">2025-12-26T08:01:00Z</dcterms:created>
  <dcterms:modified xsi:type="dcterms:W3CDTF">2025-12-26T11:23:38Z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{"Label":"网络层：从尽力交付到智能标签","ContentProducer":"001191110108MACG2KBH8F10000","ProduceID":"d573olkpm1tbe0c4df6g","ReservedCode1":"","ContentPropagator":"001191110108MACG2KBH8F20000","PropagateID":"d573olkpm1tbe0c4df6g","ReservedCode2":""}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B97CCFEBF8934E71A7CC3A692F67B1EB_12</vt:lpwstr>
  </property>
</Properties>
</file>