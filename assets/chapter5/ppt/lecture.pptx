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embeddedFontLst>
    <p:embeddedFont>
      <p:font typeface="MiSans" pitchFamily="34" charset="-122"/>
      <p:regular r:id="rId32"/>
    </p:embeddedFont>
    <p:embeddedFont>
      <p:font typeface="MiSans" pitchFamily="34" charset="-120"/>
      <p:regular r:id="rId33"/>
    </p:embeddedFont>
    <p:embeddedFont>
      <p:font typeface="Noto Sans SC" panose="020B0200000000000000" pitchFamily="34" charset="-122"/>
      <p:regular r:id="rId34"/>
    </p:embeddedFont>
    <p:embeddedFont>
      <p:font typeface="Noto Sans SC" panose="020B0200000000000000" pitchFamily="34" charset="-120"/>
      <p:regular r:id="rId35"/>
    </p:embeddedFont>
    <p:embeddedFont>
      <p:font typeface="等线" panose="02010600030101010101" charset="-122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9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5.pn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7" Type="http://schemas.openxmlformats.org/officeDocument/2006/relationships/notesSlide" Target="../notesSlides/notesSlide1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0" Type="http://schemas.openxmlformats.org/officeDocument/2006/relationships/notesSlide" Target="../notesSlides/notesSlide20.xml"/><Relationship Id="rId2" Type="http://schemas.openxmlformats.org/officeDocument/2006/relationships/tags" Target="../tags/tag8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78830"/>
            <a:ext cx="4345305" cy="60452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b="1" dirty="0"/>
              <a:t>甘芝清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黄慧雯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林银蕊</a:t>
            </a:r>
            <a:endParaRPr lang="zh-CN" alt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0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运输层：从端口到拥塞控制</a:t>
            </a:r>
            <a:endParaRPr 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2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3"/>
            </p:custDataLst>
          </p:nvPr>
        </p:nvSpPr>
        <p:spPr>
          <a:xfrm flipH="1">
            <a:off x="4570730" y="264858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4"/>
            </p:custDataLst>
          </p:nvPr>
        </p:nvSpPr>
        <p:spPr>
          <a:xfrm flipH="1">
            <a:off x="4570730" y="340106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5"/>
            </p:custDataLst>
          </p:nvPr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6"/>
            </p:custDataLst>
          </p:nvPr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2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4550" y="2692400"/>
            <a:ext cx="266319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19" name="Shape 14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>
            <p:custDataLst>
              <p:tags r:id="rId7"/>
            </p:custDataLst>
          </p:nvPr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pic>
        <p:nvPicPr>
          <p:cNvPr id="21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209165" y="4778375"/>
            <a:ext cx="892175" cy="93853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009140" y="540512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pic>
        <p:nvPicPr>
          <p:cNvPr id="23" name="Image 4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978390" y="1252855"/>
            <a:ext cx="1807845" cy="1654175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10"/>
            </p:custDataLst>
          </p:nvPr>
        </p:nvSpPr>
        <p:spPr>
          <a:xfrm>
            <a:off x="4815840" y="172148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5" name="Text 18"/>
          <p:cNvSpPr/>
          <p:nvPr>
            <p:custDataLst>
              <p:tags r:id="rId11"/>
            </p:custDataLst>
          </p:nvPr>
        </p:nvSpPr>
        <p:spPr>
          <a:xfrm>
            <a:off x="5711190" y="1849120"/>
            <a:ext cx="62674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UDP</a:t>
            </a: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极简之道</a:t>
            </a:r>
            <a:endParaRPr lang="en-US" sz="2800" dirty="0"/>
          </a:p>
        </p:txBody>
      </p:sp>
      <p:sp>
        <p:nvSpPr>
          <p:cNvPr id="26" name="Text 19"/>
          <p:cNvSpPr/>
          <p:nvPr>
            <p:custDataLst>
              <p:tags r:id="rId12"/>
            </p:custDataLst>
          </p:nvPr>
        </p:nvSpPr>
        <p:spPr>
          <a:xfrm>
            <a:off x="4815840" y="252349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7" name="Text 20"/>
          <p:cNvSpPr/>
          <p:nvPr>
            <p:custDataLst>
              <p:tags r:id="rId13"/>
            </p:custDataLst>
          </p:nvPr>
        </p:nvSpPr>
        <p:spPr>
          <a:xfrm>
            <a:off x="5711190" y="2663825"/>
            <a:ext cx="626808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TCP</a:t>
            </a: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连接与字节流</a:t>
            </a:r>
            <a:endParaRPr lang="en-US" sz="2800" dirty="0"/>
          </a:p>
        </p:txBody>
      </p:sp>
      <p:sp>
        <p:nvSpPr>
          <p:cNvPr id="28" name="Text 21"/>
          <p:cNvSpPr/>
          <p:nvPr>
            <p:custDataLst>
              <p:tags r:id="rId14"/>
            </p:custDataLst>
          </p:nvPr>
        </p:nvSpPr>
        <p:spPr>
          <a:xfrm>
            <a:off x="4815840" y="331152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9" name="Text 22"/>
          <p:cNvSpPr/>
          <p:nvPr>
            <p:custDataLst>
              <p:tags r:id="rId15"/>
            </p:custDataLst>
          </p:nvPr>
        </p:nvSpPr>
        <p:spPr>
          <a:xfrm>
            <a:off x="5711190" y="3433445"/>
            <a:ext cx="626681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TCP</a:t>
            </a: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报文与可靠传输</a:t>
            </a:r>
            <a:endParaRPr lang="en-US" sz="2800" dirty="0"/>
          </a:p>
        </p:txBody>
      </p:sp>
      <p:sp>
        <p:nvSpPr>
          <p:cNvPr id="30" name="Text 23"/>
          <p:cNvSpPr/>
          <p:nvPr>
            <p:custDataLst>
              <p:tags r:id="rId16"/>
            </p:custDataLst>
          </p:nvPr>
        </p:nvSpPr>
        <p:spPr>
          <a:xfrm>
            <a:off x="4815840" y="405003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1" name="Text 24"/>
          <p:cNvSpPr/>
          <p:nvPr>
            <p:custDataLst>
              <p:tags r:id="rId17"/>
            </p:custDataLst>
          </p:nvPr>
        </p:nvSpPr>
        <p:spPr>
          <a:xfrm>
            <a:off x="5711190" y="4214495"/>
            <a:ext cx="626681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流量与拥塞双控</a:t>
            </a:r>
            <a:endParaRPr lang="en-US" sz="2800" dirty="0"/>
          </a:p>
        </p:txBody>
      </p:sp>
      <p:sp>
        <p:nvSpPr>
          <p:cNvPr id="32" name="Text 25"/>
          <p:cNvSpPr/>
          <p:nvPr>
            <p:custDataLst>
              <p:tags r:id="rId18"/>
            </p:custDataLst>
          </p:nvPr>
        </p:nvSpPr>
        <p:spPr>
          <a:xfrm>
            <a:off x="4815840" y="479171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19"/>
            </p:custDataLst>
          </p:nvPr>
        </p:nvSpPr>
        <p:spPr>
          <a:xfrm>
            <a:off x="5711190" y="4968875"/>
            <a:ext cx="6266815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连接生死与协议对比</a:t>
            </a:r>
            <a:endParaRPr lang="en-US" sz="2800" dirty="0"/>
          </a:p>
        </p:txBody>
      </p:sp>
      <p:sp>
        <p:nvSpPr>
          <p:cNvPr id="34" name="Shape 15"/>
          <p:cNvSpPr/>
          <p:nvPr>
            <p:custDataLst>
              <p:tags r:id="rId20"/>
            </p:custDataLst>
          </p:nvPr>
        </p:nvSpPr>
        <p:spPr>
          <a:xfrm flipH="1">
            <a:off x="4572000" y="104775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35" name="Shape 15"/>
          <p:cNvSpPr/>
          <p:nvPr>
            <p:custDataLst>
              <p:tags r:id="rId21"/>
            </p:custDataLst>
          </p:nvPr>
        </p:nvSpPr>
        <p:spPr>
          <a:xfrm flipH="1">
            <a:off x="4572000" y="559371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36" name="Text 17"/>
          <p:cNvSpPr/>
          <p:nvPr>
            <p:custDataLst>
              <p:tags r:id="rId22"/>
            </p:custDataLst>
          </p:nvPr>
        </p:nvSpPr>
        <p:spPr>
          <a:xfrm>
            <a:off x="4815840" y="91948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37" name="Text 25"/>
          <p:cNvSpPr/>
          <p:nvPr>
            <p:custDataLst>
              <p:tags r:id="rId23"/>
            </p:custDataLst>
          </p:nvPr>
        </p:nvSpPr>
        <p:spPr>
          <a:xfrm>
            <a:off x="4815840" y="552450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07.</a:t>
            </a:r>
            <a:endParaRPr lang="en-US" sz="1600" dirty="0"/>
          </a:p>
        </p:txBody>
      </p:sp>
      <p:sp>
        <p:nvSpPr>
          <p:cNvPr id="38" name="Text 18"/>
          <p:cNvSpPr/>
          <p:nvPr>
            <p:custDataLst>
              <p:tags r:id="rId24"/>
            </p:custDataLst>
          </p:nvPr>
        </p:nvSpPr>
        <p:spPr>
          <a:xfrm>
            <a:off x="5710555" y="1088390"/>
            <a:ext cx="626745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运输层角色与端口</a:t>
            </a:r>
            <a:endParaRPr lang="en-US" sz="2800" dirty="0"/>
          </a:p>
        </p:txBody>
      </p:sp>
      <p:sp>
        <p:nvSpPr>
          <p:cNvPr id="39" name="Text 26"/>
          <p:cNvSpPr/>
          <p:nvPr>
            <p:custDataLst>
              <p:tags r:id="rId25"/>
            </p:custDataLst>
          </p:nvPr>
        </p:nvSpPr>
        <p:spPr>
          <a:xfrm>
            <a:off x="5712460" y="5703570"/>
            <a:ext cx="6266815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本章回顾与展望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  <p:bldP spid="36" grpId="0"/>
      <p:bldP spid="36" grpId="1"/>
      <p:bldP spid="38" grpId="0"/>
      <p:bldP spid="38" grpId="1"/>
      <p:bldP spid="24" grpId="0"/>
      <p:bldP spid="24" grpId="1"/>
      <p:bldP spid="26" grpId="0"/>
      <p:bldP spid="26" grpId="1"/>
      <p:bldP spid="32" grpId="0"/>
      <p:bldP spid="32" grpId="1"/>
      <p:bldP spid="37" grpId="0"/>
      <p:bldP spid="37" grpId="1"/>
      <p:bldP spid="30" grpId="0"/>
      <p:bldP spid="30" grpId="1"/>
      <p:bldP spid="28" grpId="0"/>
      <p:bldP spid="28" grpId="1"/>
      <p:bldP spid="25" grpId="0"/>
      <p:bldP spid="25" grpId="1"/>
      <p:bldP spid="27" grpId="0"/>
      <p:bldP spid="27" grpId="1"/>
      <p:bldP spid="29" grpId="0"/>
      <p:bldP spid="29" grpId="1"/>
      <p:bldP spid="31" grpId="0"/>
      <p:bldP spid="31" grpId="1"/>
      <p:bldP spid="33" grpId="0"/>
      <p:bldP spid="33" grpId="1"/>
      <p:bldP spid="39" grpId="0"/>
      <p:bldP spid="3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运输层角色与端口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1912600" cy="85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端到端逻辑通信的守门人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1071880"/>
            <a:ext cx="11798300" cy="596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运输层：为应用进程提供端到端服务，屏蔽网络核心细节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524000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Shape 3"/>
          <p:cNvSpPr/>
          <p:nvPr/>
        </p:nvSpPr>
        <p:spPr>
          <a:xfrm>
            <a:off x="18288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1524000" y="3835400"/>
            <a:ext cx="122936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67180" y="4241800"/>
            <a:ext cx="1155065" cy="624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应用进程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486400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0" name="Shape 7"/>
          <p:cNvSpPr/>
          <p:nvPr/>
        </p:nvSpPr>
        <p:spPr>
          <a:xfrm>
            <a:off x="57912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80774" y="40957"/>
                </a:moveTo>
                <a:cubicBezTo>
                  <a:pt x="495062" y="35004"/>
                  <a:pt x="511373" y="38338"/>
                  <a:pt x="522327" y="49173"/>
                </a:cubicBezTo>
                <a:lnTo>
                  <a:pt x="598527" y="125373"/>
                </a:lnTo>
                <a:cubicBezTo>
                  <a:pt x="605671" y="132517"/>
                  <a:pt x="609719" y="142161"/>
                  <a:pt x="609719" y="152281"/>
                </a:cubicBezTo>
                <a:cubicBezTo>
                  <a:pt x="609719" y="162401"/>
                  <a:pt x="605671" y="172045"/>
                  <a:pt x="598527" y="179189"/>
                </a:cubicBezTo>
                <a:lnTo>
                  <a:pt x="522327" y="255389"/>
                </a:lnTo>
                <a:cubicBezTo>
                  <a:pt x="511373" y="266343"/>
                  <a:pt x="495062" y="269558"/>
                  <a:pt x="480774" y="263604"/>
                </a:cubicBezTo>
                <a:cubicBezTo>
                  <a:pt x="466487" y="257651"/>
                  <a:pt x="457200" y="243959"/>
                  <a:pt x="457200" y="228600"/>
                </a:cubicBezTo>
                <a:lnTo>
                  <a:pt x="457200" y="190500"/>
                </a:lnTo>
                <a:lnTo>
                  <a:pt x="419100" y="190500"/>
                </a:lnTo>
                <a:cubicBezTo>
                  <a:pt x="407075" y="190500"/>
                  <a:pt x="395764" y="196096"/>
                  <a:pt x="388620" y="205740"/>
                </a:cubicBezTo>
                <a:lnTo>
                  <a:pt x="350044" y="257175"/>
                </a:lnTo>
                <a:lnTo>
                  <a:pt x="302419" y="193715"/>
                </a:lnTo>
                <a:lnTo>
                  <a:pt x="327660" y="160020"/>
                </a:lnTo>
                <a:cubicBezTo>
                  <a:pt x="349210" y="131207"/>
                  <a:pt x="383143" y="114300"/>
                  <a:pt x="419100" y="114300"/>
                </a:cubicBezTo>
                <a:lnTo>
                  <a:pt x="457200" y="114300"/>
                </a:lnTo>
                <a:lnTo>
                  <a:pt x="457200" y="76200"/>
                </a:lnTo>
                <a:cubicBezTo>
                  <a:pt x="457200" y="60841"/>
                  <a:pt x="466487" y="46911"/>
                  <a:pt x="480774" y="40957"/>
                </a:cubicBezTo>
                <a:close/>
                <a:moveTo>
                  <a:pt x="183356" y="352425"/>
                </a:moveTo>
                <a:lnTo>
                  <a:pt x="230981" y="415885"/>
                </a:lnTo>
                <a:lnTo>
                  <a:pt x="205740" y="449580"/>
                </a:lnTo>
                <a:cubicBezTo>
                  <a:pt x="184190" y="478393"/>
                  <a:pt x="150257" y="495300"/>
                  <a:pt x="114300" y="495300"/>
                </a:cubicBezTo>
                <a:lnTo>
                  <a:pt x="38100" y="495300"/>
                </a:lnTo>
                <a:cubicBezTo>
                  <a:pt x="17026" y="495300"/>
                  <a:pt x="0" y="478274"/>
                  <a:pt x="0" y="457200"/>
                </a:cubicBezTo>
                <a:cubicBezTo>
                  <a:pt x="0" y="436126"/>
                  <a:pt x="17026" y="419100"/>
                  <a:pt x="38100" y="419100"/>
                </a:cubicBezTo>
                <a:lnTo>
                  <a:pt x="114300" y="419100"/>
                </a:lnTo>
                <a:cubicBezTo>
                  <a:pt x="126325" y="419100"/>
                  <a:pt x="137636" y="413504"/>
                  <a:pt x="144780" y="403860"/>
                </a:cubicBezTo>
                <a:lnTo>
                  <a:pt x="183356" y="352425"/>
                </a:lnTo>
                <a:close/>
                <a:moveTo>
                  <a:pt x="522208" y="560308"/>
                </a:moveTo>
                <a:cubicBezTo>
                  <a:pt x="511254" y="571262"/>
                  <a:pt x="494943" y="574477"/>
                  <a:pt x="480655" y="568523"/>
                </a:cubicBezTo>
                <a:cubicBezTo>
                  <a:pt x="466368" y="562570"/>
                  <a:pt x="457200" y="548759"/>
                  <a:pt x="457200" y="533400"/>
                </a:cubicBezTo>
                <a:lnTo>
                  <a:pt x="457200" y="495300"/>
                </a:lnTo>
                <a:lnTo>
                  <a:pt x="419100" y="495300"/>
                </a:lnTo>
                <a:cubicBezTo>
                  <a:pt x="383143" y="495300"/>
                  <a:pt x="349210" y="478393"/>
                  <a:pt x="327660" y="449580"/>
                </a:cubicBezTo>
                <a:lnTo>
                  <a:pt x="144780" y="205740"/>
                </a:lnTo>
                <a:cubicBezTo>
                  <a:pt x="137636" y="196096"/>
                  <a:pt x="126325" y="190500"/>
                  <a:pt x="114300" y="190500"/>
                </a:cubicBezTo>
                <a:lnTo>
                  <a:pt x="38100" y="190500"/>
                </a:lnTo>
                <a:cubicBezTo>
                  <a:pt x="17026" y="190500"/>
                  <a:pt x="0" y="173474"/>
                  <a:pt x="0" y="152400"/>
                </a:cubicBezTo>
                <a:cubicBezTo>
                  <a:pt x="0" y="131326"/>
                  <a:pt x="17026" y="114300"/>
                  <a:pt x="38100" y="114300"/>
                </a:cubicBezTo>
                <a:lnTo>
                  <a:pt x="114300" y="114300"/>
                </a:lnTo>
                <a:cubicBezTo>
                  <a:pt x="150257" y="114300"/>
                  <a:pt x="184190" y="131207"/>
                  <a:pt x="205740" y="160020"/>
                </a:cubicBezTo>
                <a:lnTo>
                  <a:pt x="388620" y="403860"/>
                </a:lnTo>
                <a:cubicBezTo>
                  <a:pt x="395764" y="413504"/>
                  <a:pt x="407075" y="419100"/>
                  <a:pt x="419100" y="419100"/>
                </a:cubicBezTo>
                <a:lnTo>
                  <a:pt x="457200" y="419100"/>
                </a:lnTo>
                <a:lnTo>
                  <a:pt x="457200" y="381000"/>
                </a:lnTo>
                <a:cubicBezTo>
                  <a:pt x="457200" y="365641"/>
                  <a:pt x="466487" y="351711"/>
                  <a:pt x="480774" y="345758"/>
                </a:cubicBezTo>
                <a:cubicBezTo>
                  <a:pt x="495062" y="339804"/>
                  <a:pt x="511373" y="343138"/>
                  <a:pt x="522327" y="353973"/>
                </a:cubicBezTo>
                <a:lnTo>
                  <a:pt x="598527" y="430173"/>
                </a:lnTo>
                <a:cubicBezTo>
                  <a:pt x="605671" y="437317"/>
                  <a:pt x="609719" y="446961"/>
                  <a:pt x="609719" y="457081"/>
                </a:cubicBezTo>
                <a:cubicBezTo>
                  <a:pt x="609719" y="467201"/>
                  <a:pt x="605671" y="476845"/>
                  <a:pt x="598527" y="483989"/>
                </a:cubicBezTo>
                <a:lnTo>
                  <a:pt x="522327" y="560189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5512435" y="3835400"/>
            <a:ext cx="115760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运输层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1410" y="4241800"/>
            <a:ext cx="2450465" cy="638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进程到进程 (端到端)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9448800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4" name="Shape 11"/>
          <p:cNvSpPr/>
          <p:nvPr/>
        </p:nvSpPr>
        <p:spPr>
          <a:xfrm>
            <a:off x="9715500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95275" y="104775"/>
                </a:moveTo>
                <a:lnTo>
                  <a:pt x="390525" y="104775"/>
                </a:lnTo>
                <a:lnTo>
                  <a:pt x="390525" y="161925"/>
                </a:lnTo>
                <a:lnTo>
                  <a:pt x="295275" y="161925"/>
                </a:lnTo>
                <a:lnTo>
                  <a:pt x="295275" y="104775"/>
                </a:lnTo>
                <a:close/>
                <a:moveTo>
                  <a:pt x="285750" y="38100"/>
                </a:moveTo>
                <a:cubicBezTo>
                  <a:pt x="254198" y="38100"/>
                  <a:pt x="228600" y="63698"/>
                  <a:pt x="228600" y="95250"/>
                </a:cubicBezTo>
                <a:lnTo>
                  <a:pt x="228600" y="171450"/>
                </a:lnTo>
                <a:cubicBezTo>
                  <a:pt x="228600" y="203002"/>
                  <a:pt x="254198" y="228600"/>
                  <a:pt x="285750" y="228600"/>
                </a:cubicBezTo>
                <a:lnTo>
                  <a:pt x="304800" y="228600"/>
                </a:lnTo>
                <a:lnTo>
                  <a:pt x="304800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152400" y="342900"/>
                </a:lnTo>
                <a:lnTo>
                  <a:pt x="152400" y="381000"/>
                </a:lnTo>
                <a:lnTo>
                  <a:pt x="133350" y="381000"/>
                </a:lnTo>
                <a:cubicBezTo>
                  <a:pt x="101798" y="381000"/>
                  <a:pt x="76200" y="406598"/>
                  <a:pt x="76200" y="438150"/>
                </a:cubicBezTo>
                <a:lnTo>
                  <a:pt x="76200" y="514350"/>
                </a:lnTo>
                <a:cubicBezTo>
                  <a:pt x="76200" y="545902"/>
                  <a:pt x="101798" y="571500"/>
                  <a:pt x="133350" y="571500"/>
                </a:cubicBezTo>
                <a:lnTo>
                  <a:pt x="247650" y="571500"/>
                </a:lnTo>
                <a:cubicBezTo>
                  <a:pt x="279202" y="571500"/>
                  <a:pt x="304800" y="545902"/>
                  <a:pt x="304800" y="514350"/>
                </a:cubicBezTo>
                <a:lnTo>
                  <a:pt x="304800" y="438150"/>
                </a:lnTo>
                <a:cubicBezTo>
                  <a:pt x="304800" y="406598"/>
                  <a:pt x="279202" y="381000"/>
                  <a:pt x="247650" y="381000"/>
                </a:cubicBezTo>
                <a:lnTo>
                  <a:pt x="228600" y="381000"/>
                </a:lnTo>
                <a:lnTo>
                  <a:pt x="228600" y="342900"/>
                </a:lnTo>
                <a:lnTo>
                  <a:pt x="457200" y="342900"/>
                </a:lnTo>
                <a:lnTo>
                  <a:pt x="457200" y="381000"/>
                </a:lnTo>
                <a:lnTo>
                  <a:pt x="438150" y="381000"/>
                </a:lnTo>
                <a:cubicBezTo>
                  <a:pt x="406598" y="381000"/>
                  <a:pt x="381000" y="406598"/>
                  <a:pt x="381000" y="438150"/>
                </a:cubicBezTo>
                <a:lnTo>
                  <a:pt x="381000" y="514350"/>
                </a:lnTo>
                <a:cubicBezTo>
                  <a:pt x="381000" y="545902"/>
                  <a:pt x="406598" y="571500"/>
                  <a:pt x="438150" y="571500"/>
                </a:cubicBezTo>
                <a:lnTo>
                  <a:pt x="552450" y="571500"/>
                </a:lnTo>
                <a:cubicBezTo>
                  <a:pt x="584002" y="571500"/>
                  <a:pt x="609600" y="545902"/>
                  <a:pt x="609600" y="514350"/>
                </a:cubicBezTo>
                <a:lnTo>
                  <a:pt x="609600" y="438150"/>
                </a:lnTo>
                <a:cubicBezTo>
                  <a:pt x="609600" y="406598"/>
                  <a:pt x="584002" y="381000"/>
                  <a:pt x="552450" y="381000"/>
                </a:cubicBezTo>
                <a:lnTo>
                  <a:pt x="533400" y="381000"/>
                </a:lnTo>
                <a:lnTo>
                  <a:pt x="533400" y="342900"/>
                </a:lnTo>
                <a:lnTo>
                  <a:pt x="647700" y="342900"/>
                </a:lnTo>
                <a:cubicBezTo>
                  <a:pt x="668774" y="342900"/>
                  <a:pt x="685800" y="325874"/>
                  <a:pt x="685800" y="304800"/>
                </a:cubicBezTo>
                <a:cubicBezTo>
                  <a:pt x="685800" y="283726"/>
                  <a:pt x="668774" y="266700"/>
                  <a:pt x="647700" y="266700"/>
                </a:cubicBezTo>
                <a:lnTo>
                  <a:pt x="381000" y="266700"/>
                </a:lnTo>
                <a:lnTo>
                  <a:pt x="381000" y="228600"/>
                </a:lnTo>
                <a:lnTo>
                  <a:pt x="400050" y="228600"/>
                </a:lnTo>
                <a:cubicBezTo>
                  <a:pt x="431602" y="228600"/>
                  <a:pt x="457200" y="203002"/>
                  <a:pt x="457200" y="171450"/>
                </a:cubicBezTo>
                <a:lnTo>
                  <a:pt x="457200" y="95250"/>
                </a:lnTo>
                <a:cubicBezTo>
                  <a:pt x="457200" y="63698"/>
                  <a:pt x="431602" y="38100"/>
                  <a:pt x="400050" y="38100"/>
                </a:cubicBezTo>
                <a:lnTo>
                  <a:pt x="285750" y="38100"/>
                </a:lnTo>
                <a:close/>
                <a:moveTo>
                  <a:pt x="533400" y="447675"/>
                </a:moveTo>
                <a:lnTo>
                  <a:pt x="542925" y="447675"/>
                </a:lnTo>
                <a:lnTo>
                  <a:pt x="542925" y="504825"/>
                </a:lnTo>
                <a:lnTo>
                  <a:pt x="447675" y="504825"/>
                </a:lnTo>
                <a:lnTo>
                  <a:pt x="447675" y="447675"/>
                </a:lnTo>
                <a:lnTo>
                  <a:pt x="533400" y="447675"/>
                </a:lnTo>
                <a:close/>
                <a:moveTo>
                  <a:pt x="228600" y="447675"/>
                </a:moveTo>
                <a:lnTo>
                  <a:pt x="238125" y="447675"/>
                </a:lnTo>
                <a:lnTo>
                  <a:pt x="238125" y="504825"/>
                </a:lnTo>
                <a:lnTo>
                  <a:pt x="142875" y="504825"/>
                </a:lnTo>
                <a:lnTo>
                  <a:pt x="142875" y="447675"/>
                </a:lnTo>
                <a:lnTo>
                  <a:pt x="228600" y="447675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Text 12"/>
          <p:cNvSpPr/>
          <p:nvPr/>
        </p:nvSpPr>
        <p:spPr>
          <a:xfrm>
            <a:off x="9364345" y="3835400"/>
            <a:ext cx="138811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086215" y="4241800"/>
            <a:ext cx="1944370" cy="53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主机到主机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254000" y="5359400"/>
            <a:ext cx="5740400" cy="1244600"/>
          </a:xfrm>
          <a:custGeom>
            <a:avLst/>
            <a:gdLst/>
            <a:ahLst/>
            <a:cxnLst/>
            <a:rect l="l" t="t" r="r" b="b"/>
            <a:pathLst>
              <a:path w="5740400" h="8636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8" name="Text 15"/>
          <p:cNvSpPr/>
          <p:nvPr/>
        </p:nvSpPr>
        <p:spPr>
          <a:xfrm>
            <a:off x="355600" y="5408930"/>
            <a:ext cx="5537200" cy="622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复用 (Multiplexing)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361950" y="6045200"/>
            <a:ext cx="5524500" cy="500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多个应用进程可同时使用运输层服务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197600" y="5359400"/>
            <a:ext cx="5740400" cy="1186815"/>
          </a:xfrm>
          <a:custGeom>
            <a:avLst/>
            <a:gdLst/>
            <a:ahLst/>
            <a:cxnLst/>
            <a:rect l="l" t="t" r="r" b="b"/>
            <a:pathLst>
              <a:path w="5740400" h="8636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1" name="Text 18"/>
          <p:cNvSpPr/>
          <p:nvPr/>
        </p:nvSpPr>
        <p:spPr>
          <a:xfrm>
            <a:off x="6299200" y="5392420"/>
            <a:ext cx="5537200" cy="626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分用 (Demultiplexing)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305550" y="6080125"/>
            <a:ext cx="5524500" cy="410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将数据正确交付给目的应用进程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  <p:bldP spid="11" grpId="0"/>
      <p:bldP spid="11" grpId="1"/>
      <p:bldP spid="16" grpId="0"/>
      <p:bldP spid="16" grpId="1"/>
      <p:bldP spid="12" grpId="0"/>
      <p:bldP spid="12" grpId="1"/>
      <p:bldP spid="18" grpId="0"/>
      <p:bldP spid="18" grpId="1"/>
      <p:bldP spid="19" grpId="0"/>
      <p:bldP spid="19" grpId="1"/>
      <p:bldP spid="21" grpId="0"/>
      <p:bldP spid="21" grpId="1"/>
      <p:bldP spid="22" grpId="0"/>
      <p:bldP spid="22" grpId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864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端口：进程地址的16位门牌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1134110"/>
            <a:ext cx="11798300" cy="732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端口号是一个16比特的标识符，用于标识本主机内的应用进程，只具有本地意义。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3365" y="40386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1590992" y="2438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2082959" y="2819400"/>
            <a:ext cx="43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1097280" y="4588510"/>
            <a:ext cx="2056130" cy="1101090"/>
          </a:xfrm>
          <a:custGeom>
            <a:avLst/>
            <a:gdLst/>
            <a:ahLst/>
            <a:cxnLst/>
            <a:rect l="l" t="t" r="r" b="b"/>
            <a:pathLst>
              <a:path w="1905000" h="812800">
                <a:moveTo>
                  <a:pt x="101600" y="0"/>
                </a:moveTo>
                <a:lnTo>
                  <a:pt x="1803400" y="0"/>
                </a:lnTo>
                <a:cubicBezTo>
                  <a:pt x="1859475" y="0"/>
                  <a:pt x="1905000" y="45525"/>
                  <a:pt x="1905000" y="101600"/>
                </a:cubicBezTo>
                <a:lnTo>
                  <a:pt x="1905000" y="711200"/>
                </a:lnTo>
                <a:cubicBezTo>
                  <a:pt x="1905000" y="767275"/>
                  <a:pt x="1859475" y="812800"/>
                  <a:pt x="1803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1280001" y="4622800"/>
            <a:ext cx="181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熟知端口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1113790" y="4970780"/>
            <a:ext cx="1981835" cy="686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0-1023 (如 HTTP:80)</a:t>
            </a:r>
            <a:endParaRPr lang="en-US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485606" y="2438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5625148" y="2819400"/>
            <a:ext cx="11303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1024</a:t>
            </a:r>
            <a:endParaRPr lang="en-US" sz="1600" dirty="0"/>
          </a:p>
        </p:txBody>
      </p:sp>
      <p:sp>
        <p:nvSpPr>
          <p:cNvPr id="13" name="Shape 10"/>
          <p:cNvSpPr/>
          <p:nvPr>
            <p:custDataLst>
              <p:tags r:id="rId10"/>
            </p:custDataLst>
          </p:nvPr>
        </p:nvSpPr>
        <p:spPr>
          <a:xfrm>
            <a:off x="5095240" y="4588510"/>
            <a:ext cx="1969135" cy="1101090"/>
          </a:xfrm>
          <a:custGeom>
            <a:avLst/>
            <a:gdLst/>
            <a:ahLst/>
            <a:cxnLst/>
            <a:rect l="l" t="t" r="r" b="b"/>
            <a:pathLst>
              <a:path w="1219200" h="812800">
                <a:moveTo>
                  <a:pt x="101600" y="0"/>
                </a:moveTo>
                <a:lnTo>
                  <a:pt x="1117600" y="0"/>
                </a:lnTo>
                <a:cubicBezTo>
                  <a:pt x="1173675" y="0"/>
                  <a:pt x="1219200" y="45525"/>
                  <a:pt x="1219200" y="101600"/>
                </a:cubicBezTo>
                <a:lnTo>
                  <a:pt x="1219200" y="711200"/>
                </a:lnTo>
                <a:cubicBezTo>
                  <a:pt x="1219200" y="767275"/>
                  <a:pt x="1173675" y="812800"/>
                  <a:pt x="111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5098415" y="4622800"/>
            <a:ext cx="1962150" cy="448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登记端口</a:t>
            </a:r>
            <a:endParaRPr lang="en-US" sz="2400" b="1" dirty="0">
              <a:solidFill>
                <a:srgbClr val="7484D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5095875" y="5334000"/>
            <a:ext cx="19843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1024-49151</a:t>
            </a:r>
            <a:endParaRPr lang="en-US" dirty="0"/>
          </a:p>
        </p:txBody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9380220" y="2438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9519761" y="2844800"/>
            <a:ext cx="1092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49152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15"/>
            </p:custDataLst>
          </p:nvPr>
        </p:nvSpPr>
        <p:spPr>
          <a:xfrm>
            <a:off x="9063355" y="4610100"/>
            <a:ext cx="1901825" cy="1079500"/>
          </a:xfrm>
          <a:custGeom>
            <a:avLst/>
            <a:gdLst/>
            <a:ahLst/>
            <a:cxnLst/>
            <a:rect l="l" t="t" r="r" b="b"/>
            <a:pathLst>
              <a:path w="1320800" h="812800">
                <a:moveTo>
                  <a:pt x="101600" y="0"/>
                </a:moveTo>
                <a:lnTo>
                  <a:pt x="1219200" y="0"/>
                </a:lnTo>
                <a:cubicBezTo>
                  <a:pt x="1275275" y="0"/>
                  <a:pt x="1320800" y="45525"/>
                  <a:pt x="1320800" y="101600"/>
                </a:cubicBezTo>
                <a:lnTo>
                  <a:pt x="1320800" y="711200"/>
                </a:lnTo>
                <a:cubicBezTo>
                  <a:pt x="1320800" y="767275"/>
                  <a:pt x="1275275" y="812800"/>
                  <a:pt x="1219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9379903" y="4700270"/>
            <a:ext cx="123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ADD8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短暂端口</a:t>
            </a:r>
            <a:endParaRPr lang="en-US" sz="2400" b="1" dirty="0">
              <a:solidFill>
                <a:srgbClr val="ADD8E6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9063990" y="5334000"/>
            <a:ext cx="188214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49152-65535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9" grpId="0"/>
      <p:bldP spid="9" grpId="1"/>
      <p:bldP spid="10" grpId="0"/>
      <p:bldP spid="10" grpId="1"/>
      <p:bldP spid="14" grpId="0"/>
      <p:bldP spid="14" grpId="1"/>
      <p:bldP spid="15" grpId="0"/>
      <p:bldP spid="15" grpId="1"/>
      <p:bldP spid="19" grpId="0"/>
      <p:bldP spid="19" grpId="1"/>
      <p:bldP spid="20" grpId="0"/>
      <p:bldP spid="2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UDP极简之道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UDP：无连接报文的原子投递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863600"/>
            <a:ext cx="11798300" cy="685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UDP将应用层报文视为一个整体进行发送，保留报文边界，不合并，不拆分。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58850" y="2565400"/>
            <a:ext cx="2079625" cy="1016000"/>
          </a:xfrm>
          <a:custGeom>
            <a:avLst/>
            <a:gdLst/>
            <a:ahLst/>
            <a:cxnLst/>
            <a:rect l="l" t="t" r="r" b="b"/>
            <a:pathLst>
              <a:path w="1714500" h="1016000">
                <a:moveTo>
                  <a:pt x="101600" y="0"/>
                </a:moveTo>
                <a:lnTo>
                  <a:pt x="1612900" y="0"/>
                </a:lnTo>
                <a:cubicBezTo>
                  <a:pt x="1668975" y="0"/>
                  <a:pt x="1714500" y="45525"/>
                  <a:pt x="1714500" y="101600"/>
                </a:cubicBezTo>
                <a:lnTo>
                  <a:pt x="1714500" y="914400"/>
                </a:lnTo>
                <a:cubicBezTo>
                  <a:pt x="1714500" y="970475"/>
                  <a:pt x="1668975" y="1016000"/>
                  <a:pt x="16129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32510" y="2604135"/>
            <a:ext cx="1955800" cy="458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应用层报文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25525" y="3124200"/>
            <a:ext cx="1925320" cy="482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App Message 1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948690" y="3784600"/>
            <a:ext cx="2089785" cy="1016000"/>
          </a:xfrm>
          <a:custGeom>
            <a:avLst/>
            <a:gdLst/>
            <a:ahLst/>
            <a:cxnLst/>
            <a:rect l="l" t="t" r="r" b="b"/>
            <a:pathLst>
              <a:path w="1714500" h="1016000">
                <a:moveTo>
                  <a:pt x="101600" y="0"/>
                </a:moveTo>
                <a:lnTo>
                  <a:pt x="1612900" y="0"/>
                </a:lnTo>
                <a:cubicBezTo>
                  <a:pt x="1668975" y="0"/>
                  <a:pt x="1714500" y="45525"/>
                  <a:pt x="1714500" y="101600"/>
                </a:cubicBezTo>
                <a:lnTo>
                  <a:pt x="1714500" y="914400"/>
                </a:lnTo>
                <a:cubicBezTo>
                  <a:pt x="1714500" y="970475"/>
                  <a:pt x="1668975" y="1016000"/>
                  <a:pt x="16129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9330" y="3835400"/>
            <a:ext cx="199580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应用层报文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32510" y="4343400"/>
            <a:ext cx="191897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App Message 2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239067" y="30734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843260" y="414635"/>
                </a:moveTo>
                <a:cubicBezTo>
                  <a:pt x="861864" y="396032"/>
                  <a:pt x="861864" y="365820"/>
                  <a:pt x="843260" y="347216"/>
                </a:cubicBezTo>
                <a:lnTo>
                  <a:pt x="652760" y="156716"/>
                </a:lnTo>
                <a:cubicBezTo>
                  <a:pt x="634157" y="138113"/>
                  <a:pt x="603945" y="138113"/>
                  <a:pt x="585341" y="156716"/>
                </a:cubicBezTo>
                <a:cubicBezTo>
                  <a:pt x="566738" y="175320"/>
                  <a:pt x="566738" y="205532"/>
                  <a:pt x="585341" y="224135"/>
                </a:cubicBezTo>
                <a:lnTo>
                  <a:pt x="694581" y="333375"/>
                </a:lnTo>
                <a:lnTo>
                  <a:pt x="47625" y="333375"/>
                </a:lnTo>
                <a:cubicBezTo>
                  <a:pt x="21282" y="333375"/>
                  <a:pt x="0" y="354657"/>
                  <a:pt x="0" y="381000"/>
                </a:cubicBezTo>
                <a:cubicBezTo>
                  <a:pt x="0" y="407343"/>
                  <a:pt x="21282" y="428625"/>
                  <a:pt x="47625" y="428625"/>
                </a:cubicBezTo>
                <a:lnTo>
                  <a:pt x="694581" y="428625"/>
                </a:lnTo>
                <a:lnTo>
                  <a:pt x="585341" y="537865"/>
                </a:lnTo>
                <a:cubicBezTo>
                  <a:pt x="566737" y="556468"/>
                  <a:pt x="566737" y="586680"/>
                  <a:pt x="585341" y="605284"/>
                </a:cubicBezTo>
                <a:cubicBezTo>
                  <a:pt x="603945" y="623888"/>
                  <a:pt x="634157" y="623888"/>
                  <a:pt x="652760" y="605284"/>
                </a:cubicBezTo>
                <a:lnTo>
                  <a:pt x="843260" y="414784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" name="Text 9"/>
          <p:cNvSpPr/>
          <p:nvPr/>
        </p:nvSpPr>
        <p:spPr>
          <a:xfrm>
            <a:off x="5031105" y="3937000"/>
            <a:ext cx="126809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UDP封装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291195" y="2416810"/>
            <a:ext cx="2871470" cy="1164590"/>
          </a:xfrm>
          <a:custGeom>
            <a:avLst/>
            <a:gdLst/>
            <a:ahLst/>
            <a:cxnLst/>
            <a:rect l="l" t="t" r="r" b="b"/>
            <a:pathLst>
              <a:path w="2578100" h="1016000">
                <a:moveTo>
                  <a:pt x="101600" y="0"/>
                </a:moveTo>
                <a:lnTo>
                  <a:pt x="2476500" y="0"/>
                </a:lnTo>
                <a:cubicBezTo>
                  <a:pt x="2532575" y="0"/>
                  <a:pt x="2578100" y="45525"/>
                  <a:pt x="2578100" y="101600"/>
                </a:cubicBezTo>
                <a:lnTo>
                  <a:pt x="2578100" y="914400"/>
                </a:lnTo>
                <a:cubicBezTo>
                  <a:pt x="2578100" y="970475"/>
                  <a:pt x="2532575" y="1016000"/>
                  <a:pt x="24765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95640" y="2576830"/>
            <a:ext cx="2770505" cy="547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UDP数据报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384540" y="3124200"/>
            <a:ext cx="2713355" cy="457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Header + App Message 1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8291195" y="3784600"/>
            <a:ext cx="2865755" cy="1201420"/>
          </a:xfrm>
          <a:custGeom>
            <a:avLst/>
            <a:gdLst/>
            <a:ahLst/>
            <a:cxnLst/>
            <a:rect l="l" t="t" r="r" b="b"/>
            <a:pathLst>
              <a:path w="2578100" h="1016000">
                <a:moveTo>
                  <a:pt x="101600" y="0"/>
                </a:moveTo>
                <a:lnTo>
                  <a:pt x="2476500" y="0"/>
                </a:lnTo>
                <a:cubicBezTo>
                  <a:pt x="2532575" y="0"/>
                  <a:pt x="2578100" y="45525"/>
                  <a:pt x="2578100" y="101600"/>
                </a:cubicBezTo>
                <a:lnTo>
                  <a:pt x="2578100" y="914400"/>
                </a:lnTo>
                <a:cubicBezTo>
                  <a:pt x="2578100" y="970475"/>
                  <a:pt x="2532575" y="1016000"/>
                  <a:pt x="24765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45805" y="3874135"/>
            <a:ext cx="2825750" cy="469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UDP数据报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291195" y="4343400"/>
            <a:ext cx="2820670" cy="629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Header + App Message 2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254000" y="5817235"/>
            <a:ext cx="3759200" cy="786765"/>
          </a:xfrm>
          <a:custGeom>
            <a:avLst/>
            <a:gdLst/>
            <a:ahLst/>
            <a:cxnLst/>
            <a:rect l="l" t="t" r="r" b="b"/>
            <a:pathLst>
              <a:path w="3759200" h="457200">
                <a:moveTo>
                  <a:pt x="50799" y="0"/>
                </a:moveTo>
                <a:lnTo>
                  <a:pt x="3708401" y="0"/>
                </a:lnTo>
                <a:cubicBezTo>
                  <a:pt x="3736456" y="0"/>
                  <a:pt x="3759200" y="22744"/>
                  <a:pt x="3759200" y="50799"/>
                </a:cubicBezTo>
                <a:lnTo>
                  <a:pt x="3759200" y="406401"/>
                </a:lnTo>
                <a:cubicBezTo>
                  <a:pt x="3759200" y="434456"/>
                  <a:pt x="3736456" y="457200"/>
                  <a:pt x="3708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0" name="Text 17"/>
          <p:cNvSpPr/>
          <p:nvPr/>
        </p:nvSpPr>
        <p:spPr>
          <a:xfrm>
            <a:off x="209550" y="5817235"/>
            <a:ext cx="3848100" cy="786765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无连接: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发送前无需建立连接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216400" y="5817235"/>
            <a:ext cx="3759200" cy="786765"/>
          </a:xfrm>
          <a:custGeom>
            <a:avLst/>
            <a:gdLst/>
            <a:ahLst/>
            <a:cxnLst/>
            <a:rect l="l" t="t" r="r" b="b"/>
            <a:pathLst>
              <a:path w="3759200" h="457200">
                <a:moveTo>
                  <a:pt x="50799" y="0"/>
                </a:moveTo>
                <a:lnTo>
                  <a:pt x="3708401" y="0"/>
                </a:lnTo>
                <a:cubicBezTo>
                  <a:pt x="3736456" y="0"/>
                  <a:pt x="3759200" y="22744"/>
                  <a:pt x="3759200" y="50799"/>
                </a:cubicBezTo>
                <a:lnTo>
                  <a:pt x="3759200" y="406401"/>
                </a:lnTo>
                <a:cubicBezTo>
                  <a:pt x="3759200" y="434456"/>
                  <a:pt x="3736456" y="457200"/>
                  <a:pt x="3708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  <p:txBody>
          <a:bodyPr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4171950" y="5823585"/>
            <a:ext cx="3848100" cy="780415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不可靠: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尽最大努力交付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178800" y="5815965"/>
            <a:ext cx="3759200" cy="788035"/>
          </a:xfrm>
          <a:custGeom>
            <a:avLst/>
            <a:gdLst/>
            <a:ahLst/>
            <a:cxnLst/>
            <a:rect l="l" t="t" r="r" b="b"/>
            <a:pathLst>
              <a:path w="3759200" h="457200">
                <a:moveTo>
                  <a:pt x="50799" y="0"/>
                </a:moveTo>
                <a:lnTo>
                  <a:pt x="3708401" y="0"/>
                </a:lnTo>
                <a:cubicBezTo>
                  <a:pt x="3736456" y="0"/>
                  <a:pt x="3759200" y="22744"/>
                  <a:pt x="3759200" y="50799"/>
                </a:cubicBezTo>
                <a:lnTo>
                  <a:pt x="3759200" y="406401"/>
                </a:lnTo>
                <a:cubicBezTo>
                  <a:pt x="3759200" y="434456"/>
                  <a:pt x="3736456" y="457200"/>
                  <a:pt x="3708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  <p:txBody>
          <a:bodyPr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8103235" y="5823585"/>
            <a:ext cx="3848100" cy="76962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低开销: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固定8字节首部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2" grpId="0"/>
      <p:bldP spid="12" grpId="1"/>
      <p:bldP spid="6" grpId="0"/>
      <p:bldP spid="6" grpId="1"/>
      <p:bldP spid="7" grpId="0"/>
      <p:bldP spid="7" grpId="1"/>
      <p:bldP spid="9" grpId="0"/>
      <p:bldP spid="9" grpId="1"/>
      <p:bldP spid="10" grpId="0"/>
      <p:bldP spid="10" grpId="1"/>
      <p:bldP spid="17" grpId="0"/>
      <p:bldP spid="17" grpId="1"/>
      <p:bldP spid="14" grpId="0"/>
      <p:bldP spid="14" grpId="1"/>
      <p:bldP spid="15" grpId="0"/>
      <p:bldP spid="15" grpId="1"/>
      <p:bldP spid="18" grpId="0"/>
      <p:bldP spid="18" grpId="1"/>
      <p:bldP spid="20" grpId="0"/>
      <p:bldP spid="20" grpId="1"/>
      <p:bldP spid="22" grpId="0"/>
      <p:bldP spid="22" grpId="1"/>
      <p:bldP spid="24" grpId="0"/>
      <p:bldP spid="2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334010"/>
            <a:ext cx="4902200" cy="1320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伪首部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4000" y="1290320"/>
            <a:ext cx="4826000" cy="630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校验和里的跨界借址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1920240"/>
            <a:ext cx="4775200" cy="2444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为确保数据正确送达端点，UDP计算校验和时会临时加入一个12字节的“伪首部”，包含源/目的IP地址等信息，用于验证数据的端到端完整性。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54000" y="4364990"/>
            <a:ext cx="4762500" cy="1061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伪首部仅用于计算，不随数据报传输，是运输层与网络层协作的巧妙机制。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242560" y="1668780"/>
            <a:ext cx="6687820" cy="3422650"/>
          </a:xfrm>
          <a:custGeom>
            <a:avLst/>
            <a:gdLst/>
            <a:ahLst/>
            <a:cxnLst/>
            <a:rect l="l" t="t" r="r" b="b"/>
            <a:pathLst>
              <a:path w="6687820" h="3017520">
                <a:moveTo>
                  <a:pt x="101600" y="0"/>
                </a:moveTo>
                <a:lnTo>
                  <a:pt x="6586220" y="0"/>
                </a:lnTo>
                <a:cubicBezTo>
                  <a:pt x="6642332" y="0"/>
                  <a:pt x="6687820" y="45488"/>
                  <a:pt x="6687820" y="101600"/>
                </a:cubicBezTo>
                <a:lnTo>
                  <a:pt x="6687820" y="2915920"/>
                </a:lnTo>
                <a:cubicBezTo>
                  <a:pt x="6687820" y="2972032"/>
                  <a:pt x="6642332" y="3017520"/>
                  <a:pt x="6586220" y="3017520"/>
                </a:cubicBezTo>
                <a:lnTo>
                  <a:pt x="101600" y="3017520"/>
                </a:lnTo>
                <a:cubicBezTo>
                  <a:pt x="45488" y="3017520"/>
                  <a:pt x="0" y="2972032"/>
                  <a:pt x="0" y="291592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ADD8E6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98770" y="1805940"/>
            <a:ext cx="6375400" cy="683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 伪首部 (Pseudo Header)</a:t>
            </a:r>
            <a:endParaRPr lang="en-US" sz="2400" dirty="0"/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5455920" y="2590800"/>
            <a:ext cx="6261100" cy="457200"/>
          </a:xfrm>
          <a:custGeom>
            <a:avLst/>
            <a:gdLst/>
            <a:ahLst/>
            <a:cxnLst/>
            <a:rect l="l" t="t" r="r" b="b"/>
            <a:pathLst>
              <a:path w="6261100" h="457200">
                <a:moveTo>
                  <a:pt x="50799" y="0"/>
                </a:moveTo>
                <a:lnTo>
                  <a:pt x="6210301" y="0"/>
                </a:lnTo>
                <a:cubicBezTo>
                  <a:pt x="6238356" y="0"/>
                  <a:pt x="6261100" y="22744"/>
                  <a:pt x="6261100" y="50799"/>
                </a:cubicBezTo>
                <a:lnTo>
                  <a:pt x="6261100" y="406401"/>
                </a:lnTo>
                <a:cubicBezTo>
                  <a:pt x="6261100" y="434456"/>
                  <a:pt x="6238356" y="457200"/>
                  <a:pt x="6210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5557520" y="2692400"/>
            <a:ext cx="210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源 IP 地址</a:t>
            </a:r>
            <a:endParaRPr lang="en-US" sz="200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7486968" y="2692400"/>
            <a:ext cx="412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32 bits</a:t>
            </a:r>
            <a:endParaRPr lang="en-US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5455920" y="3149600"/>
            <a:ext cx="6261100" cy="457200"/>
          </a:xfrm>
          <a:custGeom>
            <a:avLst/>
            <a:gdLst/>
            <a:ahLst/>
            <a:cxnLst/>
            <a:rect l="l" t="t" r="r" b="b"/>
            <a:pathLst>
              <a:path w="6261100" h="457200">
                <a:moveTo>
                  <a:pt x="50799" y="0"/>
                </a:moveTo>
                <a:lnTo>
                  <a:pt x="6210301" y="0"/>
                </a:lnTo>
                <a:cubicBezTo>
                  <a:pt x="6238356" y="0"/>
                  <a:pt x="6261100" y="22744"/>
                  <a:pt x="6261100" y="50799"/>
                </a:cubicBezTo>
                <a:lnTo>
                  <a:pt x="6261100" y="406401"/>
                </a:lnTo>
                <a:cubicBezTo>
                  <a:pt x="6261100" y="434456"/>
                  <a:pt x="6238356" y="457200"/>
                  <a:pt x="6210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5557520" y="3251200"/>
            <a:ext cx="210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 IP 地址</a:t>
            </a:r>
            <a:endParaRPr lang="en-US" sz="2000" dirty="0"/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7486968" y="3251200"/>
            <a:ext cx="412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32 bits</a:t>
            </a:r>
            <a:endParaRPr lang="en-US" dirty="0"/>
          </a:p>
        </p:txBody>
      </p:sp>
      <p:sp>
        <p:nvSpPr>
          <p:cNvPr id="15" name="Shape 12"/>
          <p:cNvSpPr/>
          <p:nvPr>
            <p:custDataLst>
              <p:tags r:id="rId8"/>
            </p:custDataLst>
          </p:nvPr>
        </p:nvSpPr>
        <p:spPr>
          <a:xfrm>
            <a:off x="5455920" y="3708400"/>
            <a:ext cx="6261100" cy="457200"/>
          </a:xfrm>
          <a:custGeom>
            <a:avLst/>
            <a:gdLst/>
            <a:ahLst/>
            <a:cxnLst/>
            <a:rect l="l" t="t" r="r" b="b"/>
            <a:pathLst>
              <a:path w="6261100" h="457200">
                <a:moveTo>
                  <a:pt x="50799" y="0"/>
                </a:moveTo>
                <a:lnTo>
                  <a:pt x="6210301" y="0"/>
                </a:lnTo>
                <a:cubicBezTo>
                  <a:pt x="6238356" y="0"/>
                  <a:pt x="6261100" y="22744"/>
                  <a:pt x="6261100" y="50799"/>
                </a:cubicBezTo>
                <a:lnTo>
                  <a:pt x="6261100" y="406401"/>
                </a:lnTo>
                <a:cubicBezTo>
                  <a:pt x="6261100" y="434456"/>
                  <a:pt x="6238356" y="457200"/>
                  <a:pt x="6210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5557520" y="3810000"/>
            <a:ext cx="210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协议字段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7486968" y="3810000"/>
            <a:ext cx="412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 bits (值为 17)</a:t>
            </a:r>
            <a:endParaRPr lang="en-US" dirty="0"/>
          </a:p>
        </p:txBody>
      </p:sp>
      <p:sp>
        <p:nvSpPr>
          <p:cNvPr id="18" name="Shape 15"/>
          <p:cNvSpPr/>
          <p:nvPr>
            <p:custDataLst>
              <p:tags r:id="rId11"/>
            </p:custDataLst>
          </p:nvPr>
        </p:nvSpPr>
        <p:spPr>
          <a:xfrm>
            <a:off x="5455920" y="4267200"/>
            <a:ext cx="6261100" cy="457200"/>
          </a:xfrm>
          <a:custGeom>
            <a:avLst/>
            <a:gdLst/>
            <a:ahLst/>
            <a:cxnLst/>
            <a:rect l="l" t="t" r="r" b="b"/>
            <a:pathLst>
              <a:path w="6261100" h="457200">
                <a:moveTo>
                  <a:pt x="50799" y="0"/>
                </a:moveTo>
                <a:lnTo>
                  <a:pt x="6210301" y="0"/>
                </a:lnTo>
                <a:cubicBezTo>
                  <a:pt x="6238356" y="0"/>
                  <a:pt x="6261100" y="22744"/>
                  <a:pt x="6261100" y="50799"/>
                </a:cubicBezTo>
                <a:lnTo>
                  <a:pt x="6261100" y="406401"/>
                </a:lnTo>
                <a:cubicBezTo>
                  <a:pt x="6261100" y="434456"/>
                  <a:pt x="6238356" y="457200"/>
                  <a:pt x="6210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5557520" y="4368800"/>
            <a:ext cx="2108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 长度</a:t>
            </a:r>
            <a:endParaRPr lang="en-US" sz="2000" dirty="0"/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7486968" y="4368800"/>
            <a:ext cx="412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16 bits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TCP连接与字节流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TCP：面向连接的可靠字节管道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863600"/>
            <a:ext cx="11798300" cy="735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TCP提供全双工、可靠、有序、无差错、不丢失、不重复的字节流服务。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39370" y="3683000"/>
            <a:ext cx="142748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发送方进程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473200" y="3454400"/>
            <a:ext cx="3810000" cy="50800"/>
          </a:xfrm>
          <a:custGeom>
            <a:avLst/>
            <a:gdLst/>
            <a:ahLst/>
            <a:cxnLst/>
            <a:rect l="l" t="t" r="r" b="b"/>
            <a:pathLst>
              <a:path w="3810000" h="50800">
                <a:moveTo>
                  <a:pt x="0" y="0"/>
                </a:moveTo>
                <a:lnTo>
                  <a:pt x="3810000" y="0"/>
                </a:lnTo>
                <a:lnTo>
                  <a:pt x="3810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8" name="Shape 5"/>
          <p:cNvSpPr/>
          <p:nvPr/>
        </p:nvSpPr>
        <p:spPr>
          <a:xfrm>
            <a:off x="5486400" y="2667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38825" y="3048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" y="85725"/>
                </a:moveTo>
                <a:cubicBezTo>
                  <a:pt x="12769" y="85725"/>
                  <a:pt x="0" y="98494"/>
                  <a:pt x="0" y="114300"/>
                </a:cubicBezTo>
                <a:lnTo>
                  <a:pt x="0" y="342900"/>
                </a:lnTo>
                <a:cubicBezTo>
                  <a:pt x="0" y="358706"/>
                  <a:pt x="12769" y="371475"/>
                  <a:pt x="28575" y="371475"/>
                </a:cubicBezTo>
                <a:cubicBezTo>
                  <a:pt x="44381" y="371475"/>
                  <a:pt x="57150" y="358706"/>
                  <a:pt x="57150" y="342900"/>
                </a:cubicBezTo>
                <a:lnTo>
                  <a:pt x="57150" y="114300"/>
                </a:lnTo>
                <a:cubicBezTo>
                  <a:pt x="57150" y="98494"/>
                  <a:pt x="44381" y="85725"/>
                  <a:pt x="28575" y="85725"/>
                </a:cubicBezTo>
                <a:close/>
                <a:moveTo>
                  <a:pt x="348794" y="305931"/>
                </a:moveTo>
                <a:lnTo>
                  <a:pt x="405944" y="248781"/>
                </a:lnTo>
                <a:cubicBezTo>
                  <a:pt x="417106" y="237619"/>
                  <a:pt x="417106" y="219492"/>
                  <a:pt x="405944" y="208330"/>
                </a:cubicBezTo>
                <a:lnTo>
                  <a:pt x="348794" y="151180"/>
                </a:lnTo>
                <a:cubicBezTo>
                  <a:pt x="337631" y="140018"/>
                  <a:pt x="319504" y="140018"/>
                  <a:pt x="308342" y="151180"/>
                </a:cubicBezTo>
                <a:cubicBezTo>
                  <a:pt x="297180" y="162342"/>
                  <a:pt x="297180" y="180469"/>
                  <a:pt x="308342" y="191631"/>
                </a:cubicBezTo>
                <a:lnTo>
                  <a:pt x="316736" y="200025"/>
                </a:lnTo>
                <a:lnTo>
                  <a:pt x="197525" y="200025"/>
                </a:lnTo>
                <a:lnTo>
                  <a:pt x="205919" y="191631"/>
                </a:lnTo>
                <a:cubicBezTo>
                  <a:pt x="217081" y="180469"/>
                  <a:pt x="217081" y="162342"/>
                  <a:pt x="205919" y="151180"/>
                </a:cubicBezTo>
                <a:cubicBezTo>
                  <a:pt x="194756" y="140018"/>
                  <a:pt x="176629" y="140018"/>
                  <a:pt x="165467" y="151180"/>
                </a:cubicBezTo>
                <a:lnTo>
                  <a:pt x="108317" y="208330"/>
                </a:lnTo>
                <a:cubicBezTo>
                  <a:pt x="102959" y="213687"/>
                  <a:pt x="99923" y="220920"/>
                  <a:pt x="99923" y="228511"/>
                </a:cubicBezTo>
                <a:cubicBezTo>
                  <a:pt x="99923" y="236101"/>
                  <a:pt x="102959" y="243334"/>
                  <a:pt x="108317" y="248692"/>
                </a:cubicBezTo>
                <a:lnTo>
                  <a:pt x="165467" y="305842"/>
                </a:lnTo>
                <a:cubicBezTo>
                  <a:pt x="176629" y="317004"/>
                  <a:pt x="194756" y="317004"/>
                  <a:pt x="205919" y="305842"/>
                </a:cubicBezTo>
                <a:cubicBezTo>
                  <a:pt x="217081" y="294680"/>
                  <a:pt x="217081" y="276552"/>
                  <a:pt x="205919" y="265390"/>
                </a:cubicBezTo>
                <a:lnTo>
                  <a:pt x="197525" y="256996"/>
                </a:lnTo>
                <a:lnTo>
                  <a:pt x="316736" y="256996"/>
                </a:lnTo>
                <a:lnTo>
                  <a:pt x="308342" y="265390"/>
                </a:lnTo>
                <a:cubicBezTo>
                  <a:pt x="297180" y="276552"/>
                  <a:pt x="297180" y="294680"/>
                  <a:pt x="308342" y="305842"/>
                </a:cubicBezTo>
                <a:cubicBezTo>
                  <a:pt x="319504" y="317004"/>
                  <a:pt x="337631" y="317004"/>
                  <a:pt x="348794" y="305842"/>
                </a:cubicBezTo>
                <a:close/>
                <a:moveTo>
                  <a:pt x="514350" y="114300"/>
                </a:moveTo>
                <a:cubicBezTo>
                  <a:pt x="514350" y="98494"/>
                  <a:pt x="501581" y="85725"/>
                  <a:pt x="485775" y="85725"/>
                </a:cubicBezTo>
                <a:cubicBezTo>
                  <a:pt x="469969" y="85725"/>
                  <a:pt x="457200" y="98494"/>
                  <a:pt x="457200" y="114300"/>
                </a:cubicBezTo>
                <a:lnTo>
                  <a:pt x="457200" y="342900"/>
                </a:lnTo>
                <a:cubicBezTo>
                  <a:pt x="457200" y="358706"/>
                  <a:pt x="469969" y="371475"/>
                  <a:pt x="485775" y="371475"/>
                </a:cubicBezTo>
                <a:cubicBezTo>
                  <a:pt x="501581" y="371475"/>
                  <a:pt x="514350" y="358706"/>
                  <a:pt x="514350" y="342900"/>
                </a:cubicBezTo>
                <a:lnTo>
                  <a:pt x="514350" y="1143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5309235" y="3987800"/>
            <a:ext cx="15925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 连接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908800" y="3454400"/>
            <a:ext cx="3810000" cy="50800"/>
          </a:xfrm>
          <a:custGeom>
            <a:avLst/>
            <a:gdLst/>
            <a:ahLst/>
            <a:cxnLst/>
            <a:rect l="l" t="t" r="r" b="b"/>
            <a:pathLst>
              <a:path w="3810000" h="50800">
                <a:moveTo>
                  <a:pt x="0" y="0"/>
                </a:moveTo>
                <a:lnTo>
                  <a:pt x="3810000" y="0"/>
                </a:lnTo>
                <a:lnTo>
                  <a:pt x="3810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2" name="Shape 9"/>
          <p:cNvSpPr/>
          <p:nvPr/>
        </p:nvSpPr>
        <p:spPr>
          <a:xfrm>
            <a:off x="111252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3" name="Text 10"/>
          <p:cNvSpPr/>
          <p:nvPr/>
        </p:nvSpPr>
        <p:spPr>
          <a:xfrm>
            <a:off x="10744200" y="3683000"/>
            <a:ext cx="136779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接收方进程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4000" y="5740400"/>
            <a:ext cx="3759200" cy="863600"/>
          </a:xfrm>
          <a:custGeom>
            <a:avLst/>
            <a:gdLst/>
            <a:ahLst/>
            <a:cxnLst/>
            <a:rect l="l" t="t" r="r" b="b"/>
            <a:pathLst>
              <a:path w="3759200" h="863600">
                <a:moveTo>
                  <a:pt x="101603" y="0"/>
                </a:moveTo>
                <a:lnTo>
                  <a:pt x="3657597" y="0"/>
                </a:lnTo>
                <a:cubicBezTo>
                  <a:pt x="3713711" y="0"/>
                  <a:pt x="3759200" y="45489"/>
                  <a:pt x="3759200" y="101603"/>
                </a:cubicBezTo>
                <a:lnTo>
                  <a:pt x="3759200" y="761997"/>
                </a:lnTo>
                <a:cubicBezTo>
                  <a:pt x="3759200" y="818111"/>
                  <a:pt x="3713711" y="863600"/>
                  <a:pt x="3657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5" name="Text 12"/>
          <p:cNvSpPr/>
          <p:nvPr/>
        </p:nvSpPr>
        <p:spPr>
          <a:xfrm>
            <a:off x="355600" y="5791200"/>
            <a:ext cx="355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面向连接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61950" y="6197600"/>
            <a:ext cx="3543300" cy="408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通信前建立连接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216400" y="5740400"/>
            <a:ext cx="3759200" cy="863600"/>
          </a:xfrm>
          <a:custGeom>
            <a:avLst/>
            <a:gdLst/>
            <a:ahLst/>
            <a:cxnLst/>
            <a:rect l="l" t="t" r="r" b="b"/>
            <a:pathLst>
              <a:path w="3759200" h="863600">
                <a:moveTo>
                  <a:pt x="101603" y="0"/>
                </a:moveTo>
                <a:lnTo>
                  <a:pt x="3657597" y="0"/>
                </a:lnTo>
                <a:cubicBezTo>
                  <a:pt x="3713711" y="0"/>
                  <a:pt x="3759200" y="45489"/>
                  <a:pt x="3759200" y="101603"/>
                </a:cubicBezTo>
                <a:lnTo>
                  <a:pt x="3759200" y="761997"/>
                </a:lnTo>
                <a:cubicBezTo>
                  <a:pt x="3759200" y="818111"/>
                  <a:pt x="3713711" y="863600"/>
                  <a:pt x="3657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8" name="Text 15"/>
          <p:cNvSpPr/>
          <p:nvPr/>
        </p:nvSpPr>
        <p:spPr>
          <a:xfrm>
            <a:off x="4318000" y="5738495"/>
            <a:ext cx="3556000" cy="459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可靠交付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324350" y="6197600"/>
            <a:ext cx="3543300" cy="366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无差错、不丢失、不重复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178800" y="5740400"/>
            <a:ext cx="3759200" cy="863600"/>
          </a:xfrm>
          <a:custGeom>
            <a:avLst/>
            <a:gdLst/>
            <a:ahLst/>
            <a:cxnLst/>
            <a:rect l="l" t="t" r="r" b="b"/>
            <a:pathLst>
              <a:path w="3759200" h="863600">
                <a:moveTo>
                  <a:pt x="101603" y="0"/>
                </a:moveTo>
                <a:lnTo>
                  <a:pt x="3657597" y="0"/>
                </a:lnTo>
                <a:cubicBezTo>
                  <a:pt x="3713711" y="0"/>
                  <a:pt x="3759200" y="45489"/>
                  <a:pt x="3759200" y="101603"/>
                </a:cubicBezTo>
                <a:lnTo>
                  <a:pt x="3759200" y="761997"/>
                </a:lnTo>
                <a:cubicBezTo>
                  <a:pt x="3759200" y="818111"/>
                  <a:pt x="3713711" y="863600"/>
                  <a:pt x="3657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1" name="Text 18"/>
          <p:cNvSpPr/>
          <p:nvPr/>
        </p:nvSpPr>
        <p:spPr>
          <a:xfrm>
            <a:off x="8280400" y="5791200"/>
            <a:ext cx="355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面向字节流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286750" y="6197600"/>
            <a:ext cx="3543300" cy="397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数据被视为无结构字节流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10" grpId="0"/>
      <p:bldP spid="10" grpId="1"/>
      <p:bldP spid="13" grpId="0"/>
      <p:bldP spid="13" grpId="1"/>
      <p:bldP spid="15" grpId="0"/>
      <p:bldP spid="15" grpId="1"/>
      <p:bldP spid="18" grpId="0"/>
      <p:bldP spid="18" grpId="1"/>
      <p:bldP spid="21" grpId="0"/>
      <p:bldP spid="21" grpId="1"/>
      <p:bldP spid="16" grpId="0"/>
      <p:bldP spid="16" grpId="1"/>
      <p:bldP spid="19" grpId="0"/>
      <p:bldP spid="19" grpId="1"/>
      <p:bldP spid="22" grpId="0"/>
      <p:bldP spid="2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8285" y="374015"/>
            <a:ext cx="11358245" cy="1104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套接字 (Socket)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13910" y="1395254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连接端点的二元坐标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9405" y="2138680"/>
            <a:ext cx="11485245" cy="5695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TCP连接的端点不是主机，也不是进程，而是套接字。一个套接字由IP地址和端口号共同构成。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904774" y="2900680"/>
            <a:ext cx="4381500" cy="1016000"/>
          </a:xfrm>
          <a:custGeom>
            <a:avLst/>
            <a:gdLst/>
            <a:ahLst/>
            <a:cxnLst/>
            <a:rect l="l" t="t" r="r" b="b"/>
            <a:pathLst>
              <a:path w="4381500" h="1016000">
                <a:moveTo>
                  <a:pt x="101600" y="0"/>
                </a:moveTo>
                <a:lnTo>
                  <a:pt x="4279900" y="0"/>
                </a:lnTo>
                <a:cubicBezTo>
                  <a:pt x="4335975" y="0"/>
                  <a:pt x="4381500" y="45525"/>
                  <a:pt x="4381500" y="101600"/>
                </a:cubicBezTo>
                <a:lnTo>
                  <a:pt x="4381500" y="914400"/>
                </a:lnTo>
                <a:cubicBezTo>
                  <a:pt x="4381500" y="970475"/>
                  <a:pt x="4335975" y="1016000"/>
                  <a:pt x="42799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33374" y="3205480"/>
            <a:ext cx="3924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Socket = (IP地址 : 端口号)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00626" y="4333081"/>
            <a:ext cx="2814320" cy="1087120"/>
          </a:xfrm>
          <a:custGeom>
            <a:avLst/>
            <a:gdLst/>
            <a:ahLst/>
            <a:cxnLst/>
            <a:rect l="l" t="t" r="r" b="b"/>
            <a:pathLst>
              <a:path w="2814320" h="1087120">
                <a:moveTo>
                  <a:pt x="101602" y="0"/>
                </a:moveTo>
                <a:lnTo>
                  <a:pt x="2712718" y="0"/>
                </a:lnTo>
                <a:cubicBezTo>
                  <a:pt x="2768831" y="0"/>
                  <a:pt x="2814320" y="45489"/>
                  <a:pt x="2814320" y="101602"/>
                </a:cubicBezTo>
                <a:lnTo>
                  <a:pt x="2814320" y="985518"/>
                </a:lnTo>
                <a:cubicBezTo>
                  <a:pt x="2814320" y="1041631"/>
                  <a:pt x="2768831" y="1087120"/>
                  <a:pt x="2712718" y="1087120"/>
                </a:cubicBezTo>
                <a:lnTo>
                  <a:pt x="101602" y="1087120"/>
                </a:lnTo>
                <a:cubicBezTo>
                  <a:pt x="45489" y="1087120"/>
                  <a:pt x="0" y="1041631"/>
                  <a:pt x="0" y="98551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A90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63186" y="4546441"/>
            <a:ext cx="248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客户端套接字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56836" y="4851241"/>
            <a:ext cx="250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(cli_IP : cli_Port)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84374" y="4622641"/>
            <a:ext cx="622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↔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76101" y="4333081"/>
            <a:ext cx="2814320" cy="1087120"/>
          </a:xfrm>
          <a:custGeom>
            <a:avLst/>
            <a:gdLst/>
            <a:ahLst/>
            <a:cxnLst/>
            <a:rect l="l" t="t" r="r" b="b"/>
            <a:pathLst>
              <a:path w="2814320" h="1087120">
                <a:moveTo>
                  <a:pt x="101602" y="0"/>
                </a:moveTo>
                <a:lnTo>
                  <a:pt x="2712718" y="0"/>
                </a:lnTo>
                <a:cubicBezTo>
                  <a:pt x="2768831" y="0"/>
                  <a:pt x="2814320" y="45489"/>
                  <a:pt x="2814320" y="101602"/>
                </a:cubicBezTo>
                <a:lnTo>
                  <a:pt x="2814320" y="985518"/>
                </a:lnTo>
                <a:cubicBezTo>
                  <a:pt x="2814320" y="1041631"/>
                  <a:pt x="2768831" y="1087120"/>
                  <a:pt x="2712718" y="1087120"/>
                </a:cubicBezTo>
                <a:lnTo>
                  <a:pt x="101602" y="1087120"/>
                </a:lnTo>
                <a:cubicBezTo>
                  <a:pt x="45489" y="1087120"/>
                  <a:pt x="0" y="1041631"/>
                  <a:pt x="0" y="98551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A90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8662" y="4546441"/>
            <a:ext cx="248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服务器套接字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32312" y="4851241"/>
            <a:ext cx="2501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(srv_IP : srv_Port)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61285" y="5633720"/>
            <a:ext cx="6498590" cy="716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4A556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一个TCP连接由一对套接字 (Socket1, Socket2) 唯一标识。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TCP报文与可靠传输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TCP报文段首部：字段里的控制密码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96850" y="8636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固定首部20字节，包含实现可靠传输、流量控制和连接管理的关键字段。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54000" y="15240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Text 3"/>
          <p:cNvSpPr/>
          <p:nvPr/>
        </p:nvSpPr>
        <p:spPr>
          <a:xfrm>
            <a:off x="457200" y="22860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序号 &amp; 确认号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692400"/>
            <a:ext cx="3441700" cy="779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实现可靠传输的核心，按字节编号，确保数据有序、不丢失。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216400" y="15240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9" name="Text 6"/>
          <p:cNvSpPr/>
          <p:nvPr/>
        </p:nvSpPr>
        <p:spPr>
          <a:xfrm>
            <a:off x="4419600" y="22860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数据偏移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419600" y="2692400"/>
            <a:ext cx="3441700" cy="779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指示TCP首部长度，即数据部分从何处开始。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178800" y="15240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2" name="Text 9"/>
          <p:cNvSpPr/>
          <p:nvPr/>
        </p:nvSpPr>
        <p:spPr>
          <a:xfrm>
            <a:off x="8382000" y="22860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窗口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82000" y="2692400"/>
            <a:ext cx="3441700" cy="783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用于流量控制，告知对方自己的接收能力。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54000" y="41656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5" name="Text 12"/>
          <p:cNvSpPr/>
          <p:nvPr/>
        </p:nvSpPr>
        <p:spPr>
          <a:xfrm>
            <a:off x="457200" y="49276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chemeClr val="bg1"/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控制位 (6位)</a:t>
            </a:r>
            <a:endParaRPr lang="en-US" sz="2400" b="1" dirty="0">
              <a:solidFill>
                <a:schemeClr val="bg1"/>
              </a:solidFill>
              <a:uFillTx/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5334000"/>
            <a:ext cx="3441700" cy="910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SYN 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: 建立连接, </a:t>
            </a:r>
            <a:r>
              <a:rPr lang="en-US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ACK 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: 确认有效, </a:t>
            </a:r>
            <a:r>
              <a:rPr lang="en-US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FIN 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: 释放连接, </a:t>
            </a:r>
            <a:r>
              <a:rPr lang="en-US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RST 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: 复位连接。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216400" y="41656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8" name="Text 15"/>
          <p:cNvSpPr/>
          <p:nvPr/>
        </p:nvSpPr>
        <p:spPr>
          <a:xfrm>
            <a:off x="4419600" y="50546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检验和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419600" y="5461000"/>
            <a:ext cx="3441700" cy="842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检验首部和数据部分，确保数据无误。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178800" y="41656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1" name="Text 18"/>
          <p:cNvSpPr/>
          <p:nvPr/>
        </p:nvSpPr>
        <p:spPr>
          <a:xfrm>
            <a:off x="8382000" y="4927600"/>
            <a:ext cx="346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选项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382000" y="5334000"/>
            <a:ext cx="3441700" cy="877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可变长度，用于协商MSS、窗口扩大因子等。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7" grpId="0"/>
      <p:bldP spid="7" grpId="1"/>
      <p:bldP spid="9" grpId="0"/>
      <p:bldP spid="9" grpId="1"/>
      <p:bldP spid="10" grpId="0"/>
      <p:bldP spid="10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  <p:bldP spid="21" grpId="0"/>
      <p:bldP spid="21" grpId="1"/>
      <p:bldP spid="22" grpId="0"/>
      <p:bldP spid="2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854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滑动窗口：连续ARQ的效率引擎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863600"/>
            <a:ext cx="11798300" cy="908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允许发送方在未收到确认前连续发送多个分组，大大提高了信道利用率。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96850" y="2168525"/>
            <a:ext cx="2070100" cy="626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发送窗口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9550" y="2997200"/>
            <a:ext cx="2044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允许连续发送的数据范围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280650" y="2158365"/>
            <a:ext cx="1714500" cy="643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接收窗口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93350" y="2997200"/>
            <a:ext cx="1689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允许接收的数据范围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5400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0" name="Text 7"/>
          <p:cNvSpPr/>
          <p:nvPr/>
        </p:nvSpPr>
        <p:spPr>
          <a:xfrm>
            <a:off x="20320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42748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2" name="Text 9"/>
          <p:cNvSpPr/>
          <p:nvPr/>
        </p:nvSpPr>
        <p:spPr>
          <a:xfrm>
            <a:off x="137668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0096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4" name="Text 11"/>
          <p:cNvSpPr/>
          <p:nvPr/>
        </p:nvSpPr>
        <p:spPr>
          <a:xfrm>
            <a:off x="255016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7444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6" name="Text 13"/>
          <p:cNvSpPr/>
          <p:nvPr/>
        </p:nvSpPr>
        <p:spPr>
          <a:xfrm>
            <a:off x="372364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94792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8" name="Text 15"/>
          <p:cNvSpPr/>
          <p:nvPr/>
        </p:nvSpPr>
        <p:spPr>
          <a:xfrm>
            <a:off x="489712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140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0" name="Text 17"/>
          <p:cNvSpPr/>
          <p:nvPr/>
        </p:nvSpPr>
        <p:spPr>
          <a:xfrm>
            <a:off x="607060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29488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2" name="Text 19"/>
          <p:cNvSpPr/>
          <p:nvPr/>
        </p:nvSpPr>
        <p:spPr>
          <a:xfrm>
            <a:off x="724408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46836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24" name="Text 21"/>
          <p:cNvSpPr/>
          <p:nvPr/>
        </p:nvSpPr>
        <p:spPr>
          <a:xfrm>
            <a:off x="841756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4184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26" name="Text 23"/>
          <p:cNvSpPr/>
          <p:nvPr/>
        </p:nvSpPr>
        <p:spPr>
          <a:xfrm>
            <a:off x="959104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815320" y="3454400"/>
            <a:ext cx="1117600" cy="1219200"/>
          </a:xfrm>
          <a:custGeom>
            <a:avLst/>
            <a:gdLst/>
            <a:ahLst/>
            <a:cxnLst/>
            <a:rect l="l" t="t" r="r" b="b"/>
            <a:pathLst>
              <a:path w="1117600" h="1219200">
                <a:moveTo>
                  <a:pt x="50795" y="0"/>
                </a:moveTo>
                <a:lnTo>
                  <a:pt x="1066805" y="0"/>
                </a:lnTo>
                <a:cubicBezTo>
                  <a:pt x="1094858" y="0"/>
                  <a:pt x="1117600" y="22742"/>
                  <a:pt x="1117600" y="50795"/>
                </a:cubicBezTo>
                <a:lnTo>
                  <a:pt x="1117600" y="1168405"/>
                </a:lnTo>
                <a:cubicBezTo>
                  <a:pt x="1117600" y="1196458"/>
                  <a:pt x="1094858" y="1219200"/>
                  <a:pt x="1066805" y="1219200"/>
                </a:cubicBezTo>
                <a:lnTo>
                  <a:pt x="50795" y="1219200"/>
                </a:lnTo>
                <a:cubicBezTo>
                  <a:pt x="22742" y="1219200"/>
                  <a:pt x="0" y="1196458"/>
                  <a:pt x="0" y="11684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E5E7EB"/>
          </a:solidFill>
        </p:spPr>
      </p:sp>
      <p:sp>
        <p:nvSpPr>
          <p:cNvPr id="28" name="Text 25"/>
          <p:cNvSpPr/>
          <p:nvPr/>
        </p:nvSpPr>
        <p:spPr>
          <a:xfrm>
            <a:off x="10764520" y="345440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54000" y="4775200"/>
            <a:ext cx="1155700" cy="588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已发送并确认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76650" y="4775200"/>
            <a:ext cx="1572260" cy="588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已发送未确认 (发送窗口)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981950" y="4775200"/>
            <a:ext cx="800100" cy="588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允许发送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1049000" y="4775200"/>
            <a:ext cx="977900" cy="608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不允许发送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09550" y="6038850"/>
            <a:ext cx="11772900" cy="565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窗口大小由接收方通告，实现流量控制。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6" grpId="0"/>
      <p:bldP spid="6" grpId="1"/>
      <p:bldP spid="33" grpId="0"/>
      <p:bldP spid="33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流量与拥塞双控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379095"/>
            <a:ext cx="5765800" cy="1026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流量控制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4000" y="1203960"/>
            <a:ext cx="5689600" cy="675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接收方说了算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2009140"/>
            <a:ext cx="5638800" cy="1140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流量控制的目的是让发送方的发送速率不要太快，要使接收方来得及接收。其核心机制是利用滑动窗口中的“窗口”字段。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3403441"/>
            <a:ext cx="190500" cy="203200"/>
          </a:xfrm>
          <a:custGeom>
            <a:avLst/>
            <a:gdLst/>
            <a:ahLst/>
            <a:cxnLst/>
            <a:rect l="l" t="t" r="r" b="b"/>
            <a:pathLst>
              <a:path w="190500" h="2032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286385" y="3423920"/>
            <a:ext cx="5608320" cy="758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接收方通过确认报文中的“窗口”字段，告知发送方自己还能接收多少数据。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54000" y="4165441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/>
            </a:pathLst>
          </a:custGeom>
          <a:solidFill>
            <a:srgbClr val="4A90E2"/>
          </a:solidFill>
        </p:spPr>
      </p:sp>
      <p:sp>
        <p:nvSpPr>
          <p:cNvPr id="9" name="Text 6"/>
          <p:cNvSpPr/>
          <p:nvPr/>
        </p:nvSpPr>
        <p:spPr>
          <a:xfrm>
            <a:off x="286385" y="4297680"/>
            <a:ext cx="5610225" cy="927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发送方根据接收方告知的窗口大小，动态调整自己的发送窗口。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54000" y="4927441"/>
            <a:ext cx="165100" cy="203200"/>
          </a:xfrm>
          <a:custGeom>
            <a:avLst/>
            <a:gdLst/>
            <a:ahLst/>
            <a:cxnLst/>
            <a:rect l="l" t="t" r="r" b="b"/>
            <a:pathLst>
              <a:path w="165100" h="203200"/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254000" y="5130800"/>
            <a:ext cx="5643880" cy="862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当接收方窗口为0时，发送方停止发送，并通过</a:t>
            </a:r>
            <a:r>
              <a:rPr lang="en-US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持续计时器 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</a:t>
            </a:r>
            <a:r>
              <a:rPr lang="en-US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窗口探测报文 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防止死锁。</a:t>
            </a:r>
            <a:endParaRPr lang="en-US" dirty="0"/>
          </a:p>
        </p:txBody>
      </p:sp>
      <p:pic>
        <p:nvPicPr>
          <p:cNvPr id="12" name="图片 1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870" y="424180"/>
            <a:ext cx="6017260" cy="6198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  <p:bldP spid="9" grpId="0"/>
      <p:bldP spid="9" grpId="1"/>
      <p:bldP spid="11" grpId="0"/>
      <p:bldP spid="1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725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拥塞控制：网络拥堵的减速带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978535"/>
            <a:ext cx="117983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防止过多的数据注入网络，避免网络中的路由器或链路过载。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9700" y="2971800"/>
            <a:ext cx="252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慢开始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2873851" y="2946400"/>
            <a:ext cx="7251700" cy="406400"/>
          </a:xfrm>
          <a:custGeom>
            <a:avLst/>
            <a:gdLst/>
            <a:ahLst/>
            <a:cxnLst/>
            <a:rect l="l" t="t" r="r" b="b"/>
            <a:pathLst>
              <a:path w="7251700" h="406400">
                <a:moveTo>
                  <a:pt x="203200" y="0"/>
                </a:moveTo>
                <a:lnTo>
                  <a:pt x="7048500" y="0"/>
                </a:lnTo>
                <a:cubicBezTo>
                  <a:pt x="7160649" y="0"/>
                  <a:pt x="7251700" y="91051"/>
                  <a:pt x="7251700" y="203200"/>
                </a:cubicBezTo>
                <a:lnTo>
                  <a:pt x="7251700" y="203200"/>
                </a:lnTo>
                <a:cubicBezTo>
                  <a:pt x="7251700" y="315349"/>
                  <a:pt x="7160649" y="406400"/>
                  <a:pt x="70485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2873851" y="2946400"/>
            <a:ext cx="1816100" cy="406400"/>
          </a:xfrm>
          <a:custGeom>
            <a:avLst/>
            <a:gdLst/>
            <a:ahLst/>
            <a:cxnLst/>
            <a:rect l="l" t="t" r="r" b="b"/>
            <a:pathLst>
              <a:path w="1816100" h="406400">
                <a:moveTo>
                  <a:pt x="203200" y="0"/>
                </a:moveTo>
                <a:lnTo>
                  <a:pt x="1816100" y="0"/>
                </a:lnTo>
                <a:lnTo>
                  <a:pt x="1816100" y="406400"/>
                </a:ln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4686300" y="2946400"/>
            <a:ext cx="1816100" cy="406400"/>
          </a:xfrm>
          <a:custGeom>
            <a:avLst/>
            <a:gdLst/>
            <a:ahLst/>
            <a:cxnLst/>
            <a:rect l="l" t="t" r="r" b="b"/>
            <a:pathLst>
              <a:path w="1816100" h="406400">
                <a:moveTo>
                  <a:pt x="0" y="0"/>
                </a:moveTo>
                <a:lnTo>
                  <a:pt x="1816100" y="0"/>
                </a:lnTo>
                <a:lnTo>
                  <a:pt x="18161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6498749" y="2946400"/>
            <a:ext cx="1816100" cy="406400"/>
          </a:xfrm>
          <a:custGeom>
            <a:avLst/>
            <a:gdLst/>
            <a:ahLst/>
            <a:cxnLst/>
            <a:rect l="l" t="t" r="r" b="b"/>
            <a:pathLst>
              <a:path w="1816100" h="406400">
                <a:moveTo>
                  <a:pt x="0" y="0"/>
                </a:moveTo>
                <a:lnTo>
                  <a:pt x="1816100" y="0"/>
                </a:lnTo>
                <a:lnTo>
                  <a:pt x="18161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8311197" y="2946400"/>
            <a:ext cx="1816100" cy="406400"/>
          </a:xfrm>
          <a:custGeom>
            <a:avLst/>
            <a:gdLst/>
            <a:ahLst/>
            <a:cxnLst/>
            <a:rect l="l" t="t" r="r" b="b"/>
            <a:pathLst>
              <a:path w="1816100" h="406400">
                <a:moveTo>
                  <a:pt x="0" y="0"/>
                </a:moveTo>
                <a:lnTo>
                  <a:pt x="1612900" y="0"/>
                </a:lnTo>
                <a:cubicBezTo>
                  <a:pt x="1725049" y="0"/>
                  <a:pt x="1816100" y="91051"/>
                  <a:pt x="1816100" y="203200"/>
                </a:cubicBezTo>
                <a:lnTo>
                  <a:pt x="1816100" y="203200"/>
                </a:lnTo>
                <a:cubicBezTo>
                  <a:pt x="1816100" y="315349"/>
                  <a:pt x="1725049" y="406400"/>
                  <a:pt x="1612900" y="406400"/>
                </a:cubicBez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10327005" y="30226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指数增长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39700" y="3581400"/>
            <a:ext cx="252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拥塞避免</a:t>
            </a:r>
            <a:endParaRPr lang="en-US" sz="240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2873851" y="3556000"/>
            <a:ext cx="7251700" cy="406400"/>
          </a:xfrm>
          <a:custGeom>
            <a:avLst/>
            <a:gdLst/>
            <a:ahLst/>
            <a:cxnLst/>
            <a:rect l="l" t="t" r="r" b="b"/>
            <a:pathLst>
              <a:path w="7251700" h="406400">
                <a:moveTo>
                  <a:pt x="203200" y="0"/>
                </a:moveTo>
                <a:lnTo>
                  <a:pt x="7048500" y="0"/>
                </a:lnTo>
                <a:cubicBezTo>
                  <a:pt x="7160649" y="0"/>
                  <a:pt x="7251700" y="91051"/>
                  <a:pt x="7251700" y="203200"/>
                </a:cubicBezTo>
                <a:lnTo>
                  <a:pt x="7251700" y="203200"/>
                </a:lnTo>
                <a:cubicBezTo>
                  <a:pt x="7251700" y="315349"/>
                  <a:pt x="7160649" y="406400"/>
                  <a:pt x="70485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2873851" y="3556000"/>
            <a:ext cx="7251700" cy="406400"/>
          </a:xfrm>
          <a:custGeom>
            <a:avLst/>
            <a:gdLst/>
            <a:ahLst/>
            <a:cxnLst/>
            <a:rect l="l" t="t" r="r" b="b"/>
            <a:pathLst>
              <a:path w="7251700" h="406400">
                <a:moveTo>
                  <a:pt x="203200" y="0"/>
                </a:moveTo>
                <a:lnTo>
                  <a:pt x="7048500" y="0"/>
                </a:lnTo>
                <a:cubicBezTo>
                  <a:pt x="7160649" y="0"/>
                  <a:pt x="7251700" y="91051"/>
                  <a:pt x="7251700" y="203200"/>
                </a:cubicBezTo>
                <a:lnTo>
                  <a:pt x="7251700" y="203200"/>
                </a:lnTo>
                <a:cubicBezTo>
                  <a:pt x="7251700" y="315349"/>
                  <a:pt x="7160649" y="406400"/>
                  <a:pt x="70485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0327005" y="36322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线性增长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9700" y="4191000"/>
            <a:ext cx="252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快重传</a:t>
            </a:r>
            <a:endParaRPr lang="en-US" sz="2400" dirty="0"/>
          </a:p>
        </p:txBody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2873851" y="4165600"/>
            <a:ext cx="7251700" cy="406400"/>
          </a:xfrm>
          <a:custGeom>
            <a:avLst/>
            <a:gdLst/>
            <a:ahLst/>
            <a:cxnLst/>
            <a:rect l="l" t="t" r="r" b="b"/>
            <a:pathLst>
              <a:path w="7251700" h="406400">
                <a:moveTo>
                  <a:pt x="203200" y="0"/>
                </a:moveTo>
                <a:lnTo>
                  <a:pt x="7048500" y="0"/>
                </a:lnTo>
                <a:cubicBezTo>
                  <a:pt x="7160649" y="0"/>
                  <a:pt x="7251700" y="91051"/>
                  <a:pt x="7251700" y="203200"/>
                </a:cubicBezTo>
                <a:lnTo>
                  <a:pt x="7251700" y="203200"/>
                </a:lnTo>
                <a:cubicBezTo>
                  <a:pt x="7251700" y="315349"/>
                  <a:pt x="7160649" y="406400"/>
                  <a:pt x="70485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8" name="Shape 15"/>
          <p:cNvSpPr/>
          <p:nvPr>
            <p:custDataLst>
              <p:tags r:id="rId12"/>
            </p:custDataLst>
          </p:nvPr>
        </p:nvSpPr>
        <p:spPr>
          <a:xfrm>
            <a:off x="2873851" y="4165600"/>
            <a:ext cx="2413000" cy="406400"/>
          </a:xfrm>
          <a:custGeom>
            <a:avLst/>
            <a:gdLst/>
            <a:ahLst/>
            <a:cxnLst/>
            <a:rect l="l" t="t" r="r" b="b"/>
            <a:pathLst>
              <a:path w="2413000" h="406400">
                <a:moveTo>
                  <a:pt x="203200" y="0"/>
                </a:moveTo>
                <a:lnTo>
                  <a:pt x="2413000" y="0"/>
                </a:lnTo>
                <a:lnTo>
                  <a:pt x="2413000" y="406400"/>
                </a:ln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9" name="Shape 16"/>
          <p:cNvSpPr/>
          <p:nvPr>
            <p:custDataLst>
              <p:tags r:id="rId13"/>
            </p:custDataLst>
          </p:nvPr>
        </p:nvSpPr>
        <p:spPr>
          <a:xfrm>
            <a:off x="5290503" y="4165600"/>
            <a:ext cx="2413000" cy="406400"/>
          </a:xfrm>
          <a:custGeom>
            <a:avLst/>
            <a:gdLst/>
            <a:ahLst/>
            <a:cxnLst/>
            <a:rect l="l" t="t" r="r" b="b"/>
            <a:pathLst>
              <a:path w="2413000" h="406400">
                <a:moveTo>
                  <a:pt x="0" y="0"/>
                </a:moveTo>
                <a:lnTo>
                  <a:pt x="2413000" y="0"/>
                </a:lnTo>
                <a:lnTo>
                  <a:pt x="2413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</p:spPr>
      </p:sp>
      <p:sp>
        <p:nvSpPr>
          <p:cNvPr id="20" name="Shape 17"/>
          <p:cNvSpPr/>
          <p:nvPr>
            <p:custDataLst>
              <p:tags r:id="rId14"/>
            </p:custDataLst>
          </p:nvPr>
        </p:nvSpPr>
        <p:spPr>
          <a:xfrm>
            <a:off x="7707154" y="4165600"/>
            <a:ext cx="2413000" cy="406400"/>
          </a:xfrm>
          <a:custGeom>
            <a:avLst/>
            <a:gdLst/>
            <a:ahLst/>
            <a:cxnLst/>
            <a:rect l="l" t="t" r="r" b="b"/>
            <a:pathLst>
              <a:path w="2413000" h="406400">
                <a:moveTo>
                  <a:pt x="0" y="0"/>
                </a:moveTo>
                <a:lnTo>
                  <a:pt x="2209800" y="0"/>
                </a:lnTo>
                <a:cubicBezTo>
                  <a:pt x="2321949" y="0"/>
                  <a:pt x="2413000" y="91051"/>
                  <a:pt x="2413000" y="203200"/>
                </a:cubicBezTo>
                <a:lnTo>
                  <a:pt x="2413000" y="203200"/>
                </a:lnTo>
                <a:cubicBezTo>
                  <a:pt x="2413000" y="315349"/>
                  <a:pt x="2321949" y="406400"/>
                  <a:pt x="2209800" y="406400"/>
                </a:cubicBez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10327005" y="42418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立即重传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39700" y="4800600"/>
            <a:ext cx="252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快恢复</a:t>
            </a:r>
            <a:endParaRPr lang="en-US" sz="2400" dirty="0"/>
          </a:p>
        </p:txBody>
      </p:sp>
      <p:sp>
        <p:nvSpPr>
          <p:cNvPr id="23" name="Shape 20"/>
          <p:cNvSpPr/>
          <p:nvPr>
            <p:custDataLst>
              <p:tags r:id="rId16"/>
            </p:custDataLst>
          </p:nvPr>
        </p:nvSpPr>
        <p:spPr>
          <a:xfrm>
            <a:off x="2873851" y="4775200"/>
            <a:ext cx="7251700" cy="406400"/>
          </a:xfrm>
          <a:custGeom>
            <a:avLst/>
            <a:gdLst/>
            <a:ahLst/>
            <a:cxnLst/>
            <a:rect l="l" t="t" r="r" b="b"/>
            <a:pathLst>
              <a:path w="7251700" h="406400">
                <a:moveTo>
                  <a:pt x="203200" y="0"/>
                </a:moveTo>
                <a:lnTo>
                  <a:pt x="7048500" y="0"/>
                </a:lnTo>
                <a:cubicBezTo>
                  <a:pt x="7160649" y="0"/>
                  <a:pt x="7251700" y="91051"/>
                  <a:pt x="7251700" y="203200"/>
                </a:cubicBezTo>
                <a:lnTo>
                  <a:pt x="7251700" y="203200"/>
                </a:lnTo>
                <a:cubicBezTo>
                  <a:pt x="7251700" y="315349"/>
                  <a:pt x="7160649" y="406400"/>
                  <a:pt x="70485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4" name="Shape 21"/>
          <p:cNvSpPr/>
          <p:nvPr>
            <p:custDataLst>
              <p:tags r:id="rId17"/>
            </p:custDataLst>
          </p:nvPr>
        </p:nvSpPr>
        <p:spPr>
          <a:xfrm>
            <a:off x="2873851" y="4775200"/>
            <a:ext cx="3619500" cy="406400"/>
          </a:xfrm>
          <a:custGeom>
            <a:avLst/>
            <a:gdLst/>
            <a:ahLst/>
            <a:cxnLst/>
            <a:rect l="l" t="t" r="r" b="b"/>
            <a:pathLst>
              <a:path w="3619500" h="406400">
                <a:moveTo>
                  <a:pt x="203200" y="0"/>
                </a:moveTo>
                <a:lnTo>
                  <a:pt x="3619500" y="0"/>
                </a:lnTo>
                <a:lnTo>
                  <a:pt x="3619500" y="406400"/>
                </a:ln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25" name="Shape 22"/>
          <p:cNvSpPr/>
          <p:nvPr>
            <p:custDataLst>
              <p:tags r:id="rId18"/>
            </p:custDataLst>
          </p:nvPr>
        </p:nvSpPr>
        <p:spPr>
          <a:xfrm>
            <a:off x="6498749" y="4775200"/>
            <a:ext cx="3619500" cy="406400"/>
          </a:xfrm>
          <a:custGeom>
            <a:avLst/>
            <a:gdLst/>
            <a:ahLst/>
            <a:cxnLst/>
            <a:rect l="l" t="t" r="r" b="b"/>
            <a:pathLst>
              <a:path w="3619500" h="406400">
                <a:moveTo>
                  <a:pt x="0" y="0"/>
                </a:moveTo>
                <a:lnTo>
                  <a:pt x="3416300" y="0"/>
                </a:lnTo>
                <a:cubicBezTo>
                  <a:pt x="3528449" y="0"/>
                  <a:pt x="3619500" y="91051"/>
                  <a:pt x="3619500" y="203200"/>
                </a:cubicBezTo>
                <a:lnTo>
                  <a:pt x="3619500" y="203200"/>
                </a:lnTo>
                <a:cubicBezTo>
                  <a:pt x="3619500" y="315349"/>
                  <a:pt x="3528449" y="406400"/>
                  <a:pt x="3416300" y="406400"/>
                </a:cubicBez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26" name="Text 23"/>
          <p:cNvSpPr/>
          <p:nvPr>
            <p:custDataLst>
              <p:tags r:id="rId19"/>
            </p:custDataLst>
          </p:nvPr>
        </p:nvSpPr>
        <p:spPr>
          <a:xfrm>
            <a:off x="10327005" y="4851400"/>
            <a:ext cx="170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乘法减小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连接生死与协议对比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三次握手：同步与防旧的博弈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863600"/>
            <a:ext cx="11798300" cy="1168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确保双方收发能力正常，并同步初始序列号，防止历史重复连接请求造成混乱。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447268" y="2665280"/>
            <a:ext cx="1227388" cy="1227388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889479" y="3074409"/>
            <a:ext cx="345203" cy="4091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67085" y="3994950"/>
            <a:ext cx="1155151" cy="4922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客户端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89865" y="4531877"/>
            <a:ext cx="1596556" cy="5805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SYN=1, seq=x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1776938" y="3585821"/>
            <a:ext cx="3375317" cy="51141"/>
          </a:xfrm>
          <a:custGeom>
            <a:avLst/>
            <a:gdLst/>
            <a:ahLst/>
            <a:cxnLst/>
            <a:rect l="l" t="t" r="r" b="b"/>
            <a:pathLst>
              <a:path w="3352800" h="50800">
                <a:moveTo>
                  <a:pt x="0" y="0"/>
                </a:moveTo>
                <a:lnTo>
                  <a:pt x="3352800" y="0"/>
                </a:lnTo>
                <a:lnTo>
                  <a:pt x="335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5320222" y="2537427"/>
            <a:ext cx="1227388" cy="1227388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5762434" y="2946556"/>
            <a:ext cx="345203" cy="4091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5320030" y="3867150"/>
            <a:ext cx="1228090" cy="511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服务器</a:t>
            </a:r>
            <a:endParaRPr lang="en-US" sz="240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5135245" y="4406265"/>
            <a:ext cx="1612265" cy="707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SYN=1, ACK=1</a:t>
            </a:r>
            <a:endParaRPr lang="en-US" dirty="0"/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seq=y, ack=x+1</a:t>
            </a:r>
            <a:endParaRPr lang="en-US" dirty="0"/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6721171" y="3585821"/>
            <a:ext cx="3375317" cy="51141"/>
          </a:xfrm>
          <a:custGeom>
            <a:avLst/>
            <a:gdLst/>
            <a:ahLst/>
            <a:cxnLst/>
            <a:rect l="l" t="t" r="r" b="b"/>
            <a:pathLst>
              <a:path w="3352800" h="50800">
                <a:moveTo>
                  <a:pt x="0" y="0"/>
                </a:moveTo>
                <a:lnTo>
                  <a:pt x="3352800" y="0"/>
                </a:lnTo>
                <a:lnTo>
                  <a:pt x="335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10383197" y="2537427"/>
            <a:ext cx="1227388" cy="1227388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10825410" y="2946556"/>
            <a:ext cx="345203" cy="4091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10246360" y="3867150"/>
            <a:ext cx="161544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客户端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10022205" y="4368800"/>
            <a:ext cx="2011045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ACK=1</a:t>
            </a:r>
            <a:endParaRPr lang="en-US" dirty="0"/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seq=x+1, ack=y+1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254000" y="5359400"/>
            <a:ext cx="11684000" cy="1244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0" name="Text 17"/>
          <p:cNvSpPr/>
          <p:nvPr/>
        </p:nvSpPr>
        <p:spPr>
          <a:xfrm>
            <a:off x="355600" y="5512435"/>
            <a:ext cx="11480800" cy="939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通过三次交互，双方各自确认了对方的发送和接收能力，并同步了初始序列号。第三次握手可以</a:t>
            </a:r>
            <a:r>
              <a:rPr lang="en-US" sz="2400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捎带数据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，提高效率。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20" grpId="0"/>
      <p:bldP spid="20" grpId="1"/>
      <p:bldP spid="7" grpId="0"/>
      <p:bldP spid="7" grpId="1"/>
      <p:bldP spid="8" grpId="0"/>
      <p:bldP spid="8" grpId="1"/>
      <p:bldP spid="12" grpId="0"/>
      <p:bldP spid="12" grpId="1"/>
      <p:bldP spid="13" grpId="0"/>
      <p:bldP spid="13" grpId="1"/>
      <p:bldP spid="17" grpId="0"/>
      <p:bldP spid="17" grpId="1"/>
      <p:bldP spid="18" grpId="0"/>
      <p:bldP spid="1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四次挥手：双向关断的优雅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1328420"/>
            <a:ext cx="11798300" cy="1148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TCP连接是全双工的，每个方向都必须单独关闭，确保数据完全传输完毕。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35814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54000" y="2743200"/>
            <a:ext cx="1219200" cy="2099310"/>
          </a:xfrm>
          <a:custGeom>
            <a:avLst/>
            <a:gdLst/>
            <a:ahLst/>
            <a:cxnLst/>
            <a:rect l="l" t="t" r="r" b="b"/>
            <a:pathLst>
              <a:path w="1219200" h="1727200">
                <a:moveTo>
                  <a:pt x="0" y="0"/>
                </a:moveTo>
                <a:lnTo>
                  <a:pt x="1219200" y="0"/>
                </a:lnTo>
                <a:lnTo>
                  <a:pt x="12192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355600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93261" y="30480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254000" y="3860800"/>
            <a:ext cx="1240155" cy="967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主动方</a:t>
            </a:r>
            <a:endParaRPr lang="en-US" sz="2000" dirty="0"/>
          </a:p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FIN</a:t>
            </a:r>
            <a:endParaRPr lang="en-US" sz="200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3742055" y="2743200"/>
            <a:ext cx="1219200" cy="2052320"/>
          </a:xfrm>
          <a:custGeom>
            <a:avLst/>
            <a:gdLst/>
            <a:ahLst/>
            <a:cxnLst/>
            <a:rect l="l" t="t" r="r" b="b"/>
            <a:pathLst>
              <a:path w="1219200" h="1727200">
                <a:moveTo>
                  <a:pt x="0" y="0"/>
                </a:moveTo>
                <a:lnTo>
                  <a:pt x="1219200" y="0"/>
                </a:lnTo>
                <a:lnTo>
                  <a:pt x="12192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3843814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4181475" y="30480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3770630" y="3860800"/>
            <a:ext cx="1178560" cy="902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被动方</a:t>
            </a:r>
            <a:endParaRPr lang="en-US" sz="2000" dirty="0"/>
          </a:p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ACK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7230745" y="2743200"/>
            <a:ext cx="1219200" cy="2100580"/>
          </a:xfrm>
          <a:custGeom>
            <a:avLst/>
            <a:gdLst/>
            <a:ahLst/>
            <a:cxnLst/>
            <a:rect l="l" t="t" r="r" b="b"/>
            <a:pathLst>
              <a:path w="1219200" h="1727200">
                <a:moveTo>
                  <a:pt x="0" y="0"/>
                </a:moveTo>
                <a:lnTo>
                  <a:pt x="1219200" y="0"/>
                </a:lnTo>
                <a:lnTo>
                  <a:pt x="12192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7332028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7669689" y="30480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7294245" y="3860800"/>
            <a:ext cx="1075055" cy="892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被动方</a:t>
            </a:r>
            <a:endParaRPr lang="en-US" sz="2000" dirty="0"/>
          </a:p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FIN</a:t>
            </a:r>
            <a:endParaRPr lang="en-US" sz="2000" dirty="0"/>
          </a:p>
        </p:txBody>
      </p:sp>
      <p:sp>
        <p:nvSpPr>
          <p:cNvPr id="18" name="Shape 15"/>
          <p:cNvSpPr/>
          <p:nvPr>
            <p:custDataLst>
              <p:tags r:id="rId15"/>
            </p:custDataLst>
          </p:nvPr>
        </p:nvSpPr>
        <p:spPr>
          <a:xfrm>
            <a:off x="10718800" y="2743200"/>
            <a:ext cx="1219200" cy="2099945"/>
          </a:xfrm>
          <a:custGeom>
            <a:avLst/>
            <a:gdLst/>
            <a:ahLst/>
            <a:cxnLst/>
            <a:rect l="l" t="t" r="r" b="b"/>
            <a:pathLst>
              <a:path w="1219200" h="1727200">
                <a:moveTo>
                  <a:pt x="0" y="0"/>
                </a:moveTo>
                <a:lnTo>
                  <a:pt x="1219200" y="0"/>
                </a:lnTo>
                <a:lnTo>
                  <a:pt x="12192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6"/>
          <p:cNvSpPr/>
          <p:nvPr>
            <p:custDataLst>
              <p:tags r:id="rId16"/>
            </p:custDataLst>
          </p:nvPr>
        </p:nvSpPr>
        <p:spPr>
          <a:xfrm>
            <a:off x="10820241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11157903" y="30480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8"/>
            </p:custDataLst>
          </p:nvPr>
        </p:nvSpPr>
        <p:spPr>
          <a:xfrm>
            <a:off x="10738485" y="3860800"/>
            <a:ext cx="1191895" cy="934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主动方</a:t>
            </a:r>
            <a:endParaRPr lang="en-US" sz="2000" dirty="0"/>
          </a:p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ACK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54000" y="5371465"/>
            <a:ext cx="11684000" cy="1232535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3" name="Text 20"/>
          <p:cNvSpPr/>
          <p:nvPr/>
        </p:nvSpPr>
        <p:spPr>
          <a:xfrm>
            <a:off x="355600" y="5619115"/>
            <a:ext cx="11480800" cy="832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主动方在发送最后一个ACK后，需等待</a:t>
            </a:r>
            <a:r>
              <a:rPr lang="en-US" sz="2400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2MSL (最长报文段寿命)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时间，确保该ACK能到达被动方，并防止旧报文干扰新连接。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13" grpId="0"/>
      <p:bldP spid="13" grpId="1"/>
      <p:bldP spid="9" grpId="0"/>
      <p:bldP spid="9" grpId="1"/>
      <p:bldP spid="17" grpId="0"/>
      <p:bldP spid="17" grpId="1"/>
      <p:bldP spid="21" grpId="0"/>
      <p:bldP spid="2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 vs TCP: 简洁与复杂的对望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1066800"/>
            <a:ext cx="5842000" cy="5537200"/>
          </a:xfrm>
          <a:custGeom>
            <a:avLst/>
            <a:gdLst/>
            <a:ahLst/>
            <a:cxnLst/>
            <a:rect l="l" t="t" r="r" b="b"/>
            <a:pathLst>
              <a:path w="5842000" h="5537200">
                <a:moveTo>
                  <a:pt x="152384" y="0"/>
                </a:moveTo>
                <a:lnTo>
                  <a:pt x="5842000" y="0"/>
                </a:lnTo>
                <a:lnTo>
                  <a:pt x="5842000" y="5537200"/>
                </a:lnTo>
                <a:lnTo>
                  <a:pt x="152384" y="5537200"/>
                </a:lnTo>
                <a:cubicBezTo>
                  <a:pt x="68225" y="5537200"/>
                  <a:pt x="0" y="5468975"/>
                  <a:pt x="0" y="5384816"/>
                </a:cubicBezTo>
                <a:lnTo>
                  <a:pt x="0" y="152384"/>
                </a:lnTo>
                <a:cubicBezTo>
                  <a:pt x="0" y="68281"/>
                  <a:pt x="68281" y="0"/>
                  <a:pt x="152384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5" name="Text 2"/>
          <p:cNvSpPr/>
          <p:nvPr/>
        </p:nvSpPr>
        <p:spPr>
          <a:xfrm>
            <a:off x="463550" y="1371600"/>
            <a:ext cx="5422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8800" y="20828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914400" y="2052320"/>
            <a:ext cx="1991995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无连接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58800" y="2540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4A90E2"/>
          </a:solidFill>
        </p:spPr>
      </p:sp>
      <p:sp>
        <p:nvSpPr>
          <p:cNvPr id="9" name="Text 6"/>
          <p:cNvSpPr/>
          <p:nvPr/>
        </p:nvSpPr>
        <p:spPr>
          <a:xfrm>
            <a:off x="914400" y="2489200"/>
            <a:ext cx="2168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不可靠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交付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58800" y="29972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914400" y="2966720"/>
            <a:ext cx="1653540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面向报文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58800" y="34544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4A90E2"/>
          </a:solidFill>
        </p:spPr>
      </p:sp>
      <p:sp>
        <p:nvSpPr>
          <p:cNvPr id="13" name="Text 10"/>
          <p:cNvSpPr/>
          <p:nvPr/>
        </p:nvSpPr>
        <p:spPr>
          <a:xfrm>
            <a:off x="914400" y="3403600"/>
            <a:ext cx="21488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无控制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机制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558800" y="3911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4A90E2"/>
          </a:solidFill>
        </p:spPr>
      </p:sp>
      <p:sp>
        <p:nvSpPr>
          <p:cNvPr id="15" name="Text 12"/>
          <p:cNvSpPr/>
          <p:nvPr/>
        </p:nvSpPr>
        <p:spPr>
          <a:xfrm>
            <a:off x="914400" y="3860800"/>
            <a:ext cx="218821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首部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8字节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58800" y="43688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4A90E2"/>
          </a:solidFill>
        </p:spPr>
      </p:sp>
      <p:sp>
        <p:nvSpPr>
          <p:cNvPr id="17" name="Text 14"/>
          <p:cNvSpPr/>
          <p:nvPr/>
        </p:nvSpPr>
        <p:spPr>
          <a:xfrm>
            <a:off x="914400" y="4318000"/>
            <a:ext cx="2520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实时应用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096000" y="1066800"/>
            <a:ext cx="5842000" cy="5537200"/>
          </a:xfrm>
          <a:custGeom>
            <a:avLst/>
            <a:gdLst/>
            <a:ahLst/>
            <a:cxnLst/>
            <a:rect l="l" t="t" r="r" b="b"/>
            <a:pathLst>
              <a:path w="5842000" h="5537200">
                <a:moveTo>
                  <a:pt x="0" y="0"/>
                </a:moveTo>
                <a:lnTo>
                  <a:pt x="5689616" y="0"/>
                </a:lnTo>
                <a:cubicBezTo>
                  <a:pt x="5773775" y="0"/>
                  <a:pt x="5842000" y="68225"/>
                  <a:pt x="5842000" y="152384"/>
                </a:cubicBezTo>
                <a:lnTo>
                  <a:pt x="5842000" y="5384816"/>
                </a:lnTo>
                <a:cubicBezTo>
                  <a:pt x="5842000" y="5468975"/>
                  <a:pt x="5773775" y="5537200"/>
                  <a:pt x="5689616" y="5537200"/>
                </a:cubicBezTo>
                <a:lnTo>
                  <a:pt x="0" y="5537200"/>
                </a:lnTo>
                <a:lnTo>
                  <a:pt x="0" y="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19" name="Text 16"/>
          <p:cNvSpPr/>
          <p:nvPr/>
        </p:nvSpPr>
        <p:spPr>
          <a:xfrm>
            <a:off x="6305550" y="1371600"/>
            <a:ext cx="5422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070C0"/>
                </a:solidFill>
                <a:uFillTx/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</a:t>
            </a:r>
            <a:endParaRPr lang="en-US" sz="3000" b="1" dirty="0">
              <a:solidFill>
                <a:srgbClr val="0070C0"/>
              </a:solidFill>
              <a:uFillTx/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400800" y="20828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7484DF"/>
          </a:solidFill>
        </p:spPr>
      </p:sp>
      <p:sp>
        <p:nvSpPr>
          <p:cNvPr id="21" name="Text 18"/>
          <p:cNvSpPr/>
          <p:nvPr/>
        </p:nvSpPr>
        <p:spPr>
          <a:xfrm>
            <a:off x="6756400" y="2052320"/>
            <a:ext cx="2449830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面向连接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400800" y="2540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7484DF"/>
          </a:solidFill>
        </p:spPr>
      </p:sp>
      <p:sp>
        <p:nvSpPr>
          <p:cNvPr id="23" name="Text 20"/>
          <p:cNvSpPr/>
          <p:nvPr/>
        </p:nvSpPr>
        <p:spPr>
          <a:xfrm>
            <a:off x="6756400" y="2489200"/>
            <a:ext cx="269176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可靠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交付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6400800" y="29972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7484DF"/>
          </a:solidFill>
        </p:spPr>
      </p:sp>
      <p:sp>
        <p:nvSpPr>
          <p:cNvPr id="25" name="Text 22"/>
          <p:cNvSpPr/>
          <p:nvPr/>
        </p:nvSpPr>
        <p:spPr>
          <a:xfrm>
            <a:off x="6756400" y="2966720"/>
            <a:ext cx="2883535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面向字节流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6400800" y="34544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7484DF"/>
          </a:solidFill>
        </p:spPr>
      </p:sp>
      <p:sp>
        <p:nvSpPr>
          <p:cNvPr id="27" name="Text 24"/>
          <p:cNvSpPr/>
          <p:nvPr/>
        </p:nvSpPr>
        <p:spPr>
          <a:xfrm>
            <a:off x="6756400" y="3403600"/>
            <a:ext cx="351917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流量/拥塞控制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400800" y="3911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7484DF"/>
          </a:solidFill>
        </p:spPr>
      </p:sp>
      <p:sp>
        <p:nvSpPr>
          <p:cNvPr id="29" name="Text 26"/>
          <p:cNvSpPr/>
          <p:nvPr/>
        </p:nvSpPr>
        <p:spPr>
          <a:xfrm>
            <a:off x="6756400" y="3860800"/>
            <a:ext cx="374459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首部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≥20字节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6400800" y="43688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/>
            </a:pathLst>
          </a:custGeom>
          <a:solidFill>
            <a:srgbClr val="7484DF"/>
          </a:solidFill>
        </p:spPr>
      </p:sp>
      <p:sp>
        <p:nvSpPr>
          <p:cNvPr id="31" name="Text 28"/>
          <p:cNvSpPr/>
          <p:nvPr/>
        </p:nvSpPr>
        <p:spPr>
          <a:xfrm>
            <a:off x="6756400" y="4318000"/>
            <a:ext cx="373189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文件传输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7" grpId="0"/>
      <p:bldP spid="7" grpId="1"/>
      <p:bldP spid="9" grpId="0"/>
      <p:bldP spid="9" grpId="1"/>
      <p:bldP spid="11" grpId="0"/>
      <p:bldP spid="11" grpId="1"/>
      <p:bldP spid="15" grpId="0"/>
      <p:bldP spid="15" grpId="1"/>
      <p:bldP spid="13" grpId="0"/>
      <p:bldP spid="13" grpId="1"/>
      <p:bldP spid="17" grpId="0"/>
      <p:bldP spid="17" grpId="1"/>
      <p:bldP spid="21" grpId="0"/>
      <p:bldP spid="21" grpId="1"/>
      <p:bldP spid="23" grpId="0"/>
      <p:bldP spid="23" grpId="1"/>
      <p:bldP spid="25" grpId="0"/>
      <p:bldP spid="25" grpId="1"/>
      <p:bldP spid="27" grpId="0"/>
      <p:bldP spid="27" grpId="1"/>
      <p:bldP spid="29" grpId="0"/>
      <p:bldP spid="29" grpId="1"/>
      <p:bldP spid="31" grpId="0"/>
      <p:bldP spid="31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本章回顾与展望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54000"/>
            <a:ext cx="11912600" cy="1201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五大要点串起运输层骨架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1455420"/>
            <a:ext cx="11798300" cy="1137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运输层通过一系列精妙机制，为应用层提供了从简单到复杂的端到端通信服务。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112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81075" y="3619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535940" y="4419600"/>
            <a:ext cx="1301115" cy="586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端口寻址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1200" y="5026660"/>
            <a:ext cx="1003300" cy="1020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标识应用进程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86000" y="39116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ADD8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1496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9475" y="3619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2712085" y="4419600"/>
            <a:ext cx="2008505" cy="597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复用分用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086100" y="5041265"/>
            <a:ext cx="1143000" cy="1003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汇聚与分发数据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24400" y="39116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ADD8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880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7875" y="3619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5391785" y="4419600"/>
            <a:ext cx="1396365" cy="547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UDP极简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600700" y="5208270"/>
            <a:ext cx="990600" cy="653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高效、无连接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162800" y="39116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ADD8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264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96275" y="3619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7693025" y="4419600"/>
            <a:ext cx="1602105" cy="534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TCP可靠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962900" y="5208270"/>
            <a:ext cx="1143000" cy="651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可靠、面向连接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9601200" y="3911600"/>
            <a:ext cx="457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ADD8E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4648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734675" y="36195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>
            <a:off x="9964420" y="4419600"/>
            <a:ext cx="2030730" cy="448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双控机制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0401300" y="5207000"/>
            <a:ext cx="1143000" cy="592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流量与拥塞控制</a:t>
            </a:r>
            <a:endParaRPr lang="en-US" dirty="0"/>
          </a:p>
        </p:txBody>
      </p:sp>
      <p:sp>
        <p:nvSpPr>
          <p:cNvPr id="30" name="Text 5"/>
          <p:cNvSpPr/>
          <p:nvPr>
            <p:custDataLst>
              <p:tags r:id="rId2"/>
            </p:custDataLst>
          </p:nvPr>
        </p:nvSpPr>
        <p:spPr>
          <a:xfrm>
            <a:off x="1036161" y="36195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9"/>
          <p:cNvSpPr/>
          <p:nvPr>
            <p:custDataLst>
              <p:tags r:id="rId3"/>
            </p:custDataLst>
          </p:nvPr>
        </p:nvSpPr>
        <p:spPr>
          <a:xfrm>
            <a:off x="3486150" y="36195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9"/>
          <p:cNvSpPr/>
          <p:nvPr>
            <p:custDataLst>
              <p:tags r:id="rId4"/>
            </p:custDataLst>
          </p:nvPr>
        </p:nvSpPr>
        <p:spPr>
          <a:xfrm>
            <a:off x="5924550" y="36195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9"/>
          <p:cNvSpPr/>
          <p:nvPr>
            <p:custDataLst>
              <p:tags r:id="rId5"/>
            </p:custDataLst>
          </p:nvPr>
        </p:nvSpPr>
        <p:spPr>
          <a:xfrm>
            <a:off x="8366125" y="36195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9"/>
          <p:cNvSpPr/>
          <p:nvPr>
            <p:custDataLst>
              <p:tags r:id="rId6"/>
            </p:custDataLst>
          </p:nvPr>
        </p:nvSpPr>
        <p:spPr>
          <a:xfrm>
            <a:off x="10807700" y="3619500"/>
            <a:ext cx="342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2" grpId="0"/>
      <p:bldP spid="12" grpId="1"/>
      <p:bldP spid="17" grpId="0"/>
      <p:bldP spid="17" grpId="1"/>
      <p:bldP spid="22" grpId="0"/>
      <p:bldP spid="22" grpId="1"/>
      <p:bldP spid="27" grpId="0"/>
      <p:bldP spid="27" grpId="1"/>
      <p:bldP spid="8" grpId="0"/>
      <p:bldP spid="8" grpId="1"/>
      <p:bldP spid="13" grpId="0"/>
      <p:bldP spid="13" grpId="1"/>
      <p:bldP spid="18" grpId="0"/>
      <p:bldP spid="18" grpId="1"/>
      <p:bldP spid="23" grpId="0"/>
      <p:bldP spid="23" grpId="1"/>
      <p:bldP spid="28" grpId="0"/>
      <p:bldP spid="2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35585"/>
            <a:ext cx="5765800" cy="1212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从TCP到新传输协议的未来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1651000"/>
            <a:ext cx="5638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随着网络应用的发展，传统TCP的局限性日益凸显，催生了新的传输层协议和技术。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54000" y="2565400"/>
            <a:ext cx="5537200" cy="1829435"/>
          </a:xfrm>
          <a:custGeom>
            <a:avLst/>
            <a:gdLst/>
            <a:ahLst/>
            <a:cxnLst/>
            <a:rect l="l" t="t" r="r" b="b"/>
            <a:pathLst>
              <a:path w="5537200" h="1574800">
                <a:moveTo>
                  <a:pt x="101606" y="0"/>
                </a:moveTo>
                <a:lnTo>
                  <a:pt x="5435594" y="0"/>
                </a:lnTo>
                <a:cubicBezTo>
                  <a:pt x="5491709" y="0"/>
                  <a:pt x="5537200" y="45491"/>
                  <a:pt x="5537200" y="101606"/>
                </a:cubicBezTo>
                <a:lnTo>
                  <a:pt x="5537200" y="1473194"/>
                </a:lnTo>
                <a:cubicBezTo>
                  <a:pt x="5537200" y="1529309"/>
                  <a:pt x="5491709" y="1574800"/>
                  <a:pt x="54355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Text 3"/>
          <p:cNvSpPr/>
          <p:nvPr/>
        </p:nvSpPr>
        <p:spPr>
          <a:xfrm>
            <a:off x="457200" y="2768600"/>
            <a:ext cx="5245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QUIC (Quick UDP Internet Connections)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175000"/>
            <a:ext cx="5219700" cy="1125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基于UDP构建，集成了TLS加密，实现了0-RTT握手、多路复用、前向纠错等新特性，有效解决了TCP的队头阻塞问题，是HTTP/3的底层协议。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54000" y="4545965"/>
            <a:ext cx="5537200" cy="2029460"/>
          </a:xfrm>
          <a:custGeom>
            <a:avLst/>
            <a:gdLst/>
            <a:ahLst/>
            <a:cxnLst/>
            <a:rect l="l" t="t" r="r" b="b"/>
            <a:pathLst>
              <a:path w="5537200" h="1574800">
                <a:moveTo>
                  <a:pt x="101606" y="0"/>
                </a:moveTo>
                <a:lnTo>
                  <a:pt x="5435594" y="0"/>
                </a:lnTo>
                <a:cubicBezTo>
                  <a:pt x="5491709" y="0"/>
                  <a:pt x="5537200" y="45491"/>
                  <a:pt x="5537200" y="101606"/>
                </a:cubicBezTo>
                <a:lnTo>
                  <a:pt x="5537200" y="1473194"/>
                </a:lnTo>
                <a:cubicBezTo>
                  <a:pt x="5537200" y="1529309"/>
                  <a:pt x="5491709" y="1574800"/>
                  <a:pt x="54355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9" name="Text 6"/>
          <p:cNvSpPr/>
          <p:nvPr/>
        </p:nvSpPr>
        <p:spPr>
          <a:xfrm>
            <a:off x="457200" y="4546600"/>
            <a:ext cx="5245100" cy="549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新型拥塞控制算法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5113655"/>
            <a:ext cx="5219700" cy="143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如BBR (Bottleneck Bandwidth and Round-trip propagation time) 算法，不再以丢包作为拥塞信号，而是基于带宽和RTT进行动态调整，更适应现代高速网络。</a:t>
            </a:r>
            <a:endParaRPr lang="en-US" dirty="0"/>
          </a:p>
        </p:txBody>
      </p:sp>
      <p:pic>
        <p:nvPicPr>
          <p:cNvPr id="11" name="图片 10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44475"/>
            <a:ext cx="5883910" cy="2972435"/>
          </a:xfrm>
          <a:prstGeom prst="rect">
            <a:avLst/>
          </a:prstGeom>
        </p:spPr>
      </p:pic>
      <p:pic>
        <p:nvPicPr>
          <p:cNvPr id="12" name="图片 11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502025"/>
            <a:ext cx="5897880" cy="3239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  <p:bldP spid="6" grpId="0"/>
      <p:bldP spid="6" grpId="1"/>
      <p:bldP spid="9" grpId="0"/>
      <p:bldP spid="9" grpId="1"/>
      <p:bldP spid="10" grpId="0"/>
      <p:bldP spid="10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pic>
        <p:nvPicPr>
          <p:cNvPr id="7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856615" y="5604510"/>
            <a:ext cx="5323205" cy="5238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b="1" dirty="0"/>
          </a:p>
        </p:txBody>
      </p:sp>
      <p:sp>
        <p:nvSpPr>
          <p:cNvPr id="10" name="Text 6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汇报日期：2025/12/26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5" grpId="0"/>
      <p:bldP spid="15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2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3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4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5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6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7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8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9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0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1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2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3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4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5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6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7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8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19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20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21.xml><?xml version="1.0" encoding="utf-8"?>
<p:tagLst xmlns:p="http://schemas.openxmlformats.org/presentationml/2006/main">
  <p:tag name="KSO_WM_DIAGRAM_VIRTUALLY_FRAME" val="{&quot;height&quot;:439.65,&quot;left&quot;:359.9,&quot;top&quot;:58.5,&quot;width&quot;:583.35}"/>
</p:tagLst>
</file>

<file path=ppt/tags/tag22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3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4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5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6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7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8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29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0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1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2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3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4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5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6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7.xml><?xml version="1.0" encoding="utf-8"?>
<p:tagLst xmlns:p="http://schemas.openxmlformats.org/presentationml/2006/main">
  <p:tag name="KSO_WM_DIAGRAM_VIRTUALLY_FRAME" val="{&quot;height&quot;:256,&quot;left&quot;:6,&quot;top&quot;:192,&quot;width&quot;:933.95}"/>
</p:tagLst>
</file>

<file path=ppt/tags/tag38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39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0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1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2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3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4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5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6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7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8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49.xml><?xml version="1.0" encoding="utf-8"?>
<p:tagLst xmlns:p="http://schemas.openxmlformats.org/presentationml/2006/main">
  <p:tag name="KSO_WM_DIAGRAM_VIRTUALLY_FRAME" val="{&quot;height&quot;:168,&quot;left&quot;:429.6,&quot;top&quot;:204,&quot;width&quot;:493}"/>
</p:tagLst>
</file>

<file path=ppt/tags/tag50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1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2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3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4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5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6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7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8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59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0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1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2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3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4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5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6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7.xml><?xml version="1.0" encoding="utf-8"?>
<p:tagLst xmlns:p="http://schemas.openxmlformats.org/presentationml/2006/main">
  <p:tag name="KSO_WM_DIAGRAM_VIRTUALLY_FRAME" val="{&quot;height&quot;:176,&quot;left&quot;:226.28748031496062,&quot;top&quot;:232,&quot;width&quot;:720.8625196850394}"/>
</p:tagLst>
</file>

<file path=ppt/tags/tag68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69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0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1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2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3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4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5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6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7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8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79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80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81.xml><?xml version="1.0" encoding="utf-8"?>
<p:tagLst xmlns:p="http://schemas.openxmlformats.org/presentationml/2006/main">
  <p:tag name="KSO_WM_DIAGRAM_VIRTUALLY_FRAME" val="{&quot;height&quot;:204.20258737827166,&quot;left&quot;:9.4,&quot;top&quot;:199.79741262172834,&quot;width&quot;:938.3750393700786}"/>
</p:tagLst>
</file>

<file path=ppt/tags/tag82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3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4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5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6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7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8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89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0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1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2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3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4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5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6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7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8.xml><?xml version="1.0" encoding="utf-8"?>
<p:tagLst xmlns:p="http://schemas.openxmlformats.org/presentationml/2006/main">
  <p:tag name="KSO_WM_DIAGRAM_VIRTUALLY_FRAME" val="{&quot;height&quot;:166,&quot;left&quot;:20,&quot;top&quot;:216,&quot;width&quot;:920}"/>
</p:tagLst>
</file>

<file path=ppt/tags/tag99.xml><?xml version="1.0" encoding="utf-8"?>
<p:tagLst xmlns:p="http://schemas.openxmlformats.org/presentationml/2006/main">
  <p:tag name="KSO_WM_DIAGRAM_VIRTUALLY_FRAME" val="{&quot;height&quot;:136,&quot;left&quot;:20,&quot;top&quot;:216,&quot;width&quot;:920}"/>
</p:tagLst>
</file>

<file path=ppt/tags/tag100.xml><?xml version="1.0" encoding="utf-8"?>
<p:tagLst xmlns:p="http://schemas.openxmlformats.org/presentationml/2006/main">
  <p:tag name="KSO_WM_DIAGRAM_VIRTUALLY_FRAME" val="{&quot;height&quot;:136,&quot;left&quot;:20,&quot;top&quot;:216,&quot;width&quot;:920}"/>
</p:tagLst>
</file>

<file path=ppt/tags/tag101.xml><?xml version="1.0" encoding="utf-8"?>
<p:tagLst xmlns:p="http://schemas.openxmlformats.org/presentationml/2006/main">
  <p:tag name="KSO_WM_DIAGRAM_VIRTUALLY_FRAME" val="{&quot;height&quot;:136,&quot;left&quot;:20,&quot;top&quot;:216,&quot;width&quot;:920}"/>
</p:tagLst>
</file>

<file path=ppt/tags/tag102.xml><?xml version="1.0" encoding="utf-8"?>
<p:tagLst xmlns:p="http://schemas.openxmlformats.org/presentationml/2006/main">
  <p:tag name="KSO_WM_DIAGRAM_VIRTUALLY_FRAME" val="{&quot;height&quot;:136,&quot;left&quot;:20,&quot;top&quot;:216,&quot;width&quot;:920}"/>
</p:tagLst>
</file>

<file path=ppt/tags/tag103.xml><?xml version="1.0" encoding="utf-8"?>
<p:tagLst xmlns:p="http://schemas.openxmlformats.org/presentationml/2006/main">
  <p:tag name="KSO_WM_DIAGRAM_VIRTUALLY_FRAME" val="{&quot;height&quot;:136,&quot;left&quot;:20,&quot;top&quot;:216,&quot;width&quot;:92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2535</Words>
  <Application>WPS 演示</Application>
  <PresentationFormat>On-screen Show (16:9)</PresentationFormat>
  <Paragraphs>454</Paragraphs>
  <Slides>25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等线</vt:lpstr>
      <vt:lpstr>Calibri</vt:lpstr>
      <vt:lpstr>微软雅黑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运输层：从端口到拥塞控制</dc:title>
  <dc:creator>Kimi</dc:creator>
  <dc:subject>运输层：从端口到拥塞控制</dc:subject>
  <cp:lastModifiedBy>WPS_1694490358</cp:lastModifiedBy>
  <cp:revision>6</cp:revision>
  <dcterms:created xsi:type="dcterms:W3CDTF">2025-12-26T08:22:00Z</dcterms:created>
  <dcterms:modified xsi:type="dcterms:W3CDTF">2025-12-26T12:40:11Z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{"Label":"运输层：从端口到拥塞控制","ContentProducer":"001191110108MACG2KBH8F10000","ProduceID":"d57433fqmognqbg9aq50","ReservedCode1":"","ContentPropagator":"001191110108MACG2KBH8F20000","PropagateID":"d57433fqmognqbg9aq50","ReservedCode2":""}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307D7A10DCD44B348D4CC92CDF7097C7_12</vt:lpwstr>
  </property>
</Properties>
</file>