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12192000"/>
  <p:embeddedFontLs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微软雅黑" panose="020B0503020204020204" charset="-122"/>
      <p:regular r:id="rId33"/>
    </p:embeddedFont>
    <p:embeddedFont>
      <p:font typeface="微软雅黑" panose="020B0503020204020204" pitchFamily="34" charset="-12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3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image" Target="../media/image5.png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3" Type="http://schemas.openxmlformats.org/officeDocument/2006/relationships/notesSlide" Target="../notesSlides/notesSlide17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5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3-d2tarltnfo2stf9djk2g.png"/>
          <p:cNvPicPr>
            <a:picLocks noChangeAspect="1"/>
          </p:cNvPicPr>
          <p:nvPr/>
        </p:nvPicPr>
        <p:blipFill>
          <a:blip r:embed="rId1"/>
          <a:srcRect l="11651" t="6196" r="5498" b="95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626745" y="5854700"/>
            <a:ext cx="6382385" cy="62865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甘芝清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黄慧雯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林银蕊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/27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04972" y="6293196"/>
            <a:ext cx="704469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0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188085" y="102870"/>
            <a:ext cx="262890" cy="11703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745" y="2042160"/>
            <a:ext cx="637857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应用层：从DNS到DHCP</a:t>
            </a:r>
            <a:endParaRPr lang="en-US" sz="6000" dirty="0"/>
          </a:p>
        </p:txBody>
      </p:sp>
      <p:pic>
        <p:nvPicPr>
          <p:cNvPr id="12" name="Image 2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09594" y="4470400"/>
            <a:ext cx="780106" cy="8207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34695" y="5018515"/>
            <a:ext cx="1131570" cy="81523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5" name="Shape 0"/>
          <p:cNvSpPr/>
          <p:nvPr>
            <p:custDataLst>
              <p:tags r:id="rId3"/>
            </p:custDataLst>
          </p:nvPr>
        </p:nvSpPr>
        <p:spPr>
          <a:xfrm flipH="1">
            <a:off x="4570730" y="264858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>
            <p:custDataLst>
              <p:tags r:id="rId4"/>
            </p:custDataLst>
          </p:nvPr>
        </p:nvSpPr>
        <p:spPr>
          <a:xfrm flipH="1">
            <a:off x="4570730" y="340106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>
            <p:custDataLst>
              <p:tags r:id="rId5"/>
            </p:custDataLst>
          </p:nvPr>
        </p:nvSpPr>
        <p:spPr>
          <a:xfrm flipH="1">
            <a:off x="4570730" y="417639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>
            <p:custDataLst>
              <p:tags r:id="rId6"/>
            </p:custDataLst>
          </p:nvPr>
        </p:nvSpPr>
        <p:spPr>
          <a:xfrm flipH="1">
            <a:off x="4570730" y="491998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2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5400" dirty="0"/>
          </a:p>
        </p:txBody>
      </p:sp>
      <p:sp>
        <p:nvSpPr>
          <p:cNvPr id="18" name="Text 13"/>
          <p:cNvSpPr/>
          <p:nvPr/>
        </p:nvSpPr>
        <p:spPr>
          <a:xfrm>
            <a:off x="844550" y="2692400"/>
            <a:ext cx="266319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3200" dirty="0"/>
          </a:p>
        </p:txBody>
      </p:sp>
      <p:sp>
        <p:nvSpPr>
          <p:cNvPr id="19" name="Shape 14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0" name="Shape 15"/>
          <p:cNvSpPr/>
          <p:nvPr>
            <p:custDataLst>
              <p:tags r:id="rId7"/>
            </p:custDataLst>
          </p:nvPr>
        </p:nvSpPr>
        <p:spPr>
          <a:xfrm flipH="1">
            <a:off x="4570730" y="183388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pic>
        <p:nvPicPr>
          <p:cNvPr id="21" name="Image 3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2209165" y="4778375"/>
            <a:ext cx="892175" cy="93853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009140" y="5405120"/>
            <a:ext cx="1294130" cy="93218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pic>
        <p:nvPicPr>
          <p:cNvPr id="23" name="Image 4" descr="https://kimi-img.moonshot.cn/pub/slides/slides_tmpl/image/25-09-05-17:30:59-d2tarktnfo2stf9djju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60000">
            <a:off x="9978390" y="1252855"/>
            <a:ext cx="1807845" cy="1654175"/>
          </a:xfrm>
          <a:prstGeom prst="rect">
            <a:avLst/>
          </a:prstGeom>
        </p:spPr>
      </p:pic>
      <p:sp>
        <p:nvSpPr>
          <p:cNvPr id="24" name="Text 17"/>
          <p:cNvSpPr/>
          <p:nvPr>
            <p:custDataLst>
              <p:tags r:id="rId10"/>
            </p:custDataLst>
          </p:nvPr>
        </p:nvSpPr>
        <p:spPr>
          <a:xfrm>
            <a:off x="4815840" y="164084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5" name="Text 18"/>
          <p:cNvSpPr/>
          <p:nvPr>
            <p:custDataLst>
              <p:tags r:id="rId11"/>
            </p:custDataLst>
          </p:nvPr>
        </p:nvSpPr>
        <p:spPr>
          <a:xfrm>
            <a:off x="5711190" y="1849120"/>
            <a:ext cx="626745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域名系统</a:t>
            </a:r>
            <a:r>
              <a:rPr lang="en-US" altLang="zh-CN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DNS</a:t>
            </a:r>
            <a:endParaRPr lang="en-US" sz="2400" dirty="0"/>
          </a:p>
        </p:txBody>
      </p:sp>
      <p:sp>
        <p:nvSpPr>
          <p:cNvPr id="26" name="Text 19"/>
          <p:cNvSpPr/>
          <p:nvPr>
            <p:custDataLst>
              <p:tags r:id="rId12"/>
            </p:custDataLst>
          </p:nvPr>
        </p:nvSpPr>
        <p:spPr>
          <a:xfrm>
            <a:off x="4815840" y="240093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27" name="Text 20"/>
          <p:cNvSpPr/>
          <p:nvPr>
            <p:custDataLst>
              <p:tags r:id="rId13"/>
            </p:custDataLst>
          </p:nvPr>
        </p:nvSpPr>
        <p:spPr>
          <a:xfrm>
            <a:off x="5711190" y="2578100"/>
            <a:ext cx="6268085" cy="4546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万维网与</a:t>
            </a:r>
            <a:r>
              <a:rPr lang="en-US" altLang="zh-CN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HTTP</a:t>
            </a:r>
            <a:endParaRPr lang="en-US" sz="2400" dirty="0"/>
          </a:p>
        </p:txBody>
      </p:sp>
      <p:sp>
        <p:nvSpPr>
          <p:cNvPr id="28" name="Text 21"/>
          <p:cNvSpPr/>
          <p:nvPr>
            <p:custDataLst>
              <p:tags r:id="rId14"/>
            </p:custDataLst>
          </p:nvPr>
        </p:nvSpPr>
        <p:spPr>
          <a:xfrm>
            <a:off x="4815840" y="320738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29" name="Text 22"/>
          <p:cNvSpPr/>
          <p:nvPr>
            <p:custDataLst>
              <p:tags r:id="rId15"/>
            </p:custDataLst>
          </p:nvPr>
        </p:nvSpPr>
        <p:spPr>
          <a:xfrm>
            <a:off x="5711190" y="3433445"/>
            <a:ext cx="626681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电子邮件系统</a:t>
            </a:r>
            <a:endParaRPr lang="en-US" sz="2400" dirty="0"/>
          </a:p>
        </p:txBody>
      </p:sp>
      <p:sp>
        <p:nvSpPr>
          <p:cNvPr id="30" name="Text 23"/>
          <p:cNvSpPr/>
          <p:nvPr>
            <p:custDataLst>
              <p:tags r:id="rId16"/>
            </p:custDataLst>
          </p:nvPr>
        </p:nvSpPr>
        <p:spPr>
          <a:xfrm>
            <a:off x="4815840" y="401447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31" name="Text 24"/>
          <p:cNvSpPr/>
          <p:nvPr>
            <p:custDataLst>
              <p:tags r:id="rId17"/>
            </p:custDataLst>
          </p:nvPr>
        </p:nvSpPr>
        <p:spPr>
          <a:xfrm>
            <a:off x="5711190" y="4214495"/>
            <a:ext cx="626681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文件传输与配置</a:t>
            </a:r>
            <a:endParaRPr lang="en-US" sz="2400" dirty="0"/>
          </a:p>
        </p:txBody>
      </p:sp>
      <p:sp>
        <p:nvSpPr>
          <p:cNvPr id="32" name="Text 25"/>
          <p:cNvSpPr/>
          <p:nvPr>
            <p:custDataLst>
              <p:tags r:id="rId18"/>
            </p:custDataLst>
          </p:nvPr>
        </p:nvSpPr>
        <p:spPr>
          <a:xfrm>
            <a:off x="4815840" y="479171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33" name="Text 26"/>
          <p:cNvSpPr/>
          <p:nvPr>
            <p:custDataLst>
              <p:tags r:id="rId19"/>
            </p:custDataLst>
          </p:nvPr>
        </p:nvSpPr>
        <p:spPr>
          <a:xfrm>
            <a:off x="5711190" y="4968875"/>
            <a:ext cx="6266815" cy="30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协议横向对比</a:t>
            </a:r>
            <a:endParaRPr lang="en-US" sz="2400" dirty="0"/>
          </a:p>
        </p:txBody>
      </p:sp>
      <p:sp>
        <p:nvSpPr>
          <p:cNvPr id="34" name="Shape 15"/>
          <p:cNvSpPr/>
          <p:nvPr>
            <p:custDataLst>
              <p:tags r:id="rId20"/>
            </p:custDataLst>
          </p:nvPr>
        </p:nvSpPr>
        <p:spPr>
          <a:xfrm flipH="1">
            <a:off x="4570730" y="101917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35" name="Text 17"/>
          <p:cNvSpPr/>
          <p:nvPr>
            <p:custDataLst>
              <p:tags r:id="rId21"/>
            </p:custDataLst>
          </p:nvPr>
        </p:nvSpPr>
        <p:spPr>
          <a:xfrm>
            <a:off x="4815840" y="83947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36" name="Text 18"/>
          <p:cNvSpPr/>
          <p:nvPr>
            <p:custDataLst>
              <p:tags r:id="rId22"/>
            </p:custDataLst>
          </p:nvPr>
        </p:nvSpPr>
        <p:spPr>
          <a:xfrm>
            <a:off x="5710555" y="1023620"/>
            <a:ext cx="626745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应用层使命与模型</a:t>
            </a:r>
            <a:endParaRPr lang="en-US" sz="2400" dirty="0"/>
          </a:p>
        </p:txBody>
      </p:sp>
      <p:sp>
        <p:nvSpPr>
          <p:cNvPr id="37" name="Shape 3"/>
          <p:cNvSpPr/>
          <p:nvPr>
            <p:custDataLst>
              <p:tags r:id="rId23"/>
            </p:custDataLst>
          </p:nvPr>
        </p:nvSpPr>
        <p:spPr>
          <a:xfrm flipH="1">
            <a:off x="4572000" y="566356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38" name="Text 25"/>
          <p:cNvSpPr/>
          <p:nvPr>
            <p:custDataLst>
              <p:tags r:id="rId24"/>
            </p:custDataLst>
          </p:nvPr>
        </p:nvSpPr>
        <p:spPr>
          <a:xfrm>
            <a:off x="4815840" y="557530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07.</a:t>
            </a:r>
            <a:endParaRPr lang="en-US" sz="1600" dirty="0"/>
          </a:p>
        </p:txBody>
      </p:sp>
      <p:sp>
        <p:nvSpPr>
          <p:cNvPr id="39" name="Text 26"/>
          <p:cNvSpPr/>
          <p:nvPr>
            <p:custDataLst>
              <p:tags r:id="rId25"/>
            </p:custDataLst>
          </p:nvPr>
        </p:nvSpPr>
        <p:spPr>
          <a:xfrm>
            <a:off x="5712460" y="5714365"/>
            <a:ext cx="6266815" cy="30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总结与展望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35" grpId="0"/>
      <p:bldP spid="35" grpId="1"/>
      <p:bldP spid="36" grpId="0"/>
      <p:bldP spid="36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3" grpId="0"/>
      <p:bldP spid="33" grpId="1"/>
      <p:bldP spid="32" grpId="0"/>
      <p:bldP spid="32" grpId="1"/>
      <p:bldP spid="39" grpId="0"/>
      <p:bldP spid="39" grpId="1"/>
      <p:bldP spid="38" grpId="0"/>
      <p:bldP spid="3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应用层使命与模型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2400" y="501015"/>
            <a:ext cx="6934200" cy="1907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应用层：网络服务的最高接口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232400" y="2237105"/>
            <a:ext cx="6807200" cy="1796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根本任务是为运行在不同主机上的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应用进程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提供标准化通信规则，使各类网络应用无需关心底层细节即可跨网交换数据。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257800" y="4464685"/>
            <a:ext cx="6680200" cy="1007110"/>
          </a:xfrm>
          <a:custGeom>
            <a:avLst/>
            <a:gdLst/>
            <a:ahLst/>
            <a:cxnLst/>
            <a:rect l="l" t="t" r="r" b="b"/>
            <a:pathLst>
              <a:path w="6680200" h="711200">
                <a:moveTo>
                  <a:pt x="0" y="0"/>
                </a:moveTo>
                <a:lnTo>
                  <a:pt x="6578598" y="0"/>
                </a:lnTo>
                <a:cubicBezTo>
                  <a:pt x="6634711" y="0"/>
                  <a:pt x="6680200" y="45489"/>
                  <a:pt x="6680200" y="101602"/>
                </a:cubicBezTo>
                <a:lnTo>
                  <a:pt x="6680200" y="609598"/>
                </a:lnTo>
                <a:cubicBezTo>
                  <a:pt x="6680200" y="665711"/>
                  <a:pt x="6634711" y="711200"/>
                  <a:pt x="6578598" y="711200"/>
                </a:cubicBez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2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5308600" y="46482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7" name="Text 4"/>
          <p:cNvSpPr/>
          <p:nvPr/>
        </p:nvSpPr>
        <p:spPr>
          <a:xfrm>
            <a:off x="5486400" y="4520565"/>
            <a:ext cx="6540500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应用层协议定义的是</a:t>
            </a:r>
            <a:r>
              <a:rPr lang="en-US" b="1" dirty="0">
                <a:solidFill>
                  <a:srgbClr val="007AFF"/>
                </a:solidFill>
                <a:highlight>
                  <a:srgbClr val="7484DF">
                    <a:alpha val="3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消息格式、交互顺序与错误处理 </a:t>
            </a: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，而非具体功能实现。协议即语言。</a:t>
            </a:r>
            <a:endParaRPr lang="en-US" dirty="0"/>
          </a:p>
        </p:txBody>
      </p:sp>
      <p:pic>
        <p:nvPicPr>
          <p:cNvPr id="9" name="图片 8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" y="1482725"/>
            <a:ext cx="4700905" cy="39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C/S 与 P2P：两种力量的博弈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54000" y="1016000"/>
            <a:ext cx="5638800" cy="5588000"/>
          </a:xfrm>
          <a:custGeom>
            <a:avLst/>
            <a:gdLst/>
            <a:ahLst/>
            <a:cxnLst/>
            <a:rect l="l" t="t" r="r" b="b"/>
            <a:pathLst>
              <a:path w="5638800" h="5588000">
                <a:moveTo>
                  <a:pt x="152385" y="0"/>
                </a:moveTo>
                <a:lnTo>
                  <a:pt x="5486415" y="0"/>
                </a:lnTo>
                <a:cubicBezTo>
                  <a:pt x="5570575" y="0"/>
                  <a:pt x="5638800" y="68225"/>
                  <a:pt x="5638800" y="152385"/>
                </a:cubicBezTo>
                <a:lnTo>
                  <a:pt x="5638800" y="5435615"/>
                </a:lnTo>
                <a:cubicBezTo>
                  <a:pt x="5638800" y="5519775"/>
                  <a:pt x="5570575" y="5588000"/>
                  <a:pt x="5486415" y="5588000"/>
                </a:cubicBezTo>
                <a:lnTo>
                  <a:pt x="152385" y="5588000"/>
                </a:lnTo>
                <a:cubicBezTo>
                  <a:pt x="68225" y="5588000"/>
                  <a:pt x="0" y="5519775"/>
                  <a:pt x="0" y="54356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1430814" y="1231741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2059464" y="1219200"/>
            <a:ext cx="28067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客户/服务器 (C/S)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412750" y="4672330"/>
            <a:ext cx="5321300" cy="1106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以</a:t>
            </a: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固定服务器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为中心，客户端按需请求。结构简单，但存在单点性能瓶颈。</a:t>
            </a:r>
            <a:endParaRPr lang="en-US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408305" y="5807075"/>
            <a:ext cx="5120005" cy="753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典型: Web, FTP, 电子邮件</a:t>
            </a:r>
            <a:endParaRPr lang="en-US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6299200" y="1016000"/>
            <a:ext cx="5638800" cy="5588000"/>
          </a:xfrm>
          <a:custGeom>
            <a:avLst/>
            <a:gdLst/>
            <a:ahLst/>
            <a:cxnLst/>
            <a:rect l="l" t="t" r="r" b="b"/>
            <a:pathLst>
              <a:path w="5638800" h="5588000">
                <a:moveTo>
                  <a:pt x="152385" y="0"/>
                </a:moveTo>
                <a:lnTo>
                  <a:pt x="5486415" y="0"/>
                </a:lnTo>
                <a:cubicBezTo>
                  <a:pt x="5570575" y="0"/>
                  <a:pt x="5638800" y="68225"/>
                  <a:pt x="5638800" y="152385"/>
                </a:cubicBezTo>
                <a:lnTo>
                  <a:pt x="5638800" y="5435615"/>
                </a:lnTo>
                <a:cubicBezTo>
                  <a:pt x="5638800" y="5519775"/>
                  <a:pt x="5570575" y="5588000"/>
                  <a:pt x="5486415" y="5588000"/>
                </a:cubicBezTo>
                <a:lnTo>
                  <a:pt x="152385" y="5588000"/>
                </a:lnTo>
                <a:cubicBezTo>
                  <a:pt x="68225" y="5588000"/>
                  <a:pt x="0" y="5519775"/>
                  <a:pt x="0" y="54356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rgbClr val="7484DF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7710646" y="1231741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7484DF"/>
          </a:solidFill>
        </p:spPr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8339296" y="1219200"/>
            <a:ext cx="2336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对等连接 (P2P)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6496050" y="4711065"/>
            <a:ext cx="5245100" cy="1020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节点既是客户也是服务器，</a:t>
            </a: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资源分散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，可扩展性强，但管理复杂。</a:t>
            </a:r>
            <a:endParaRPr lang="en-US" dirty="0"/>
          </a:p>
        </p:txBody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6361430" y="5746750"/>
            <a:ext cx="5576570" cy="815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典型: BitTorrent, 区块链</a:t>
            </a:r>
            <a:endParaRPr lang="en-US" dirty="0"/>
          </a:p>
        </p:txBody>
      </p:sp>
      <p:pic>
        <p:nvPicPr>
          <p:cNvPr id="14" name="图片 13" descr="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" y="1923415"/>
            <a:ext cx="4369435" cy="2654935"/>
          </a:xfrm>
          <a:prstGeom prst="rect">
            <a:avLst/>
          </a:prstGeom>
        </p:spPr>
      </p:pic>
      <p:pic>
        <p:nvPicPr>
          <p:cNvPr id="15" name="图片 14" descr="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13880" y="1928495"/>
            <a:ext cx="4471035" cy="2670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1" grpId="0"/>
      <p:bldP spid="11" grpId="1"/>
      <p:bldP spid="7" grpId="0"/>
      <p:bldP spid="7" grpId="1"/>
      <p:bldP spid="12" grpId="0"/>
      <p:bldP spid="12" grpId="1"/>
      <p:bldP spid="13" grpId="0"/>
      <p:bldP spid="13" grpId="1"/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域名系统DNS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54000"/>
            <a:ext cx="11874500" cy="1063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DNS：域名到IP的分布式翻译官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03200" y="1491615"/>
            <a:ext cx="11785600" cy="1302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采用全球分布式、层级缓存的数据库架构，将人类可读的域名解析为机器使用的IP地址。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76960" y="320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299210" y="3479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114300" y="28575"/>
                </a:moveTo>
                <a:cubicBezTo>
                  <a:pt x="82778" y="28575"/>
                  <a:pt x="57150" y="54203"/>
                  <a:pt x="57150" y="85725"/>
                </a:cubicBezTo>
                <a:lnTo>
                  <a:pt x="57150" y="300038"/>
                </a:lnTo>
                <a:lnTo>
                  <a:pt x="114300" y="300038"/>
                </a:lnTo>
                <a:lnTo>
                  <a:pt x="114300" y="85725"/>
                </a:lnTo>
                <a:lnTo>
                  <a:pt x="457200" y="85725"/>
                </a:lnTo>
                <a:lnTo>
                  <a:pt x="457200" y="300038"/>
                </a:lnTo>
                <a:lnTo>
                  <a:pt x="514350" y="300038"/>
                </a:lnTo>
                <a:lnTo>
                  <a:pt x="514350" y="85725"/>
                </a:lnTo>
                <a:cubicBezTo>
                  <a:pt x="514350" y="54203"/>
                  <a:pt x="488722" y="28575"/>
                  <a:pt x="457200" y="28575"/>
                </a:cubicBezTo>
                <a:lnTo>
                  <a:pt x="114300" y="28575"/>
                </a:lnTo>
                <a:close/>
                <a:moveTo>
                  <a:pt x="17145" y="342900"/>
                </a:moveTo>
                <a:cubicBezTo>
                  <a:pt x="7680" y="342900"/>
                  <a:pt x="0" y="350580"/>
                  <a:pt x="0" y="360045"/>
                </a:cubicBezTo>
                <a:cubicBezTo>
                  <a:pt x="0" y="397907"/>
                  <a:pt x="30718" y="428625"/>
                  <a:pt x="68580" y="428625"/>
                </a:cubicBezTo>
                <a:lnTo>
                  <a:pt x="502920" y="428625"/>
                </a:lnTo>
                <a:cubicBezTo>
                  <a:pt x="540782" y="428625"/>
                  <a:pt x="571500" y="397907"/>
                  <a:pt x="571500" y="360045"/>
                </a:cubicBezTo>
                <a:cubicBezTo>
                  <a:pt x="571500" y="350580"/>
                  <a:pt x="563820" y="342900"/>
                  <a:pt x="554355" y="342900"/>
                </a:cubicBezTo>
                <a:lnTo>
                  <a:pt x="17145" y="34290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/>
        </p:nvSpPr>
        <p:spPr>
          <a:xfrm>
            <a:off x="1016000" y="4318000"/>
            <a:ext cx="1143000" cy="873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本地解析器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13460" y="5168265"/>
            <a:ext cx="1143000" cy="1015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用户查询第一站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712720" y="3987800"/>
            <a:ext cx="749300" cy="50800"/>
          </a:xfrm>
          <a:custGeom>
            <a:avLst/>
            <a:gdLst/>
            <a:ahLst/>
            <a:cxnLst/>
            <a:rect l="l" t="t" r="r" b="b"/>
            <a:pathLst>
              <a:path w="749300" h="50800">
                <a:moveTo>
                  <a:pt x="0" y="0"/>
                </a:moveTo>
                <a:lnTo>
                  <a:pt x="749300" y="0"/>
                </a:lnTo>
                <a:lnTo>
                  <a:pt x="749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DD8E6"/>
              </a:gs>
              <a:gs pos="100000">
                <a:srgbClr val="7484DF"/>
              </a:gs>
            </a:gsLst>
            <a:lin ang="0" scaled="1"/>
          </a:gradFill>
        </p:spPr>
      </p:sp>
      <p:sp>
        <p:nvSpPr>
          <p:cNvPr id="10" name="Shape 7"/>
          <p:cNvSpPr/>
          <p:nvPr/>
        </p:nvSpPr>
        <p:spPr>
          <a:xfrm>
            <a:off x="4084320" y="320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4363720" y="347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2" name="Text 9"/>
          <p:cNvSpPr/>
          <p:nvPr/>
        </p:nvSpPr>
        <p:spPr>
          <a:xfrm>
            <a:off x="3919855" y="4318000"/>
            <a:ext cx="1346200" cy="873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根域名服务器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173220" y="5179695"/>
            <a:ext cx="838200" cy="1003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指引顶级域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720080" y="3987800"/>
            <a:ext cx="749300" cy="50800"/>
          </a:xfrm>
          <a:custGeom>
            <a:avLst/>
            <a:gdLst/>
            <a:ahLst/>
            <a:cxnLst/>
            <a:rect l="l" t="t" r="r" b="b"/>
            <a:pathLst>
              <a:path w="749300" h="50800">
                <a:moveTo>
                  <a:pt x="0" y="0"/>
                </a:moveTo>
                <a:lnTo>
                  <a:pt x="749300" y="0"/>
                </a:lnTo>
                <a:lnTo>
                  <a:pt x="749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84DF"/>
              </a:gs>
              <a:gs pos="100000">
                <a:srgbClr val="ADD8E6"/>
              </a:gs>
            </a:gsLst>
            <a:lin ang="0" scaled="1"/>
          </a:gradFill>
        </p:spPr>
      </p:sp>
      <p:sp>
        <p:nvSpPr>
          <p:cNvPr id="15" name="Shape 12"/>
          <p:cNvSpPr/>
          <p:nvPr/>
        </p:nvSpPr>
        <p:spPr>
          <a:xfrm>
            <a:off x="7091680" y="320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7371080" y="347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9738" y="178326"/>
                </a:moveTo>
                <a:lnTo>
                  <a:pt x="77331" y="205919"/>
                </a:lnTo>
                <a:cubicBezTo>
                  <a:pt x="82689" y="211276"/>
                  <a:pt x="89922" y="214313"/>
                  <a:pt x="97512" y="214313"/>
                </a:cubicBezTo>
                <a:lnTo>
                  <a:pt x="116711" y="214313"/>
                </a:lnTo>
                <a:cubicBezTo>
                  <a:pt x="124301" y="214313"/>
                  <a:pt x="131534" y="217349"/>
                  <a:pt x="136892" y="222706"/>
                </a:cubicBezTo>
                <a:lnTo>
                  <a:pt x="163056" y="248870"/>
                </a:lnTo>
                <a:cubicBezTo>
                  <a:pt x="168414" y="254228"/>
                  <a:pt x="171450" y="261461"/>
                  <a:pt x="171450" y="269051"/>
                </a:cubicBezTo>
                <a:lnTo>
                  <a:pt x="171450" y="302538"/>
                </a:lnTo>
                <a:cubicBezTo>
                  <a:pt x="171450" y="310128"/>
                  <a:pt x="174486" y="317361"/>
                  <a:pt x="179844" y="322719"/>
                </a:cubicBezTo>
                <a:lnTo>
                  <a:pt x="191720" y="334595"/>
                </a:lnTo>
                <a:cubicBezTo>
                  <a:pt x="197078" y="339953"/>
                  <a:pt x="200114" y="347186"/>
                  <a:pt x="200114" y="354776"/>
                </a:cubicBezTo>
                <a:lnTo>
                  <a:pt x="200114" y="371475"/>
                </a:lnTo>
                <a:cubicBezTo>
                  <a:pt x="200114" y="387281"/>
                  <a:pt x="212884" y="400050"/>
                  <a:pt x="228689" y="400050"/>
                </a:cubicBezTo>
                <a:cubicBezTo>
                  <a:pt x="244495" y="400050"/>
                  <a:pt x="257264" y="387281"/>
                  <a:pt x="257264" y="371475"/>
                </a:cubicBezTo>
                <a:lnTo>
                  <a:pt x="257264" y="369064"/>
                </a:lnTo>
                <a:cubicBezTo>
                  <a:pt x="257264" y="361474"/>
                  <a:pt x="260300" y="354241"/>
                  <a:pt x="265658" y="348883"/>
                </a:cubicBezTo>
                <a:lnTo>
                  <a:pt x="306110" y="308431"/>
                </a:lnTo>
                <a:cubicBezTo>
                  <a:pt x="311468" y="303074"/>
                  <a:pt x="314504" y="295841"/>
                  <a:pt x="314504" y="288250"/>
                </a:cubicBezTo>
                <a:lnTo>
                  <a:pt x="314504" y="257264"/>
                </a:lnTo>
                <a:cubicBezTo>
                  <a:pt x="314504" y="241459"/>
                  <a:pt x="301734" y="228689"/>
                  <a:pt x="285929" y="228689"/>
                </a:cubicBezTo>
                <a:lnTo>
                  <a:pt x="212080" y="228689"/>
                </a:lnTo>
                <a:cubicBezTo>
                  <a:pt x="204490" y="228689"/>
                  <a:pt x="197257" y="225653"/>
                  <a:pt x="191899" y="220295"/>
                </a:cubicBezTo>
                <a:lnTo>
                  <a:pt x="177611" y="206008"/>
                </a:lnTo>
                <a:cubicBezTo>
                  <a:pt x="173861" y="202257"/>
                  <a:pt x="171718" y="197078"/>
                  <a:pt x="171718" y="191720"/>
                </a:cubicBezTo>
                <a:cubicBezTo>
                  <a:pt x="171718" y="180558"/>
                  <a:pt x="180737" y="171539"/>
                  <a:pt x="191899" y="171539"/>
                </a:cubicBezTo>
                <a:lnTo>
                  <a:pt x="222885" y="171539"/>
                </a:lnTo>
                <a:cubicBezTo>
                  <a:pt x="234047" y="171539"/>
                  <a:pt x="243066" y="162520"/>
                  <a:pt x="243066" y="151358"/>
                </a:cubicBezTo>
                <a:cubicBezTo>
                  <a:pt x="243066" y="146000"/>
                  <a:pt x="240923" y="140821"/>
                  <a:pt x="237173" y="137071"/>
                </a:cubicBezTo>
                <a:lnTo>
                  <a:pt x="219581" y="119479"/>
                </a:lnTo>
                <a:cubicBezTo>
                  <a:pt x="216098" y="116086"/>
                  <a:pt x="214313" y="111710"/>
                  <a:pt x="214313" y="107156"/>
                </a:cubicBezTo>
                <a:cubicBezTo>
                  <a:pt x="214313" y="102602"/>
                  <a:pt x="216098" y="98227"/>
                  <a:pt x="219402" y="94923"/>
                </a:cubicBezTo>
                <a:lnTo>
                  <a:pt x="234851" y="79474"/>
                </a:lnTo>
                <a:cubicBezTo>
                  <a:pt x="240030" y="74295"/>
                  <a:pt x="242977" y="67241"/>
                  <a:pt x="242977" y="59918"/>
                </a:cubicBezTo>
                <a:cubicBezTo>
                  <a:pt x="242977" y="53489"/>
                  <a:pt x="240834" y="47685"/>
                  <a:pt x="237262" y="43041"/>
                </a:cubicBezTo>
                <a:cubicBezTo>
                  <a:pt x="234404" y="42952"/>
                  <a:pt x="231547" y="42862"/>
                  <a:pt x="228689" y="42862"/>
                </a:cubicBezTo>
                <a:cubicBezTo>
                  <a:pt x="143500" y="42862"/>
                  <a:pt x="71795" y="100191"/>
                  <a:pt x="49828" y="178326"/>
                </a:cubicBezTo>
                <a:close/>
                <a:moveTo>
                  <a:pt x="414338" y="228600"/>
                </a:moveTo>
                <a:cubicBezTo>
                  <a:pt x="414338" y="197703"/>
                  <a:pt x="406837" y="168593"/>
                  <a:pt x="393442" y="143054"/>
                </a:cubicBezTo>
                <a:cubicBezTo>
                  <a:pt x="387727" y="143857"/>
                  <a:pt x="382101" y="146536"/>
                  <a:pt x="377458" y="151180"/>
                </a:cubicBezTo>
                <a:lnTo>
                  <a:pt x="365492" y="163145"/>
                </a:lnTo>
                <a:cubicBezTo>
                  <a:pt x="360134" y="168503"/>
                  <a:pt x="357098" y="175736"/>
                  <a:pt x="357098" y="183326"/>
                </a:cubicBezTo>
                <a:lnTo>
                  <a:pt x="357098" y="214313"/>
                </a:lnTo>
                <a:cubicBezTo>
                  <a:pt x="357098" y="230118"/>
                  <a:pt x="369868" y="242888"/>
                  <a:pt x="385673" y="242888"/>
                </a:cubicBezTo>
                <a:lnTo>
                  <a:pt x="407194" y="242888"/>
                </a:lnTo>
                <a:cubicBezTo>
                  <a:pt x="409426" y="242888"/>
                  <a:pt x="411659" y="242620"/>
                  <a:pt x="413712" y="242173"/>
                </a:cubicBezTo>
                <a:cubicBezTo>
                  <a:pt x="414070" y="237708"/>
                  <a:pt x="414159" y="233154"/>
                  <a:pt x="414159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7" name="Text 14"/>
          <p:cNvSpPr/>
          <p:nvPr/>
        </p:nvSpPr>
        <p:spPr>
          <a:xfrm>
            <a:off x="6927215" y="4318000"/>
            <a:ext cx="1346200" cy="873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顶级域服务器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180580" y="5167630"/>
            <a:ext cx="838200" cy="1006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管理二级域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8727440" y="3987800"/>
            <a:ext cx="749300" cy="50800"/>
          </a:xfrm>
          <a:custGeom>
            <a:avLst/>
            <a:gdLst/>
            <a:ahLst/>
            <a:cxnLst/>
            <a:rect l="l" t="t" r="r" b="b"/>
            <a:pathLst>
              <a:path w="749300" h="50800">
                <a:moveTo>
                  <a:pt x="0" y="0"/>
                </a:moveTo>
                <a:lnTo>
                  <a:pt x="749300" y="0"/>
                </a:lnTo>
                <a:lnTo>
                  <a:pt x="749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DD8E6"/>
              </a:gs>
              <a:gs pos="100000">
                <a:srgbClr val="7484DF"/>
              </a:gs>
            </a:gsLst>
            <a:lin ang="0" scaled="1"/>
          </a:gradFill>
        </p:spPr>
      </p:sp>
      <p:sp>
        <p:nvSpPr>
          <p:cNvPr id="20" name="Shape 17"/>
          <p:cNvSpPr/>
          <p:nvPr/>
        </p:nvSpPr>
        <p:spPr>
          <a:xfrm>
            <a:off x="10099040" y="3200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10407015" y="34798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22" name="Text 19"/>
          <p:cNvSpPr/>
          <p:nvPr/>
        </p:nvSpPr>
        <p:spPr>
          <a:xfrm>
            <a:off x="10038080" y="4318000"/>
            <a:ext cx="1143000" cy="873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权威服务器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0194925" y="5180330"/>
            <a:ext cx="825500" cy="993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返回最终IP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2" grpId="0"/>
      <p:bldP spid="12" grpId="1"/>
      <p:bldP spid="13" grpId="0"/>
      <p:bldP spid="13" grpId="1"/>
      <p:bldP spid="17" grpId="0"/>
      <p:bldP spid="17" grpId="1"/>
      <p:bldP spid="18" grpId="0"/>
      <p:bldP spid="18" grpId="1"/>
      <p:bldP spid="22" grpId="0"/>
      <p:bldP spid="22" grpId="1"/>
      <p:bldP spid="23" grpId="0"/>
      <p:bldP spid="2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递归与迭代：查询路径的两把钥匙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54000" y="1016000"/>
            <a:ext cx="5689600" cy="5080000"/>
          </a:xfrm>
          <a:custGeom>
            <a:avLst/>
            <a:gdLst/>
            <a:ahLst/>
            <a:cxnLst/>
            <a:rect l="l" t="t" r="r" b="b"/>
            <a:pathLst>
              <a:path w="5689600" h="5080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4978400"/>
                </a:lnTo>
                <a:cubicBezTo>
                  <a:pt x="5689600" y="5034475"/>
                  <a:pt x="5644075" y="5080000"/>
                  <a:pt x="5588000" y="5080000"/>
                </a:cubicBezTo>
                <a:lnTo>
                  <a:pt x="101600" y="5080000"/>
                </a:lnTo>
                <a:cubicBezTo>
                  <a:pt x="45525" y="5080000"/>
                  <a:pt x="0" y="5034475"/>
                  <a:pt x="0" y="497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2477294" y="1219200"/>
            <a:ext cx="1397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递归查询</a:t>
            </a:r>
            <a:endParaRPr lang="en-US" sz="1600" dirty="0"/>
          </a:p>
        </p:txBody>
      </p:sp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412750" y="4470400"/>
            <a:ext cx="5372100" cy="141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本地服务器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替客户端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完成所有查询，将最终结果一次性返回。减轻客户端负担。</a:t>
            </a:r>
            <a:endParaRPr lang="en-US" sz="2000" dirty="0"/>
          </a:p>
        </p:txBody>
      </p:sp>
      <p:sp>
        <p:nvSpPr>
          <p:cNvPr id="8" name="Shape 4"/>
          <p:cNvSpPr/>
          <p:nvPr>
            <p:custDataLst>
              <p:tags r:id="rId5"/>
            </p:custDataLst>
          </p:nvPr>
        </p:nvSpPr>
        <p:spPr>
          <a:xfrm>
            <a:off x="6248400" y="1016000"/>
            <a:ext cx="5689600" cy="5080000"/>
          </a:xfrm>
          <a:custGeom>
            <a:avLst/>
            <a:gdLst/>
            <a:ahLst/>
            <a:cxnLst/>
            <a:rect l="l" t="t" r="r" b="b"/>
            <a:pathLst>
              <a:path w="5689600" h="5080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4978400"/>
                </a:lnTo>
                <a:cubicBezTo>
                  <a:pt x="5689600" y="5034475"/>
                  <a:pt x="5644075" y="5080000"/>
                  <a:pt x="5588000" y="5080000"/>
                </a:cubicBezTo>
                <a:lnTo>
                  <a:pt x="101600" y="5080000"/>
                </a:lnTo>
                <a:cubicBezTo>
                  <a:pt x="45525" y="5080000"/>
                  <a:pt x="0" y="5034475"/>
                  <a:pt x="0" y="497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7484DF">
              <a:alpha val="30196"/>
            </a:srgbClr>
          </a:solidFill>
        </p:spPr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8471694" y="1219200"/>
            <a:ext cx="1397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迭代查询</a:t>
            </a:r>
            <a:endParaRPr lang="en-US" sz="1600" dirty="0"/>
          </a:p>
        </p:txBody>
      </p:sp>
      <p:sp>
        <p:nvSpPr>
          <p:cNvPr id="11" name="Text 6"/>
          <p:cNvSpPr/>
          <p:nvPr>
            <p:custDataLst>
              <p:tags r:id="rId7"/>
            </p:custDataLst>
          </p:nvPr>
        </p:nvSpPr>
        <p:spPr>
          <a:xfrm>
            <a:off x="6407150" y="4470400"/>
            <a:ext cx="5372100" cy="141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本地服务器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层层询问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上级，每次获得下一级服务器地址，自行完成查询。降低上级压力。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203200" y="6299200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实际过程：</a:t>
            </a:r>
            <a:r>
              <a:rPr lang="en-US" sz="2400" b="1" dirty="0">
                <a:solidFill>
                  <a:srgbClr val="007AFF"/>
                </a:solidFill>
                <a:highlight>
                  <a:srgbClr val="7484DF">
                    <a:alpha val="3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主机向本地递归 + 本地向其他迭代 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，高效且可扩展。</a:t>
            </a:r>
            <a:endParaRPr lang="en-US" sz="2400" dirty="0"/>
          </a:p>
        </p:txBody>
      </p:sp>
      <p:pic>
        <p:nvPicPr>
          <p:cNvPr id="13" name="图片 12" descr="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025" y="1778000"/>
            <a:ext cx="4781550" cy="2936240"/>
          </a:xfrm>
          <a:prstGeom prst="rect">
            <a:avLst/>
          </a:prstGeom>
        </p:spPr>
      </p:pic>
      <p:pic>
        <p:nvPicPr>
          <p:cNvPr id="14" name="图片 13" descr="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905" y="1744980"/>
            <a:ext cx="4794250" cy="2938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7" grpId="0"/>
      <p:bldP spid="7" grpId="1"/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万维网与HTTP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1228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WWW三要素：构建可链接的信息空间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578485" y="2641600"/>
            <a:ext cx="2921000" cy="2438400"/>
          </a:xfrm>
          <a:custGeom>
            <a:avLst/>
            <a:gdLst/>
            <a:ahLst/>
            <a:cxnLst/>
            <a:rect l="l" t="t" r="r" b="b"/>
            <a:pathLst>
              <a:path w="2921000" h="2438400">
                <a:moveTo>
                  <a:pt x="101608" y="0"/>
                </a:moveTo>
                <a:lnTo>
                  <a:pt x="2819392" y="0"/>
                </a:lnTo>
                <a:cubicBezTo>
                  <a:pt x="2875508" y="0"/>
                  <a:pt x="2921000" y="45492"/>
                  <a:pt x="2921000" y="101608"/>
                </a:cubicBezTo>
                <a:lnTo>
                  <a:pt x="2921000" y="2336792"/>
                </a:lnTo>
                <a:cubicBezTo>
                  <a:pt x="2921000" y="2392908"/>
                  <a:pt x="2875508" y="2438400"/>
                  <a:pt x="28193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753235" y="310388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/>
        </p:nvSpPr>
        <p:spPr>
          <a:xfrm>
            <a:off x="1063625" y="2996565"/>
            <a:ext cx="1892935" cy="10928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URL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86435" y="4140200"/>
            <a:ext cx="2705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统一资源定位符，标识资源位置与访问方法。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148614" y="2438400"/>
            <a:ext cx="3898900" cy="2844800"/>
          </a:xfrm>
          <a:custGeom>
            <a:avLst/>
            <a:gdLst/>
            <a:ahLst/>
            <a:cxnLst/>
            <a:rect l="l" t="t" r="r" b="b"/>
            <a:pathLst>
              <a:path w="3898900" h="2844800">
                <a:moveTo>
                  <a:pt x="101588" y="0"/>
                </a:moveTo>
                <a:lnTo>
                  <a:pt x="3797312" y="0"/>
                </a:lnTo>
                <a:cubicBezTo>
                  <a:pt x="3853418" y="0"/>
                  <a:pt x="3898900" y="45482"/>
                  <a:pt x="3898900" y="101588"/>
                </a:cubicBezTo>
                <a:lnTo>
                  <a:pt x="3898900" y="2743212"/>
                </a:lnTo>
                <a:cubicBezTo>
                  <a:pt x="3898900" y="2799318"/>
                  <a:pt x="3853418" y="2844800"/>
                  <a:pt x="37973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solidFill>
            <a:srgbClr val="4A90E2">
              <a:alpha val="30196"/>
            </a:srgbClr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4841" y="29972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4A90E2"/>
          </a:solidFill>
        </p:spPr>
      </p:sp>
      <p:sp>
        <p:nvSpPr>
          <p:cNvPr id="10" name="Text 7"/>
          <p:cNvSpPr/>
          <p:nvPr/>
        </p:nvSpPr>
        <p:spPr>
          <a:xfrm>
            <a:off x="4745355" y="3103245"/>
            <a:ext cx="2670175" cy="1062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2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HTTP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307364" y="4216241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超文本传输协议，定义浏览器与服务器间的请求/响应规则。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8692356" y="2641600"/>
            <a:ext cx="2921000" cy="2438400"/>
          </a:xfrm>
          <a:custGeom>
            <a:avLst/>
            <a:gdLst/>
            <a:ahLst/>
            <a:cxnLst/>
            <a:rect l="l" t="t" r="r" b="b"/>
            <a:pathLst>
              <a:path w="2921000" h="2438400">
                <a:moveTo>
                  <a:pt x="101608" y="0"/>
                </a:moveTo>
                <a:lnTo>
                  <a:pt x="2819392" y="0"/>
                </a:lnTo>
                <a:cubicBezTo>
                  <a:pt x="2875508" y="0"/>
                  <a:pt x="2921000" y="45492"/>
                  <a:pt x="2921000" y="101608"/>
                </a:cubicBezTo>
                <a:lnTo>
                  <a:pt x="2921000" y="2336792"/>
                </a:lnTo>
                <a:cubicBezTo>
                  <a:pt x="2921000" y="2392908"/>
                  <a:pt x="2875508" y="2438400"/>
                  <a:pt x="28193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867106" y="310388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14" name="Text 11"/>
          <p:cNvSpPr/>
          <p:nvPr/>
        </p:nvSpPr>
        <p:spPr>
          <a:xfrm>
            <a:off x="9236075" y="3103880"/>
            <a:ext cx="1939290" cy="985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HTML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00306" y="4140200"/>
            <a:ext cx="2705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超文本标记语言，制作万维网页面的标准语言。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7" grpId="0"/>
      <p:bldP spid="7" grpId="1"/>
      <p:bldP spid="6" grpId="0"/>
      <p:bldP spid="6" grpId="1"/>
      <p:bldP spid="10" grpId="0"/>
      <p:bldP spid="10" grpId="1"/>
      <p:bldP spid="11" grpId="0"/>
      <p:bldP spid="11" grpId="1"/>
      <p:bldP spid="14" grpId="0"/>
      <p:bldP spid="14" grpId="1"/>
      <p:bldP spid="15" grpId="0"/>
      <p:bldP spid="1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1249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HTTP无状态与Cookie会话补丁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733425" y="2413000"/>
            <a:ext cx="4673600" cy="2740025"/>
          </a:xfrm>
          <a:custGeom>
            <a:avLst/>
            <a:gdLst/>
            <a:ahLst/>
            <a:cxnLst/>
            <a:rect l="l" t="t" r="r" b="b"/>
            <a:pathLst>
              <a:path w="4673600" h="1371600">
                <a:moveTo>
                  <a:pt x="101594" y="0"/>
                </a:moveTo>
                <a:lnTo>
                  <a:pt x="4572006" y="0"/>
                </a:lnTo>
                <a:cubicBezTo>
                  <a:pt x="4628115" y="0"/>
                  <a:pt x="4673600" y="45485"/>
                  <a:pt x="4673600" y="101594"/>
                </a:cubicBezTo>
                <a:lnTo>
                  <a:pt x="4673600" y="1270006"/>
                </a:lnTo>
                <a:cubicBezTo>
                  <a:pt x="4673600" y="1326115"/>
                  <a:pt x="4628115" y="1371600"/>
                  <a:pt x="4572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873284" y="2616200"/>
            <a:ext cx="4394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HTTP无状态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92175" y="3073400"/>
            <a:ext cx="4356100" cy="1845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服务器默认不保存客户端上下文，每次请求需携带完整信息。这保证了协议的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简单高效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810250" y="2692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7484DF"/>
          </a:solidFill>
        </p:spPr>
      </p:sp>
      <p:sp>
        <p:nvSpPr>
          <p:cNvPr id="8" name="Text 5"/>
          <p:cNvSpPr/>
          <p:nvPr/>
        </p:nvSpPr>
        <p:spPr>
          <a:xfrm>
            <a:off x="5610225" y="3251200"/>
            <a:ext cx="1054100" cy="1003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Cookie补丁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784975" y="2413000"/>
            <a:ext cx="4673600" cy="2740025"/>
          </a:xfrm>
          <a:custGeom>
            <a:avLst/>
            <a:gdLst/>
            <a:ahLst/>
            <a:cxnLst/>
            <a:rect l="l" t="t" r="r" b="b"/>
            <a:pathLst>
              <a:path w="4673600" h="1371600">
                <a:moveTo>
                  <a:pt x="101594" y="0"/>
                </a:moveTo>
                <a:lnTo>
                  <a:pt x="4572006" y="0"/>
                </a:lnTo>
                <a:cubicBezTo>
                  <a:pt x="4628115" y="0"/>
                  <a:pt x="4673600" y="45485"/>
                  <a:pt x="4673600" y="101594"/>
                </a:cubicBezTo>
                <a:lnTo>
                  <a:pt x="4673600" y="1270006"/>
                </a:lnTo>
                <a:cubicBezTo>
                  <a:pt x="4673600" y="1326115"/>
                  <a:pt x="4628115" y="1371600"/>
                  <a:pt x="4572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7484DF">
              <a:alpha val="30196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6924516" y="2616200"/>
            <a:ext cx="4394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有状态会话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943725" y="3073400"/>
            <a:ext cx="4356100" cy="1845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通过在客户端存储小型文本文件(Cookie)，让请求自动带回标识，服务器据此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恢复会话状态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10" grpId="0"/>
      <p:bldP spid="10" grpId="1"/>
      <p:bldP spid="8" grpId="0"/>
      <p:bldP spid="8" grpId="1"/>
      <p:bldP spid="6" grpId="0"/>
      <p:bldP spid="6" grpId="1"/>
      <p:bldP spid="11" grpId="0"/>
      <p:bldP spid="1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电子邮件系统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43840"/>
            <a:ext cx="5727700" cy="208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SMTP：服务器间邮件搬运工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54000" y="2343150"/>
            <a:ext cx="5638800" cy="1543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基于TCP 25端口，使用命令应答模式将邮件从客户端推至服务器，或服务器间中继传输。负责信封寻址、差错回告与重试。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55600" y="4366895"/>
            <a:ext cx="5511800" cy="1115060"/>
          </a:xfrm>
          <a:custGeom>
            <a:avLst/>
            <a:gdLst/>
            <a:ahLst/>
            <a:cxnLst/>
            <a:rect l="l" t="t" r="r" b="b"/>
            <a:pathLst>
              <a:path w="5511800" h="457200">
                <a:moveTo>
                  <a:pt x="0" y="0"/>
                </a:moveTo>
                <a:lnTo>
                  <a:pt x="5410201" y="0"/>
                </a:lnTo>
                <a:cubicBezTo>
                  <a:pt x="5466313" y="0"/>
                  <a:pt x="5511800" y="45487"/>
                  <a:pt x="5511800" y="101599"/>
                </a:cubicBezTo>
                <a:lnTo>
                  <a:pt x="5511800" y="355601"/>
                </a:lnTo>
                <a:cubicBezTo>
                  <a:pt x="5511800" y="411713"/>
                  <a:pt x="5466313" y="457200"/>
                  <a:pt x="5410201" y="457200"/>
                </a:cubicBez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2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355600" y="4618355"/>
            <a:ext cx="76200" cy="601980"/>
          </a:xfrm>
          <a:custGeom>
            <a:avLst/>
            <a:gdLst/>
            <a:ahLst/>
            <a:cxnLst/>
            <a:rect l="l" t="t" r="r" b="b"/>
            <a:pathLst>
              <a:path w="50800" h="457200">
                <a:moveTo>
                  <a:pt x="0" y="0"/>
                </a:moveTo>
                <a:lnTo>
                  <a:pt x="50800" y="0"/>
                </a:lnTo>
                <a:lnTo>
                  <a:pt x="508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7" name="Text 4"/>
          <p:cNvSpPr/>
          <p:nvPr/>
        </p:nvSpPr>
        <p:spPr>
          <a:xfrm>
            <a:off x="508000" y="4366895"/>
            <a:ext cx="5372100" cy="1057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SMTP仅传输7位ASCII文本，需</a:t>
            </a:r>
            <a:r>
              <a:rPr lang="en-US" b="1" dirty="0">
                <a:solidFill>
                  <a:srgbClr val="007AFF"/>
                </a:solidFill>
                <a:highlight>
                  <a:srgbClr val="7484DF">
                    <a:alpha val="3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MIME </a:t>
            </a: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对多媒体内容进行编码。</a:t>
            </a:r>
            <a:endParaRPr lang="en-US" dirty="0"/>
          </a:p>
        </p:txBody>
      </p:sp>
      <p:pic>
        <p:nvPicPr>
          <p:cNvPr id="8" name="图片 7" descr="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220" y="770890"/>
            <a:ext cx="5565140" cy="5068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  <p:bldP spid="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POP3 vs. IMAP：收件的两种姿态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54000" y="1016000"/>
            <a:ext cx="5689600" cy="5588000"/>
          </a:xfrm>
          <a:custGeom>
            <a:avLst/>
            <a:gdLst/>
            <a:ahLst/>
            <a:cxnLst/>
            <a:rect l="l" t="t" r="r" b="b"/>
            <a:pathLst>
              <a:path w="5689600" h="5588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5486410"/>
                </a:lnTo>
                <a:cubicBezTo>
                  <a:pt x="5689600" y="5542517"/>
                  <a:pt x="5644117" y="5588000"/>
                  <a:pt x="5588010" y="5588000"/>
                </a:cubicBezTo>
                <a:lnTo>
                  <a:pt x="101590" y="5588000"/>
                </a:lnTo>
                <a:cubicBezTo>
                  <a:pt x="45483" y="5588000"/>
                  <a:pt x="0" y="5542517"/>
                  <a:pt x="0" y="548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381000" y="1219200"/>
            <a:ext cx="543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POP3: 下载带走</a:t>
            </a:r>
            <a:endParaRPr lang="en-US" sz="1600" dirty="0"/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457200" y="4225290"/>
            <a:ext cx="5372100" cy="2380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默认把邮件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整份下载到本地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下载后通常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删除服务器副本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适合离线阅读，服务器开销小。</a:t>
            </a:r>
            <a:endParaRPr lang="en-US" sz="2000" dirty="0"/>
          </a:p>
        </p:txBody>
      </p:sp>
      <p:sp>
        <p:nvSpPr>
          <p:cNvPr id="7" name="Shape 4"/>
          <p:cNvSpPr/>
          <p:nvPr>
            <p:custDataLst>
              <p:tags r:id="rId5"/>
            </p:custDataLst>
          </p:nvPr>
        </p:nvSpPr>
        <p:spPr>
          <a:xfrm>
            <a:off x="6248400" y="1016000"/>
            <a:ext cx="5689600" cy="5588000"/>
          </a:xfrm>
          <a:custGeom>
            <a:avLst/>
            <a:gdLst/>
            <a:ahLst/>
            <a:cxnLst/>
            <a:rect l="l" t="t" r="r" b="b"/>
            <a:pathLst>
              <a:path w="5689600" h="5588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5486410"/>
                </a:lnTo>
                <a:cubicBezTo>
                  <a:pt x="5689600" y="5542517"/>
                  <a:pt x="5644117" y="5588000"/>
                  <a:pt x="5588010" y="5588000"/>
                </a:cubicBezTo>
                <a:lnTo>
                  <a:pt x="101590" y="5588000"/>
                </a:lnTo>
                <a:cubicBezTo>
                  <a:pt x="45483" y="5588000"/>
                  <a:pt x="0" y="5542517"/>
                  <a:pt x="0" y="548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7484DF">
              <a:alpha val="30196"/>
            </a:srgbClr>
          </a:solidFill>
        </p:spPr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6375400" y="1219200"/>
            <a:ext cx="543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IMAP: 云端留存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6451600" y="4245610"/>
            <a:ext cx="5372100" cy="2371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在服务器端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维护文件夹与状态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客户端可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部分下载、多端同步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0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适合移动办公与海量邮件管理。</a:t>
            </a:r>
            <a:endParaRPr lang="en-US" sz="2000" dirty="0"/>
          </a:p>
        </p:txBody>
      </p:sp>
      <p:pic>
        <p:nvPicPr>
          <p:cNvPr id="10" name="图片 9" descr="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635" y="1833245"/>
            <a:ext cx="3639820" cy="2758440"/>
          </a:xfrm>
          <a:prstGeom prst="rect">
            <a:avLst/>
          </a:prstGeom>
        </p:spPr>
      </p:pic>
      <p:pic>
        <p:nvPicPr>
          <p:cNvPr id="11" name="图片 10" descr="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5340" y="1841500"/>
            <a:ext cx="3806825" cy="2749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6" grpId="0"/>
      <p:bldP spid="6" grpId="1"/>
      <p:bldP spid="9" grpId="0"/>
      <p:bldP spid="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文件传输与配置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1116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FTP双连接：控制与数据分道而行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516414" y="2463800"/>
            <a:ext cx="4673600" cy="2133600"/>
          </a:xfrm>
          <a:custGeom>
            <a:avLst/>
            <a:gdLst/>
            <a:ahLst/>
            <a:cxnLst/>
            <a:rect l="l" t="t" r="r" b="b"/>
            <a:pathLst>
              <a:path w="4673600" h="2133600">
                <a:moveTo>
                  <a:pt x="101602" y="0"/>
                </a:moveTo>
                <a:lnTo>
                  <a:pt x="4571998" y="0"/>
                </a:lnTo>
                <a:cubicBezTo>
                  <a:pt x="4628111" y="0"/>
                  <a:pt x="4673600" y="45489"/>
                  <a:pt x="4673600" y="101602"/>
                </a:cubicBezTo>
                <a:lnTo>
                  <a:pt x="4673600" y="2031998"/>
                </a:lnTo>
                <a:cubicBezTo>
                  <a:pt x="4673600" y="2088111"/>
                  <a:pt x="4628111" y="2133600"/>
                  <a:pt x="4571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2567464" y="269748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624364" y="2743200"/>
            <a:ext cx="4419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控制连接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642144" y="3225641"/>
            <a:ext cx="438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4A90E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TCP 21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667544" y="4013041"/>
            <a:ext cx="435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整个会话期间保持打开，用于传送FTP命令和响应。</a:t>
            </a:r>
            <a:endParaRPr lang="en-US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5714841" y="32258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7484DF"/>
          </a:solidFill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7001669" y="2336800"/>
            <a:ext cx="4673600" cy="2387600"/>
          </a:xfrm>
          <a:custGeom>
            <a:avLst/>
            <a:gdLst/>
            <a:ahLst/>
            <a:cxnLst/>
            <a:rect l="l" t="t" r="r" b="b"/>
            <a:pathLst>
              <a:path w="4673600" h="2387600">
                <a:moveTo>
                  <a:pt x="101592" y="0"/>
                </a:moveTo>
                <a:lnTo>
                  <a:pt x="4572008" y="0"/>
                </a:lnTo>
                <a:cubicBezTo>
                  <a:pt x="4628116" y="0"/>
                  <a:pt x="4673600" y="45484"/>
                  <a:pt x="4673600" y="101592"/>
                </a:cubicBezTo>
                <a:lnTo>
                  <a:pt x="4673600" y="2286008"/>
                </a:lnTo>
                <a:cubicBezTo>
                  <a:pt x="4673600" y="2342116"/>
                  <a:pt x="4628116" y="2387600"/>
                  <a:pt x="45720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7484DF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9052719" y="257048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7484DF"/>
          </a:solidFill>
        </p:spPr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7096919" y="2697480"/>
            <a:ext cx="4419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数据连接</a:t>
            </a: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7137559" y="3225641"/>
            <a:ext cx="438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7484D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TCP 20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7168674" y="3835241"/>
            <a:ext cx="4356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每次文件传输时才建立，传输完毕即释放，用于实际传输文件内容。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09550" y="5335270"/>
            <a:ext cx="11772900" cy="1268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工作模式：</a:t>
            </a:r>
            <a:r>
              <a:rPr lang="en-US" sz="2400" b="1" dirty="0">
                <a:solidFill>
                  <a:srgbClr val="007AFF"/>
                </a:solidFill>
                <a:highlight>
                  <a:srgbClr val="ADD8E6">
                    <a:alpha val="3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主动模式 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(服务器连客户端) vs. </a:t>
            </a:r>
            <a:r>
              <a:rPr lang="en-US" sz="2400" b="1" dirty="0">
                <a:solidFill>
                  <a:srgbClr val="007AFF"/>
                </a:solidFill>
                <a:highlight>
                  <a:srgbClr val="ADD8E6">
                    <a:alpha val="3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被动模式 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(客户端连服务器，更利于穿透防火墙)。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5" grpId="0"/>
      <p:bldP spid="15" grpId="1"/>
      <p:bldP spid="12" grpId="0"/>
      <p:bldP spid="12" grpId="1"/>
      <p:bldP spid="7" grpId="0"/>
      <p:bldP spid="7" grpId="1"/>
      <p:bldP spid="13" grpId="0"/>
      <p:bldP spid="13" grpId="1"/>
      <p:bldP spid="14" grpId="0"/>
      <p:bldP spid="14" grpId="1"/>
      <p:bldP spid="8" grpId="0"/>
      <p:bldP spid="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9404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DHCP四步舞曲：实现即插即用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1714500" y="1981200"/>
            <a:ext cx="8763000" cy="812800"/>
          </a:xfrm>
          <a:custGeom>
            <a:avLst/>
            <a:gdLst/>
            <a:ahLst/>
            <a:cxnLst/>
            <a:rect l="l" t="t" r="r" b="b"/>
            <a:pathLst>
              <a:path w="8763000" h="812800">
                <a:moveTo>
                  <a:pt x="10160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711200"/>
                </a:lnTo>
                <a:cubicBezTo>
                  <a:pt x="8763000" y="767275"/>
                  <a:pt x="8717475" y="812800"/>
                  <a:pt x="8661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1816100" y="208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1752600" y="2082800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2628900" y="2108200"/>
            <a:ext cx="379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发现 (Discover)</a:t>
            </a:r>
            <a:endParaRPr lang="en-US" sz="24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2628900" y="2413000"/>
            <a:ext cx="7832090" cy="391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新主机广播“DHCP发现”报文，寻找服务器。</a:t>
            </a:r>
            <a:endParaRPr lang="en-US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2019300" y="2895600"/>
            <a:ext cx="8763000" cy="812800"/>
          </a:xfrm>
          <a:custGeom>
            <a:avLst/>
            <a:gdLst/>
            <a:ahLst/>
            <a:cxnLst/>
            <a:rect l="l" t="t" r="r" b="b"/>
            <a:pathLst>
              <a:path w="8763000" h="812800">
                <a:moveTo>
                  <a:pt x="10160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711200"/>
                </a:lnTo>
                <a:cubicBezTo>
                  <a:pt x="8763000" y="767275"/>
                  <a:pt x="8717475" y="812800"/>
                  <a:pt x="8661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2120900" y="299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2057400" y="2997200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2933700" y="30226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 (Offer)</a:t>
            </a:r>
            <a:endParaRPr lang="en-US" sz="2400" dirty="0"/>
          </a:p>
        </p:txBody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2933700" y="3327400"/>
            <a:ext cx="7818120" cy="3790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DHCP服务器用“DHCP提供”报文响应，提供一个IP地址。</a:t>
            </a:r>
            <a:endParaRPr lang="en-US" dirty="0"/>
          </a:p>
        </p:txBody>
      </p:sp>
      <p:sp>
        <p:nvSpPr>
          <p:cNvPr id="14" name="Shape 11"/>
          <p:cNvSpPr/>
          <p:nvPr>
            <p:custDataLst>
              <p:tags r:id="rId12"/>
            </p:custDataLst>
          </p:nvPr>
        </p:nvSpPr>
        <p:spPr>
          <a:xfrm>
            <a:off x="1714500" y="3810000"/>
            <a:ext cx="8763000" cy="812800"/>
          </a:xfrm>
          <a:custGeom>
            <a:avLst/>
            <a:gdLst/>
            <a:ahLst/>
            <a:cxnLst/>
            <a:rect l="l" t="t" r="r" b="b"/>
            <a:pathLst>
              <a:path w="8763000" h="812800">
                <a:moveTo>
                  <a:pt x="10160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711200"/>
                </a:lnTo>
                <a:cubicBezTo>
                  <a:pt x="8763000" y="767275"/>
                  <a:pt x="8717475" y="812800"/>
                  <a:pt x="8661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5" name="Shape 12"/>
          <p:cNvSpPr/>
          <p:nvPr>
            <p:custDataLst>
              <p:tags r:id="rId13"/>
            </p:custDataLst>
          </p:nvPr>
        </p:nvSpPr>
        <p:spPr>
          <a:xfrm>
            <a:off x="1816100" y="391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6" name="Text 13"/>
          <p:cNvSpPr/>
          <p:nvPr>
            <p:custDataLst>
              <p:tags r:id="rId14"/>
            </p:custDataLst>
          </p:nvPr>
        </p:nvSpPr>
        <p:spPr>
          <a:xfrm>
            <a:off x="1752600" y="3911600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15"/>
            </p:custDataLst>
          </p:nvPr>
        </p:nvSpPr>
        <p:spPr>
          <a:xfrm>
            <a:off x="2628900" y="3937000"/>
            <a:ext cx="433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请求 (Request)</a:t>
            </a:r>
            <a:endParaRPr lang="en-US" sz="2400" dirty="0"/>
          </a:p>
        </p:txBody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2628900" y="4241800"/>
            <a:ext cx="7823835" cy="3568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主机选择一个服务器，广播“DHCP请求”报文确认。</a:t>
            </a:r>
            <a:endParaRPr lang="en-US" dirty="0"/>
          </a:p>
        </p:txBody>
      </p:sp>
      <p:sp>
        <p:nvSpPr>
          <p:cNvPr id="19" name="Shape 16"/>
          <p:cNvSpPr/>
          <p:nvPr>
            <p:custDataLst>
              <p:tags r:id="rId17"/>
            </p:custDataLst>
          </p:nvPr>
        </p:nvSpPr>
        <p:spPr>
          <a:xfrm>
            <a:off x="2019300" y="4724400"/>
            <a:ext cx="8763000" cy="812800"/>
          </a:xfrm>
          <a:custGeom>
            <a:avLst/>
            <a:gdLst/>
            <a:ahLst/>
            <a:cxnLst/>
            <a:rect l="l" t="t" r="r" b="b"/>
            <a:pathLst>
              <a:path w="8763000" h="812800">
                <a:moveTo>
                  <a:pt x="101600" y="0"/>
                </a:moveTo>
                <a:lnTo>
                  <a:pt x="8661400" y="0"/>
                </a:lnTo>
                <a:cubicBezTo>
                  <a:pt x="8717475" y="0"/>
                  <a:pt x="8763000" y="45525"/>
                  <a:pt x="8763000" y="101600"/>
                </a:cubicBezTo>
                <a:lnTo>
                  <a:pt x="8763000" y="711200"/>
                </a:lnTo>
                <a:cubicBezTo>
                  <a:pt x="8763000" y="767275"/>
                  <a:pt x="8717475" y="812800"/>
                  <a:pt x="8661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20" name="Shape 17"/>
          <p:cNvSpPr/>
          <p:nvPr>
            <p:custDataLst>
              <p:tags r:id="rId18"/>
            </p:custDataLst>
          </p:nvPr>
        </p:nvSpPr>
        <p:spPr>
          <a:xfrm>
            <a:off x="2120900" y="482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21" name="Text 18"/>
          <p:cNvSpPr/>
          <p:nvPr>
            <p:custDataLst>
              <p:tags r:id="rId19"/>
            </p:custDataLst>
          </p:nvPr>
        </p:nvSpPr>
        <p:spPr>
          <a:xfrm>
            <a:off x="2057400" y="4826000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>
            <p:custDataLst>
              <p:tags r:id="rId20"/>
            </p:custDataLst>
          </p:nvPr>
        </p:nvSpPr>
        <p:spPr>
          <a:xfrm>
            <a:off x="2933700" y="4851400"/>
            <a:ext cx="502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确认 (ACK)</a:t>
            </a:r>
            <a:endParaRPr lang="en-US" sz="2400" dirty="0"/>
          </a:p>
        </p:txBody>
      </p:sp>
      <p:sp>
        <p:nvSpPr>
          <p:cNvPr id="23" name="Text 20"/>
          <p:cNvSpPr/>
          <p:nvPr>
            <p:custDataLst>
              <p:tags r:id="rId21"/>
            </p:custDataLst>
          </p:nvPr>
        </p:nvSpPr>
        <p:spPr>
          <a:xfrm>
            <a:off x="2933700" y="5156200"/>
            <a:ext cx="778446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服务器用“DHCP确认”报文响应，正式分配IP地址和租用期。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7" grpId="0"/>
      <p:bldP spid="7" grpId="1"/>
      <p:bldP spid="8" grpId="0"/>
      <p:bldP spid="8" grpId="1"/>
      <p:bldP spid="12" grpId="0"/>
      <p:bldP spid="12" grpId="1"/>
      <p:bldP spid="13" grpId="0"/>
      <p:bldP spid="13" grpId="1"/>
      <p:bldP spid="17" grpId="0"/>
      <p:bldP spid="17" grpId="1"/>
      <p:bldP spid="18" grpId="0"/>
      <p:bldP spid="18" grpId="1"/>
      <p:bldP spid="22" grpId="0"/>
      <p:bldP spid="22" grpId="1"/>
      <p:bldP spid="23" grpId="0"/>
      <p:bldP spid="2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协议横向对比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965200"/>
            <a:ext cx="11874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核心应用协议速查表</a:t>
            </a:r>
            <a:endParaRPr lang="en-US" sz="4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254000" y="2184400"/>
          <a:ext cx="11684000" cy="3149601"/>
        </p:xfrm>
        <a:graphic>
          <a:graphicData uri="http://schemas.openxmlformats.org/drawingml/2006/table">
            <a:tbl>
              <a:tblPr/>
              <a:tblGrid>
                <a:gridCol w="2245459"/>
                <a:gridCol w="1953676"/>
                <a:gridCol w="3653629"/>
                <a:gridCol w="3831236"/>
              </a:tblGrid>
              <a:tr h="44994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应用</a:t>
                      </a:r>
                      <a:endParaRPr lang="en-US" sz="2000" b="1" dirty="0">
                        <a:solidFill>
                          <a:schemeClr val="tx1"/>
                        </a:solidFill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核心协议</a:t>
                      </a:r>
                      <a:endParaRPr lang="en-US" sz="2000" b="1" dirty="0">
                        <a:solidFill>
                          <a:schemeClr val="tx1"/>
                        </a:solidFill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传输层协议/端口</a:t>
                      </a:r>
                      <a:endParaRPr lang="en-US" sz="2000" b="1" dirty="0">
                        <a:solidFill>
                          <a:schemeClr val="tx1"/>
                        </a:solidFill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主要功能/特点</a:t>
                      </a:r>
                      <a:endParaRPr lang="en-US" sz="2000" b="1" dirty="0">
                        <a:solidFill>
                          <a:schemeClr val="tx1"/>
                        </a:solidFill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9943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域名解析</a:t>
                      </a:r>
                      <a:endParaRPr lang="en-US" sz="2400" b="1" u="none" dirty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DNS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UDP/TCP 53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将域名转换为IP地址。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</a:tr>
              <a:tr h="449943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万维网</a:t>
                      </a:r>
                      <a:endParaRPr 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HTTP/HTTPS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TCP 80/443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传输Web资源，无状态。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  <a:tr h="449943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电</a:t>
                      </a:r>
                      <a:r>
                        <a:rPr lang="en-US" sz="2000" b="1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子邮件(发送)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SMTP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TCP 25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在邮件服务器间传送邮件。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</a:tr>
              <a:tr h="449943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电子邮件(接收)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POP3/IMAP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TCP 110/143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从服务器读取邮件到本地。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  <a:tr h="449943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文件传输</a:t>
                      </a:r>
                      <a:endParaRPr lang="en-US" sz="2000" b="1" u="none" dirty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FTP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TCP 20(数据) 21(控制)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使用分离的控制和数据连接。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</a:tr>
              <a:tr h="449943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地址自动配置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DHCP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UDP 67(服务器) 68(客户)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为主机自动分配IP地址。</a:t>
                      </a:r>
                      <a:endParaRPr lang="en-US"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总结与展望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应用层全景：模型与协议拼图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54000" y="1016000"/>
            <a:ext cx="5740400" cy="4470400"/>
          </a:xfrm>
          <a:custGeom>
            <a:avLst/>
            <a:gdLst/>
            <a:ahLst/>
            <a:cxnLst/>
            <a:rect l="l" t="t" r="r" b="b"/>
            <a:pathLst>
              <a:path w="5740400" h="4470400">
                <a:moveTo>
                  <a:pt x="101612" y="0"/>
                </a:moveTo>
                <a:lnTo>
                  <a:pt x="5638788" y="0"/>
                </a:lnTo>
                <a:cubicBezTo>
                  <a:pt x="5694907" y="0"/>
                  <a:pt x="5740400" y="45493"/>
                  <a:pt x="5740400" y="101612"/>
                </a:cubicBezTo>
                <a:lnTo>
                  <a:pt x="5740400" y="4368788"/>
                </a:lnTo>
                <a:cubicBezTo>
                  <a:pt x="5740400" y="4424907"/>
                  <a:pt x="5694907" y="4470400"/>
                  <a:pt x="5638788" y="4470400"/>
                </a:cubicBezTo>
                <a:lnTo>
                  <a:pt x="101612" y="4470400"/>
                </a:lnTo>
                <a:cubicBezTo>
                  <a:pt x="45493" y="4470400"/>
                  <a:pt x="0" y="4424907"/>
                  <a:pt x="0" y="4368788"/>
                </a:cubicBezTo>
                <a:lnTo>
                  <a:pt x="0" y="101612"/>
                </a:lnTo>
                <a:cubicBezTo>
                  <a:pt x="0" y="45531"/>
                  <a:pt x="45531" y="0"/>
                  <a:pt x="101612" y="0"/>
                </a:cubicBezTo>
                <a:close/>
              </a:path>
            </a:pathLst>
          </a:custGeom>
          <a:solidFill>
            <a:srgbClr val="4A90E2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743200" y="23114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>
            <a:off x="2502535" y="2905125"/>
            <a:ext cx="1397000" cy="574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应用模型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6400" y="3581400"/>
            <a:ext cx="5435600" cy="862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C/S模型 (Web, FTP) 与 P2P模型 (BitTorrent) 决定组织架构。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197600" y="1016000"/>
            <a:ext cx="5740400" cy="2133600"/>
          </a:xfrm>
          <a:custGeom>
            <a:avLst/>
            <a:gdLst/>
            <a:ahLst/>
            <a:cxnLst/>
            <a:rect l="l" t="t" r="r" b="b"/>
            <a:pathLst>
              <a:path w="5740400" h="2133600">
                <a:moveTo>
                  <a:pt x="101602" y="0"/>
                </a:moveTo>
                <a:lnTo>
                  <a:pt x="5638798" y="0"/>
                </a:lnTo>
                <a:cubicBezTo>
                  <a:pt x="5694911" y="0"/>
                  <a:pt x="5740400" y="45489"/>
                  <a:pt x="5740400" y="101602"/>
                </a:cubicBezTo>
                <a:lnTo>
                  <a:pt x="5740400" y="2031998"/>
                </a:lnTo>
                <a:cubicBezTo>
                  <a:pt x="5740400" y="2088111"/>
                  <a:pt x="5694911" y="2133600"/>
                  <a:pt x="56387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6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0000" y="18948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0" name="Text 7"/>
          <p:cNvSpPr/>
          <p:nvPr/>
        </p:nvSpPr>
        <p:spPr>
          <a:xfrm>
            <a:off x="6978650" y="1778000"/>
            <a:ext cx="2451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资源定位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978650" y="2133600"/>
            <a:ext cx="4446905" cy="563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DNS完成名字到地址的映射。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197600" y="3352800"/>
            <a:ext cx="2768600" cy="2133600"/>
          </a:xfrm>
          <a:custGeom>
            <a:avLst/>
            <a:gdLst/>
            <a:ahLst/>
            <a:cxnLst/>
            <a:rect l="l" t="t" r="r" b="b"/>
            <a:pathLst>
              <a:path w="2768600" h="2133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2031998"/>
                </a:lnTo>
                <a:cubicBezTo>
                  <a:pt x="2768600" y="2088111"/>
                  <a:pt x="2723111" y="2133600"/>
                  <a:pt x="2666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6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50000" y="42316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4" name="Text 11"/>
          <p:cNvSpPr/>
          <p:nvPr/>
        </p:nvSpPr>
        <p:spPr>
          <a:xfrm>
            <a:off x="6978650" y="4114800"/>
            <a:ext cx="1803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Web传输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978650" y="4470400"/>
            <a:ext cx="1778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HTTP解决资源传输。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9169400" y="3352800"/>
            <a:ext cx="2768600" cy="2133600"/>
          </a:xfrm>
          <a:custGeom>
            <a:avLst/>
            <a:gdLst/>
            <a:ahLst/>
            <a:cxnLst/>
            <a:rect l="l" t="t" r="r" b="b"/>
            <a:pathLst>
              <a:path w="2768600" h="2133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2031998"/>
                </a:lnTo>
                <a:cubicBezTo>
                  <a:pt x="2768600" y="2088111"/>
                  <a:pt x="2723111" y="2133600"/>
                  <a:pt x="2666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6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321800" y="42316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4A90E2"/>
          </a:solidFill>
        </p:spPr>
      </p:sp>
      <p:sp>
        <p:nvSpPr>
          <p:cNvPr id="18" name="Text 15"/>
          <p:cNvSpPr/>
          <p:nvPr/>
        </p:nvSpPr>
        <p:spPr>
          <a:xfrm>
            <a:off x="9950450" y="3987800"/>
            <a:ext cx="1955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邮件系统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950450" y="4343400"/>
            <a:ext cx="1930400" cy="1136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SMTP/POP3/IMAP负责邮件传递。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254000" y="5689600"/>
            <a:ext cx="11684000" cy="914400"/>
          </a:xfrm>
          <a:custGeom>
            <a:avLst/>
            <a:gdLst/>
            <a:ahLst/>
            <a:cxnLst/>
            <a:rect l="l" t="t" r="r" b="b"/>
            <a:pathLst>
              <a:path w="11684000" h="9144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812801"/>
                </a:lnTo>
                <a:cubicBezTo>
                  <a:pt x="11684000" y="868913"/>
                  <a:pt x="11638513" y="914400"/>
                  <a:pt x="11582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7484DF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06400" y="59588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</p:spPr>
      </p:sp>
      <p:sp>
        <p:nvSpPr>
          <p:cNvPr id="22" name="Text 19"/>
          <p:cNvSpPr/>
          <p:nvPr/>
        </p:nvSpPr>
        <p:spPr>
          <a:xfrm>
            <a:off x="1035050" y="5842000"/>
            <a:ext cx="7810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扩展与补丁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035050" y="6197600"/>
            <a:ext cx="1065022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MIME, Cookie, DHCP等扩展让原始协议持续适应新需求，完成“模型-定位-协议-扩展”的拼图。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2" grpId="0"/>
      <p:bldP spid="22" grpId="1"/>
      <p:bldP spid="7" grpId="0"/>
      <p:bldP spid="7" grpId="1"/>
      <p:bldP spid="6" grpId="0"/>
      <p:bldP spid="6" grpId="1"/>
      <p:bldP spid="10" grpId="0"/>
      <p:bldP spid="10" grpId="1"/>
      <p:bldP spid="11" grpId="0"/>
      <p:bldP spid="11" grpId="1"/>
      <p:bldP spid="14" grpId="0"/>
      <p:bldP spid="14" grpId="1"/>
      <p:bldP spid="18" grpId="0"/>
      <p:bldP spid="18" grpId="1"/>
      <p:bldP spid="15" grpId="0"/>
      <p:bldP spid="15" grpId="1"/>
      <p:bldP spid="19" grpId="0"/>
      <p:bldP spid="1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23-d2tarqtnfo2stf9djkm0.jpg"/>
          <p:cNvPicPr>
            <a:picLocks noChangeAspect="1"/>
          </p:cNvPicPr>
          <p:nvPr/>
        </p:nvPicPr>
        <p:blipFill>
          <a:blip r:embed="rId1"/>
          <a:srcRect t="104" b="104"/>
          <a:stretch>
            <a:fillRect/>
          </a:stretch>
        </p:blipFill>
        <p:spPr>
          <a:xfrm flipH="1"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pic>
        <p:nvPicPr>
          <p:cNvPr id="7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527665" y="365125"/>
            <a:ext cx="262890" cy="11703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6615" y="5796915"/>
            <a:ext cx="363283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856615" y="5603875"/>
            <a:ext cx="5768975" cy="52451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甘芝清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黄慧雯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林银蕊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93356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汇报日期：2025/12/27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513887" y="5982681"/>
            <a:ext cx="6486525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Text 11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pic>
        <p:nvPicPr>
          <p:cNvPr id="16" name="Image 2" descr="https://kimi-img.moonshot.cn/pub/slides/slides_tmpl/image/25-09-05-17:31:23-d2tarqtnfo2stf9djk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805" y="1319530"/>
            <a:ext cx="3823335" cy="4227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3" grpId="0"/>
      <p:bldP spid="13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2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3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4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5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6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7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8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9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10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11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12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13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14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15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16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17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18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19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20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21.xml><?xml version="1.0" encoding="utf-8"?>
<p:tagLst xmlns:p="http://schemas.openxmlformats.org/presentationml/2006/main">
  <p:tag name="KSO_WM_DIAGRAM_VIRTUALLY_FRAME" val="{&quot;height&quot;:441.15,&quot;left&quot;:359.9,&quot;top&quot;:61,&quot;width&quot;:583.35}"/>
</p:tagLst>
</file>

<file path=ppt/tags/tag22.xml><?xml version="1.0" encoding="utf-8"?>
<p:tagLst xmlns:p="http://schemas.openxmlformats.org/presentationml/2006/main">
  <p:tag name="KSO_WM_DIAGRAM_VIRTUALLY_FRAME" val="{&quot;height&quot;:440,&quot;left&quot;:20,&quot;top&quot;:80,&quot;width&quot;:920}"/>
</p:tagLst>
</file>

<file path=ppt/tags/tag23.xml><?xml version="1.0" encoding="utf-8"?>
<p:tagLst xmlns:p="http://schemas.openxmlformats.org/presentationml/2006/main">
  <p:tag name="KSO_WM_DIAGRAM_VIRTUALLY_FRAME" val="{&quot;height&quot;:440,&quot;left&quot;:20,&quot;top&quot;:80,&quot;width&quot;:920}"/>
</p:tagLst>
</file>

<file path=ppt/tags/tag24.xml><?xml version="1.0" encoding="utf-8"?>
<p:tagLst xmlns:p="http://schemas.openxmlformats.org/presentationml/2006/main">
  <p:tag name="KSO_WM_DIAGRAM_VIRTUALLY_FRAME" val="{&quot;height&quot;:440,&quot;left&quot;:20,&quot;top&quot;:80,&quot;width&quot;:920}"/>
</p:tagLst>
</file>

<file path=ppt/tags/tag25.xml><?xml version="1.0" encoding="utf-8"?>
<p:tagLst xmlns:p="http://schemas.openxmlformats.org/presentationml/2006/main">
  <p:tag name="KSO_WM_DIAGRAM_VIRTUALLY_FRAME" val="{&quot;height&quot;:440,&quot;left&quot;:20,&quot;top&quot;:80,&quot;width&quot;:920}"/>
</p:tagLst>
</file>

<file path=ppt/tags/tag26.xml><?xml version="1.0" encoding="utf-8"?>
<p:tagLst xmlns:p="http://schemas.openxmlformats.org/presentationml/2006/main">
  <p:tag name="KSO_WM_DIAGRAM_VIRTUALLY_FRAME" val="{&quot;height&quot;:440,&quot;left&quot;:20,&quot;top&quot;:80,&quot;width&quot;:920}"/>
</p:tagLst>
</file>

<file path=ppt/tags/tag27.xml><?xml version="1.0" encoding="utf-8"?>
<p:tagLst xmlns:p="http://schemas.openxmlformats.org/presentationml/2006/main">
  <p:tag name="KSO_WM_DIAGRAM_VIRTUALLY_FRAME" val="{&quot;height&quot;:440,&quot;left&quot;:20,&quot;top&quot;:80,&quot;width&quot;:920}"/>
</p:tagLst>
</file>

<file path=ppt/tags/tag28.xml><?xml version="1.0" encoding="utf-8"?>
<p:tagLst xmlns:p="http://schemas.openxmlformats.org/presentationml/2006/main">
  <p:tag name="KSO_WM_DIAGRAM_VIRTUALLY_FRAME" val="{&quot;height&quot;:440,&quot;left&quot;:20,&quot;top&quot;:80,&quot;width&quot;:920}"/>
</p:tagLst>
</file>

<file path=ppt/tags/tag29.xml><?xml version="1.0" encoding="utf-8"?>
<p:tagLst xmlns:p="http://schemas.openxmlformats.org/presentationml/2006/main">
  <p:tag name="KSO_WM_DIAGRAM_VIRTUALLY_FRAME" val="{&quot;height&quot;:440,&quot;left&quot;:20,&quot;top&quot;:80,&quot;width&quot;:920}"/>
</p:tagLst>
</file>

<file path=ppt/tags/tag30.xml><?xml version="1.0" encoding="utf-8"?>
<p:tagLst xmlns:p="http://schemas.openxmlformats.org/presentationml/2006/main">
  <p:tag name="KSO_WM_DIAGRAM_VIRTUALLY_FRAME" val="{&quot;height&quot;:440,&quot;left&quot;:20,&quot;top&quot;:80,&quot;width&quot;:920}"/>
</p:tagLst>
</file>

<file path=ppt/tags/tag31.xml><?xml version="1.0" encoding="utf-8"?>
<p:tagLst xmlns:p="http://schemas.openxmlformats.org/presentationml/2006/main">
  <p:tag name="KSO_WM_DIAGRAM_VIRTUALLY_FRAME" val="{&quot;height&quot;:440,&quot;left&quot;:20,&quot;top&quot;:80,&quot;width&quot;:920}"/>
</p:tagLst>
</file>

<file path=ppt/tags/tag32.xml><?xml version="1.0" encoding="utf-8"?>
<p:tagLst xmlns:p="http://schemas.openxmlformats.org/presentationml/2006/main">
  <p:tag name="KSO_WM_DIAGRAM_VIRTUALLY_FRAME" val="{&quot;height&quot;:400,&quot;left&quot;:20,&quot;top&quot;:80,&quot;width&quot;:920}"/>
</p:tagLst>
</file>

<file path=ppt/tags/tag33.xml><?xml version="1.0" encoding="utf-8"?>
<p:tagLst xmlns:p="http://schemas.openxmlformats.org/presentationml/2006/main">
  <p:tag name="KSO_WM_DIAGRAM_VIRTUALLY_FRAME" val="{&quot;height&quot;:400,&quot;left&quot;:20,&quot;top&quot;:80,&quot;width&quot;:920}"/>
</p:tagLst>
</file>

<file path=ppt/tags/tag34.xml><?xml version="1.0" encoding="utf-8"?>
<p:tagLst xmlns:p="http://schemas.openxmlformats.org/presentationml/2006/main">
  <p:tag name="KSO_WM_DIAGRAM_VIRTUALLY_FRAME" val="{&quot;height&quot;:400,&quot;left&quot;:20,&quot;top&quot;:80,&quot;width&quot;:920}"/>
</p:tagLst>
</file>

<file path=ppt/tags/tag35.xml><?xml version="1.0" encoding="utf-8"?>
<p:tagLst xmlns:p="http://schemas.openxmlformats.org/presentationml/2006/main">
  <p:tag name="KSO_WM_DIAGRAM_VIRTUALLY_FRAME" val="{&quot;height&quot;:400,&quot;left&quot;:20,&quot;top&quot;:80,&quot;width&quot;:920}"/>
</p:tagLst>
</file>

<file path=ppt/tags/tag36.xml><?xml version="1.0" encoding="utf-8"?>
<p:tagLst xmlns:p="http://schemas.openxmlformats.org/presentationml/2006/main">
  <p:tag name="KSO_WM_DIAGRAM_VIRTUALLY_FRAME" val="{&quot;height&quot;:400,&quot;left&quot;:20,&quot;top&quot;:80,&quot;width&quot;:920}"/>
</p:tagLst>
</file>

<file path=ppt/tags/tag37.xml><?xml version="1.0" encoding="utf-8"?>
<p:tagLst xmlns:p="http://schemas.openxmlformats.org/presentationml/2006/main">
  <p:tag name="KSO_WM_DIAGRAM_VIRTUALLY_FRAME" val="{&quot;height&quot;:400,&quot;left&quot;:20,&quot;top&quot;:80,&quot;width&quot;:920}"/>
</p:tagLst>
</file>

<file path=ppt/tags/tag38.xml><?xml version="1.0" encoding="utf-8"?>
<p:tagLst xmlns:p="http://schemas.openxmlformats.org/presentationml/2006/main">
  <p:tag name="KSO_WM_DIAGRAM_VIRTUALLY_FRAME" val="{&quot;height&quot;:441,&quot;left&quot;:20,&quot;top&quot;:80,&quot;width&quot;:920}"/>
</p:tagLst>
</file>

<file path=ppt/tags/tag39.xml><?xml version="1.0" encoding="utf-8"?>
<p:tagLst xmlns:p="http://schemas.openxmlformats.org/presentationml/2006/main">
  <p:tag name="KSO_WM_DIAGRAM_VIRTUALLY_FRAME" val="{&quot;height&quot;:441,&quot;left&quot;:20,&quot;top&quot;:80,&quot;width&quot;:920}"/>
</p:tagLst>
</file>

<file path=ppt/tags/tag40.xml><?xml version="1.0" encoding="utf-8"?>
<p:tagLst xmlns:p="http://schemas.openxmlformats.org/presentationml/2006/main">
  <p:tag name="KSO_WM_DIAGRAM_VIRTUALLY_FRAME" val="{&quot;height&quot;:441,&quot;left&quot;:20,&quot;top&quot;:80,&quot;width&quot;:920}"/>
</p:tagLst>
</file>

<file path=ppt/tags/tag41.xml><?xml version="1.0" encoding="utf-8"?>
<p:tagLst xmlns:p="http://schemas.openxmlformats.org/presentationml/2006/main">
  <p:tag name="KSO_WM_DIAGRAM_VIRTUALLY_FRAME" val="{&quot;height&quot;:441,&quot;left&quot;:20,&quot;top&quot;:80,&quot;width&quot;:920}"/>
</p:tagLst>
</file>

<file path=ppt/tags/tag42.xml><?xml version="1.0" encoding="utf-8"?>
<p:tagLst xmlns:p="http://schemas.openxmlformats.org/presentationml/2006/main">
  <p:tag name="KSO_WM_DIAGRAM_VIRTUALLY_FRAME" val="{&quot;height&quot;:441,&quot;left&quot;:20,&quot;top&quot;:80,&quot;width&quot;:920}"/>
</p:tagLst>
</file>

<file path=ppt/tags/tag43.xml><?xml version="1.0" encoding="utf-8"?>
<p:tagLst xmlns:p="http://schemas.openxmlformats.org/presentationml/2006/main">
  <p:tag name="KSO_WM_DIAGRAM_VIRTUALLY_FRAME" val="{&quot;height&quot;:441,&quot;left&quot;:20,&quot;top&quot;:80,&quot;width&quot;:920}"/>
</p:tagLst>
</file>

<file path=ppt/tags/tag44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45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46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47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48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49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50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51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52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53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54.xml><?xml version="1.0" encoding="utf-8"?>
<p:tagLst xmlns:p="http://schemas.openxmlformats.org/presentationml/2006/main">
  <p:tag name="KSO_WM_DIAGRAM_VIRTUALLY_FRAME" val="{&quot;height&quot;:188,&quot;left&quot;:40.66251968503937,&quot;top&quot;:184,&quot;width&quot;:878.65}"/>
</p:tagLst>
</file>

<file path=ppt/tags/tag55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56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57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58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59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60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61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62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63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64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65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66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67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68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69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70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71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72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73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ags/tag74.xml><?xml version="1.0" encoding="utf-8"?>
<p:tagLst xmlns:p="http://schemas.openxmlformats.org/presentationml/2006/main">
  <p:tag name="KSO_WM_DIAGRAM_VIRTUALLY_FRAME" val="{&quot;height&quot;:280,&quot;left&quot;:135,&quot;top&quot;:156,&quot;width&quot;:714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1889</Words>
  <Application>WPS 演示</Application>
  <PresentationFormat>On-screen Show (16:9)</PresentationFormat>
  <Paragraphs>294</Paragraphs>
  <Slides>22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微软雅黑</vt:lpstr>
      <vt:lpstr>MingLiU-ExtB</vt:lpstr>
      <vt:lpstr>Microsoft JhengHei UI Light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应用层协议漫游：从DNS到DHCP</dc:title>
  <dc:creator>Kimi</dc:creator>
  <dc:subject>应用层协议漫游：从DNS到DHCP</dc:subject>
  <cp:lastModifiedBy>WPS_1694490358</cp:lastModifiedBy>
  <cp:revision>14</cp:revision>
  <dcterms:created xsi:type="dcterms:W3CDTF">2025-12-27T08:56:00Z</dcterms:created>
  <dcterms:modified xsi:type="dcterms:W3CDTF">2025-12-27T11:52:17Z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{"Label":"应用层协议漫游：从DNS到DHCP","ContentProducer":"001191110108MACG2KBH8F10000","ProduceID":"d57posu4bbjgu8ke6h30","ReservedCode1":"","ContentPropagator":"001191110108MACG2KBH8F20000","PropagateID":"d57posu4bbjgu8ke6h30","ReservedCode2":""}</vt:lpwstr>
  </property>
  <property fmtid="{D5CDD505-2E9C-101B-9397-08002B2CF9AE}" pid="3" name="ICV">
    <vt:lpwstr>BB83D3C6FA4248E3B037B25738D8AEBD_12</vt:lpwstr>
  </property>
  <property fmtid="{D5CDD505-2E9C-101B-9397-08002B2CF9AE}" pid="4" name="KSOProductBuildVer">
    <vt:lpwstr>2052-12.1.0.24034</vt:lpwstr>
  </property>
</Properties>
</file>