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  <p:embeddedFontLs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75020"/>
            <a:ext cx="6745605" cy="60833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0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网络安全：从威胁到信任的闭环</a:t>
            </a:r>
            <a:endParaRPr lang="en-US" sz="6000" dirty="0"/>
          </a:p>
        </p:txBody>
      </p:sp>
      <p:pic>
        <p:nvPicPr>
          <p:cNvPr id="12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44550" y="2692400"/>
            <a:ext cx="266319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7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 flipH="1">
            <a:off x="4570730" y="135763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 flipH="1">
            <a:off x="4570730" y="217233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 flipH="1">
            <a:off x="4570730" y="292481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 flipH="1">
            <a:off x="4570730" y="370014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 flipH="1">
            <a:off x="4570730" y="444373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4" name="Shape 9"/>
          <p:cNvSpPr/>
          <p:nvPr/>
        </p:nvSpPr>
        <p:spPr>
          <a:xfrm flipH="1">
            <a:off x="4570730" y="522795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pic>
        <p:nvPicPr>
          <p:cNvPr id="22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252980" y="4632325"/>
            <a:ext cx="892175" cy="93853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052955" y="525907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pic>
        <p:nvPicPr>
          <p:cNvPr id="24" name="Image 4" descr="https://kimi-img.moonshot.cn/pub/slides/slides_tmpl/image/25-09-05-17:31:01-d2tarldnfo2stf9djk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841865" y="1183640"/>
            <a:ext cx="1897380" cy="1684020"/>
          </a:xfrm>
          <a:prstGeom prst="rect">
            <a:avLst/>
          </a:prstGeom>
        </p:spPr>
      </p:pic>
      <p:sp>
        <p:nvSpPr>
          <p:cNvPr id="25" name="Text 18"/>
          <p:cNvSpPr/>
          <p:nvPr>
            <p:custDataLst>
              <p:tags r:id="rId5"/>
            </p:custDataLst>
          </p:nvPr>
        </p:nvSpPr>
        <p:spPr>
          <a:xfrm>
            <a:off x="4835525" y="1219835"/>
            <a:ext cx="806450" cy="5625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6" name="Text 19"/>
          <p:cNvSpPr/>
          <p:nvPr>
            <p:custDataLst>
              <p:tags r:id="rId6"/>
            </p:custDataLst>
          </p:nvPr>
        </p:nvSpPr>
        <p:spPr>
          <a:xfrm>
            <a:off x="5642610" y="1403350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安全目标与威胁图谱</a:t>
            </a:r>
            <a:endParaRPr lang="en-US" sz="2400" dirty="0"/>
          </a:p>
        </p:txBody>
      </p:sp>
      <p:sp>
        <p:nvSpPr>
          <p:cNvPr id="27" name="Text 20"/>
          <p:cNvSpPr/>
          <p:nvPr>
            <p:custDataLst>
              <p:tags r:id="rId7"/>
            </p:custDataLst>
          </p:nvPr>
        </p:nvSpPr>
        <p:spPr>
          <a:xfrm>
            <a:off x="4835525" y="2028825"/>
            <a:ext cx="806450" cy="5625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8" name="Text 21"/>
          <p:cNvSpPr/>
          <p:nvPr>
            <p:custDataLst>
              <p:tags r:id="rId8"/>
            </p:custDataLst>
          </p:nvPr>
        </p:nvSpPr>
        <p:spPr>
          <a:xfrm>
            <a:off x="5642610" y="2187575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密码双体制：对称与非对称</a:t>
            </a:r>
            <a:endParaRPr lang="en-US" sz="2400" dirty="0"/>
          </a:p>
        </p:txBody>
      </p:sp>
      <p:sp>
        <p:nvSpPr>
          <p:cNvPr id="29" name="Text 22"/>
          <p:cNvSpPr/>
          <p:nvPr>
            <p:custDataLst>
              <p:tags r:id="rId9"/>
            </p:custDataLst>
          </p:nvPr>
        </p:nvSpPr>
        <p:spPr>
          <a:xfrm>
            <a:off x="4835525" y="2781935"/>
            <a:ext cx="806450" cy="5625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30" name="Text 23"/>
          <p:cNvSpPr/>
          <p:nvPr>
            <p:custDataLst>
              <p:tags r:id="rId10"/>
            </p:custDataLst>
          </p:nvPr>
        </p:nvSpPr>
        <p:spPr>
          <a:xfrm>
            <a:off x="5642610" y="2957195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信任凭证：签名与证书</a:t>
            </a:r>
            <a:endParaRPr lang="en-US" sz="2400" dirty="0"/>
          </a:p>
        </p:txBody>
      </p:sp>
      <p:sp>
        <p:nvSpPr>
          <p:cNvPr id="31" name="Text 24"/>
          <p:cNvSpPr/>
          <p:nvPr>
            <p:custDataLst>
              <p:tags r:id="rId11"/>
            </p:custDataLst>
          </p:nvPr>
        </p:nvSpPr>
        <p:spPr>
          <a:xfrm>
            <a:off x="4835525" y="3562985"/>
            <a:ext cx="806450" cy="5625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2" name="Text 25"/>
          <p:cNvSpPr/>
          <p:nvPr>
            <p:custDataLst>
              <p:tags r:id="rId12"/>
            </p:custDataLst>
          </p:nvPr>
        </p:nvSpPr>
        <p:spPr>
          <a:xfrm>
            <a:off x="5642610" y="3738245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边界与感知：防火墙IDS</a:t>
            </a:r>
            <a:endParaRPr lang="en-US" sz="2400" dirty="0"/>
          </a:p>
        </p:txBody>
      </p:sp>
      <p:sp>
        <p:nvSpPr>
          <p:cNvPr id="33" name="Text 26"/>
          <p:cNvSpPr/>
          <p:nvPr>
            <p:custDataLst>
              <p:tags r:id="rId13"/>
            </p:custDataLst>
          </p:nvPr>
        </p:nvSpPr>
        <p:spPr>
          <a:xfrm>
            <a:off x="4835525" y="4344035"/>
            <a:ext cx="832485" cy="5625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4" name="Text 27"/>
          <p:cNvSpPr/>
          <p:nvPr>
            <p:custDataLst>
              <p:tags r:id="rId14"/>
            </p:custDataLst>
          </p:nvPr>
        </p:nvSpPr>
        <p:spPr>
          <a:xfrm>
            <a:off x="5642610" y="4492625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协议级安全：SSL与IPsec</a:t>
            </a:r>
            <a:endParaRPr lang="en-US" sz="2400" dirty="0"/>
          </a:p>
        </p:txBody>
      </p:sp>
      <p:sp>
        <p:nvSpPr>
          <p:cNvPr id="35" name="Text 28"/>
          <p:cNvSpPr/>
          <p:nvPr>
            <p:custDataLst>
              <p:tags r:id="rId15"/>
            </p:custDataLst>
          </p:nvPr>
        </p:nvSpPr>
        <p:spPr>
          <a:xfrm>
            <a:off x="4835525" y="5097145"/>
            <a:ext cx="806450" cy="5625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6" name="Text 29"/>
          <p:cNvSpPr/>
          <p:nvPr>
            <p:custDataLst>
              <p:tags r:id="rId16"/>
            </p:custDataLst>
          </p:nvPr>
        </p:nvSpPr>
        <p:spPr>
          <a:xfrm>
            <a:off x="5642610" y="5202555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回顾与展望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26" grpId="0"/>
      <p:bldP spid="26" grpId="1"/>
      <p:bldP spid="25" grpId="0"/>
      <p:bldP spid="25" grpId="1"/>
      <p:bldP spid="28" grpId="0"/>
      <p:bldP spid="28" grpId="1"/>
      <p:bldP spid="29" grpId="0"/>
      <p:bldP spid="29" grpId="1"/>
      <p:bldP spid="30" grpId="0"/>
      <p:bldP spid="30" grpId="1"/>
      <p:bldP spid="27" grpId="0"/>
      <p:bldP spid="27" grpId="1"/>
      <p:bldP spid="31" grpId="0"/>
      <p:bldP spid="31" grpId="1"/>
      <p:bldP spid="32" grpId="0"/>
      <p:bldP spid="32" grpId="1"/>
      <p:bldP spid="34" grpId="0"/>
      <p:bldP spid="34" grpId="1"/>
      <p:bldP spid="33" grpId="0"/>
      <p:bldP spid="33" grpId="1"/>
      <p:bldP spid="35" grpId="0"/>
      <p:bldP spid="35" grpId="1"/>
      <p:bldP spid="36" grpId="0"/>
      <p:bldP spid="3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安全目标与威胁图谱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518160"/>
            <a:ext cx="11565255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CIA三角：安全通信的北极星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65150" y="1999615"/>
            <a:ext cx="10972800" cy="616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安全不是绝对状态，而是围绕三大核心目标的风险可控过程。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3022600"/>
            <a:ext cx="3721100" cy="1524000"/>
          </a:xfrm>
          <a:custGeom>
            <a:avLst/>
            <a:gdLst/>
            <a:ahLst/>
            <a:cxnLst/>
            <a:rect l="l" t="t" r="r" b="b"/>
            <a:pathLst>
              <a:path w="3721100" h="1524000">
                <a:moveTo>
                  <a:pt x="101605" y="0"/>
                </a:moveTo>
                <a:lnTo>
                  <a:pt x="3619495" y="0"/>
                </a:lnTo>
                <a:cubicBezTo>
                  <a:pt x="3675610" y="0"/>
                  <a:pt x="3721100" y="45490"/>
                  <a:pt x="3721100" y="101605"/>
                </a:cubicBezTo>
                <a:lnTo>
                  <a:pt x="3721100" y="1422395"/>
                </a:lnTo>
                <a:cubicBezTo>
                  <a:pt x="3721100" y="1478510"/>
                  <a:pt x="3675610" y="1524000"/>
                  <a:pt x="36194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457200" y="3225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552450" y="3352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FFFFFF"/>
          </a:solidFill>
        </p:spPr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054100" y="3302000"/>
            <a:ext cx="152971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机密性</a:t>
            </a: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457200" y="3835400"/>
            <a:ext cx="3403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确保信息只被授权者访问，通过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加密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等技术实现。</a:t>
            </a:r>
            <a:endParaRPr lang="en-US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4233386" y="3022600"/>
            <a:ext cx="3721100" cy="1524000"/>
          </a:xfrm>
          <a:custGeom>
            <a:avLst/>
            <a:gdLst/>
            <a:ahLst/>
            <a:cxnLst/>
            <a:rect l="l" t="t" r="r" b="b"/>
            <a:pathLst>
              <a:path w="3721100" h="1524000">
                <a:moveTo>
                  <a:pt x="101605" y="0"/>
                </a:moveTo>
                <a:lnTo>
                  <a:pt x="3619495" y="0"/>
                </a:lnTo>
                <a:cubicBezTo>
                  <a:pt x="3675610" y="0"/>
                  <a:pt x="3721100" y="45490"/>
                  <a:pt x="3721100" y="101605"/>
                </a:cubicBezTo>
                <a:lnTo>
                  <a:pt x="3721100" y="1422395"/>
                </a:lnTo>
                <a:cubicBezTo>
                  <a:pt x="3721100" y="1478510"/>
                  <a:pt x="3675610" y="1524000"/>
                  <a:pt x="36194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4436586" y="3225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4531836" y="3352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5033645" y="3302000"/>
            <a:ext cx="129667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完整性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4436586" y="3835400"/>
            <a:ext cx="3403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保证信息在传输中未被篡改，通过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数字签名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等技术保证。</a:t>
            </a:r>
            <a:endParaRPr lang="en-US" dirty="0"/>
          </a:p>
        </p:txBody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8212772" y="3022600"/>
            <a:ext cx="3721100" cy="1524000"/>
          </a:xfrm>
          <a:custGeom>
            <a:avLst/>
            <a:gdLst/>
            <a:ahLst/>
            <a:cxnLst/>
            <a:rect l="l" t="t" r="r" b="b"/>
            <a:pathLst>
              <a:path w="3721100" h="1524000">
                <a:moveTo>
                  <a:pt x="101605" y="0"/>
                </a:moveTo>
                <a:lnTo>
                  <a:pt x="3619495" y="0"/>
                </a:lnTo>
                <a:cubicBezTo>
                  <a:pt x="3675610" y="0"/>
                  <a:pt x="3721100" y="45490"/>
                  <a:pt x="3721100" y="101605"/>
                </a:cubicBezTo>
                <a:lnTo>
                  <a:pt x="3721100" y="1422395"/>
                </a:lnTo>
                <a:cubicBezTo>
                  <a:pt x="3721100" y="1478510"/>
                  <a:pt x="3675610" y="1524000"/>
                  <a:pt x="36194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8415972" y="3225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7" name="Shape 14"/>
          <p:cNvSpPr/>
          <p:nvPr>
            <p:custDataLst>
              <p:tags r:id="rId14"/>
            </p:custDataLst>
          </p:nvPr>
        </p:nvSpPr>
        <p:spPr>
          <a:xfrm>
            <a:off x="8511222" y="3352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FFFFFF"/>
          </a:solidFill>
        </p:spPr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9012555" y="3302000"/>
            <a:ext cx="146875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可用性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8415972" y="3835400"/>
            <a:ext cx="3403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保障网络系统持续可用，通过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防火墙、IDS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等防御DoS攻击。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059815" y="4851400"/>
            <a:ext cx="10054590" cy="1369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扩展目标包括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端点鉴别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运行安全性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，共同构成完整的信任体系。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8" grpId="0"/>
      <p:bldP spid="8" grpId="1"/>
      <p:bldP spid="9" grpId="0"/>
      <p:bldP spid="9" grpId="1"/>
      <p:bldP spid="13" grpId="0"/>
      <p:bldP spid="13" grpId="1"/>
      <p:bldP spid="14" grpId="0"/>
      <p:bldP spid="14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5113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威胁图谱：被动截获与主动篡改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2374900"/>
            <a:ext cx="5638800" cy="2971800"/>
          </a:xfrm>
          <a:custGeom>
            <a:avLst/>
            <a:gdLst/>
            <a:ahLst/>
            <a:cxnLst/>
            <a:rect l="l" t="t" r="r" b="b"/>
            <a:pathLst>
              <a:path w="5638800" h="2971800">
                <a:moveTo>
                  <a:pt x="152394" y="0"/>
                </a:moveTo>
                <a:lnTo>
                  <a:pt x="5486406" y="0"/>
                </a:lnTo>
                <a:cubicBezTo>
                  <a:pt x="5570571" y="0"/>
                  <a:pt x="5638800" y="68229"/>
                  <a:pt x="5638800" y="152394"/>
                </a:cubicBezTo>
                <a:lnTo>
                  <a:pt x="5638800" y="2819406"/>
                </a:lnTo>
                <a:cubicBezTo>
                  <a:pt x="5638800" y="2903571"/>
                  <a:pt x="5570571" y="2971800"/>
                  <a:pt x="54864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82600" y="2468880"/>
            <a:ext cx="5181600" cy="617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被动攻击：静默的窃听者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933575" y="3289141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7" name="Text 4"/>
          <p:cNvSpPr/>
          <p:nvPr/>
        </p:nvSpPr>
        <p:spPr>
          <a:xfrm>
            <a:off x="483235" y="3071495"/>
            <a:ext cx="5380990" cy="555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核心行为：截获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3235" y="3658870"/>
            <a:ext cx="5194300" cy="4686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目的：破坏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机密性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2600" y="4157345"/>
            <a:ext cx="5125085" cy="4838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特点：不干扰系统，难以被察觉。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1965" y="4675505"/>
            <a:ext cx="5188585" cy="49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对策：重在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预防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，如数据加密。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299200" y="2374900"/>
            <a:ext cx="5638800" cy="2971800"/>
          </a:xfrm>
          <a:custGeom>
            <a:avLst/>
            <a:gdLst/>
            <a:ahLst/>
            <a:cxnLst/>
            <a:rect l="l" t="t" r="r" b="b"/>
            <a:pathLst>
              <a:path w="5638800" h="2971800">
                <a:moveTo>
                  <a:pt x="152394" y="0"/>
                </a:moveTo>
                <a:lnTo>
                  <a:pt x="5486406" y="0"/>
                </a:lnTo>
                <a:cubicBezTo>
                  <a:pt x="5570571" y="0"/>
                  <a:pt x="5638800" y="68229"/>
                  <a:pt x="5638800" y="152394"/>
                </a:cubicBezTo>
                <a:lnTo>
                  <a:pt x="5638800" y="2819406"/>
                </a:lnTo>
                <a:cubicBezTo>
                  <a:pt x="5638800" y="2903571"/>
                  <a:pt x="5570571" y="2971800"/>
                  <a:pt x="54864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27800" y="2497455"/>
            <a:ext cx="5181600" cy="588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主动攻击：直接的破坏者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87102" y="3289141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14" name="Text 11"/>
          <p:cNvSpPr/>
          <p:nvPr/>
        </p:nvSpPr>
        <p:spPr>
          <a:xfrm>
            <a:off x="6541135" y="3322320"/>
            <a:ext cx="513651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核心行为：篡改、伪造、DoS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25260" y="3873500"/>
            <a:ext cx="510413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目的：破坏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完整性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可用性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592570" y="4330700"/>
            <a:ext cx="502666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特点：主动干扰，可被检测。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30035" y="4787900"/>
            <a:ext cx="495427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对策：重在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检测和恢复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2" grpId="0"/>
      <p:bldP spid="12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2864485"/>
            <a:ext cx="6607175" cy="7905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密码双体制：对称与非对称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707390"/>
            <a:ext cx="11874500" cy="1197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对称密钥：效率与规模的悖论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21082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加密解密使用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同一把密钥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，高效但面临分发难题。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2065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476375" y="3238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1383982" y="3320415"/>
            <a:ext cx="66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908550" y="2870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7484DF"/>
          </a:solidFill>
        </p:spPr>
      </p:sp>
      <p:sp>
        <p:nvSpPr>
          <p:cNvPr id="9" name="Shape 6"/>
          <p:cNvSpPr/>
          <p:nvPr/>
        </p:nvSpPr>
        <p:spPr>
          <a:xfrm>
            <a:off x="5581650" y="30734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Shape 7"/>
          <p:cNvSpPr/>
          <p:nvPr/>
        </p:nvSpPr>
        <p:spPr>
          <a:xfrm>
            <a:off x="6902450" y="2946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3677285" y="3429000"/>
            <a:ext cx="477964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密钥必须通过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安全信道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预先共享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175000" y="3784600"/>
            <a:ext cx="5842000" cy="50800"/>
          </a:xfrm>
          <a:custGeom>
            <a:avLst/>
            <a:gdLst/>
            <a:ahLst/>
            <a:cxnLst/>
            <a:rect l="l" t="t" r="r" b="b"/>
            <a:pathLst>
              <a:path w="5842000" h="50800">
                <a:moveTo>
                  <a:pt x="0" y="0"/>
                </a:moveTo>
                <a:lnTo>
                  <a:pt x="5842000" y="0"/>
                </a:lnTo>
                <a:lnTo>
                  <a:pt x="584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" name="Shape 10"/>
          <p:cNvSpPr/>
          <p:nvPr/>
        </p:nvSpPr>
        <p:spPr>
          <a:xfrm>
            <a:off x="4908550" y="4013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14" name="Shape 11"/>
          <p:cNvSpPr/>
          <p:nvPr/>
        </p:nvSpPr>
        <p:spPr>
          <a:xfrm>
            <a:off x="5391150" y="41402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Shape 12"/>
          <p:cNvSpPr/>
          <p:nvPr/>
        </p:nvSpPr>
        <p:spPr>
          <a:xfrm>
            <a:off x="6711950" y="3937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7484DF"/>
          </a:solidFill>
        </p:spPr>
      </p:sp>
      <p:sp>
        <p:nvSpPr>
          <p:cNvPr id="16" name="Shape 13"/>
          <p:cNvSpPr/>
          <p:nvPr/>
        </p:nvSpPr>
        <p:spPr>
          <a:xfrm>
            <a:off x="9969500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10239375" y="3238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8" name="Text 15"/>
          <p:cNvSpPr/>
          <p:nvPr/>
        </p:nvSpPr>
        <p:spPr>
          <a:xfrm>
            <a:off x="10174923" y="3302000"/>
            <a:ext cx="64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用户B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254000" y="48514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61950" y="5003800"/>
            <a:ext cx="11468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挑战：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n个用户需要 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n(n-1)/2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个密钥，管理复杂度呈指数级增长。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11" grpId="0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488315"/>
            <a:ext cx="11874500" cy="1340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公钥密码：分发革命与性能代价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20320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一对密钥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（公钥和私钥），解决分发难题，但速度较慢。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65400" y="2641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889250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2565083" y="3124200"/>
            <a:ext cx="113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私钥 (保密)</a:t>
            </a:r>
            <a:endParaRPr lang="en-US" sz="24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8407400" y="2641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8731250" y="3022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8450263" y="3124200"/>
            <a:ext cx="113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公钥 (公开)</a:t>
            </a:r>
            <a:endParaRPr lang="en-US" sz="240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254000" y="4572000"/>
            <a:ext cx="5740400" cy="1383030"/>
          </a:xfrm>
          <a:custGeom>
            <a:avLst/>
            <a:gdLst/>
            <a:ahLst/>
            <a:cxnLst/>
            <a:rect l="l" t="t" r="r" b="b"/>
            <a:pathLst>
              <a:path w="5740400" h="914400">
                <a:moveTo>
                  <a:pt x="101599" y="0"/>
                </a:moveTo>
                <a:lnTo>
                  <a:pt x="5638801" y="0"/>
                </a:lnTo>
                <a:cubicBezTo>
                  <a:pt x="5694913" y="0"/>
                  <a:pt x="5740400" y="45487"/>
                  <a:pt x="5740400" y="101599"/>
                </a:cubicBezTo>
                <a:lnTo>
                  <a:pt x="5740400" y="812801"/>
                </a:lnTo>
                <a:cubicBezTo>
                  <a:pt x="5740400" y="868913"/>
                  <a:pt x="5694913" y="914400"/>
                  <a:pt x="5638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406400" y="472440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优点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406400" y="5404485"/>
            <a:ext cx="552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解决了密钥分发问题，公钥可公开，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n个用户仅需2n个密钥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6197600" y="4572000"/>
            <a:ext cx="5740400" cy="1383030"/>
          </a:xfrm>
          <a:custGeom>
            <a:avLst/>
            <a:gdLst/>
            <a:ahLst/>
            <a:cxnLst/>
            <a:rect l="l" t="t" r="r" b="b"/>
            <a:pathLst>
              <a:path w="5740400" h="914400">
                <a:moveTo>
                  <a:pt x="101599" y="0"/>
                </a:moveTo>
                <a:lnTo>
                  <a:pt x="5638801" y="0"/>
                </a:lnTo>
                <a:cubicBezTo>
                  <a:pt x="5694913" y="0"/>
                  <a:pt x="5740400" y="45487"/>
                  <a:pt x="5740400" y="101599"/>
                </a:cubicBezTo>
                <a:lnTo>
                  <a:pt x="5740400" y="812801"/>
                </a:lnTo>
                <a:cubicBezTo>
                  <a:pt x="5740400" y="868913"/>
                  <a:pt x="5694913" y="914400"/>
                  <a:pt x="5638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6350000" y="472440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缺点</a:t>
            </a:r>
            <a:endParaRPr lang="en-US" sz="2400" dirty="0"/>
          </a:p>
        </p:txBody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6350000" y="5241290"/>
            <a:ext cx="552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算法复杂，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加解密速度远慢于对称加密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  <p:bldP spid="12" grpId="0"/>
      <p:bldP spid="12" grpId="1"/>
      <p:bldP spid="15" grpId="0"/>
      <p:bldP spid="15" grpId="1"/>
      <p:bldP spid="16" grpId="0"/>
      <p:bldP spid="16" grpId="1"/>
      <p:bldP spid="13" grpId="0"/>
      <p:bldP spid="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信任凭证：签名与证书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807720"/>
            <a:ext cx="11874500" cy="1300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数字签名：手写签名的比特化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13589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1581150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1409700" y="27178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原始报文</a:t>
            </a:r>
            <a:endParaRPr lang="en-US" sz="2400" dirty="0"/>
          </a:p>
        </p:txBody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41783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4400550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4229100" y="27178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报文摘要</a:t>
            </a:r>
            <a:endParaRPr lang="en-US" sz="240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9977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7219950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7048500" y="27178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数字签名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9817100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10039350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9867900" y="27178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验证通过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254000" y="414020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06400" y="43434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核心特性：不可伪造、不可否认、报文完整性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12750" y="4749800"/>
            <a:ext cx="11366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发送方用其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私钥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对报文摘要“签名”，接收方用发送方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公钥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验证。任何改动都会使验证失败。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7" grpId="0"/>
      <p:bldP spid="17" grpId="1"/>
      <p:bldP spid="18" grpId="0"/>
      <p:bldP spid="18" grpId="1"/>
      <p:bldP spid="6" grpId="0"/>
      <p:bldP spid="6" grpId="1"/>
      <p:bldP spid="9" grpId="0"/>
      <p:bldP spid="9" grpId="1"/>
      <p:bldP spid="12" grpId="0"/>
      <p:bldP spid="12" grpId="1"/>
      <p:bldP spid="15" grpId="0"/>
      <p:bldP spid="1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035" y="574040"/>
            <a:ext cx="10490200" cy="127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PKI与CA：公钥可信的链式锚点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1350" y="1913890"/>
            <a:ext cx="1083437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通过数字证书和认证中心(CA)，为公钥世界建立中心化信任链。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673600" y="275844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4841875" y="29743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4790758" y="3077845"/>
            <a:ext cx="58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89600" y="275844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857875" y="29743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5746909" y="3053080"/>
            <a:ext cx="69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中级CA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705600" y="275844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873875" y="29743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3" name="Text 10"/>
          <p:cNvSpPr/>
          <p:nvPr/>
        </p:nvSpPr>
        <p:spPr>
          <a:xfrm>
            <a:off x="6816884" y="3053080"/>
            <a:ext cx="520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根CA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54000" y="4191000"/>
            <a:ext cx="11684000" cy="20320"/>
          </a:xfrm>
          <a:custGeom>
            <a:avLst/>
            <a:gdLst/>
            <a:ahLst/>
            <a:cxnLst/>
            <a:rect l="l" t="t" r="r" b="b"/>
            <a:pathLst>
              <a:path w="11684000" h="20320">
                <a:moveTo>
                  <a:pt x="0" y="0"/>
                </a:moveTo>
                <a:lnTo>
                  <a:pt x="11684000" y="0"/>
                </a:lnTo>
                <a:lnTo>
                  <a:pt x="1168400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Shape 12"/>
          <p:cNvSpPr/>
          <p:nvPr/>
        </p:nvSpPr>
        <p:spPr>
          <a:xfrm>
            <a:off x="254000" y="4404360"/>
            <a:ext cx="11684000" cy="161163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406400" y="460756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信任链验证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12750" y="5013960"/>
            <a:ext cx="11366500" cy="873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任何信任根CA的用户，都可以用根CA的公钥验证中级CA的证书，进而信任用户A的公钥。信任是委托，一旦根私钥泄露，整个链将崩塌。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  <p:bldP spid="16" grpId="0"/>
      <p:bldP spid="1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边界与感知：防火墙IDS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2192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防火墙：网络边界的交通警察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1206500" y="2489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428750" y="2768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1007110" y="2578100"/>
            <a:ext cx="1329055" cy="1003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外部网络 (不可信)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175000" y="23622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635000" dist="317500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19750" y="2590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/>
            </a:pathLst>
          </a:cu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4276090" y="2768600"/>
            <a:ext cx="363982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chemeClr val="bg1"/>
                </a:solidFill>
                <a:uFillTx/>
                <a:latin typeface="Noto Sans SC" charset="0"/>
                <a:ea typeface="Noto Sans SC" panose="020B0200000000000000" pitchFamily="34" charset="-122"/>
                <a:cs typeface="Noto Sans SC" panose="020B0200000000000000" pitchFamily="34" charset="-120"/>
              </a:rPr>
              <a:t>防火墙</a:t>
            </a:r>
            <a:endParaRPr lang="en-US" sz="2400" b="1" dirty="0">
              <a:solidFill>
                <a:schemeClr val="bg1"/>
              </a:solidFill>
              <a:uFillTx/>
              <a:latin typeface="Noto Sans SC" charset="0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969500" y="2489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10191750" y="2768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2" name="Text 9"/>
          <p:cNvSpPr/>
          <p:nvPr/>
        </p:nvSpPr>
        <p:spPr>
          <a:xfrm>
            <a:off x="9855835" y="2562860"/>
            <a:ext cx="1129665" cy="1018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内部网络 (可信)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54000" y="4724400"/>
            <a:ext cx="3759200" cy="1283970"/>
          </a:xfrm>
          <a:custGeom>
            <a:avLst/>
            <a:gdLst/>
            <a:ahLst/>
            <a:cxnLst/>
            <a:rect l="l" t="t" r="r" b="b"/>
            <a:pathLst>
              <a:path w="3759200" h="914400">
                <a:moveTo>
                  <a:pt x="101599" y="0"/>
                </a:moveTo>
                <a:lnTo>
                  <a:pt x="3657601" y="0"/>
                </a:lnTo>
                <a:cubicBezTo>
                  <a:pt x="3713713" y="0"/>
                  <a:pt x="3759200" y="45487"/>
                  <a:pt x="3759200" y="101599"/>
                </a:cubicBezTo>
                <a:lnTo>
                  <a:pt x="3759200" y="812801"/>
                </a:lnTo>
                <a:cubicBezTo>
                  <a:pt x="3759200" y="868913"/>
                  <a:pt x="3713713" y="914400"/>
                  <a:pt x="3657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355600" y="48768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分组过滤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1950" y="5232400"/>
            <a:ext cx="3543300" cy="643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基于IP、端口等规则过滤，简单高效。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16400" y="4724400"/>
            <a:ext cx="3759200" cy="1283970"/>
          </a:xfrm>
          <a:custGeom>
            <a:avLst/>
            <a:gdLst/>
            <a:ahLst/>
            <a:cxnLst/>
            <a:rect l="l" t="t" r="r" b="b"/>
            <a:pathLst>
              <a:path w="3759200" h="914400">
                <a:moveTo>
                  <a:pt x="101599" y="0"/>
                </a:moveTo>
                <a:lnTo>
                  <a:pt x="3657601" y="0"/>
                </a:lnTo>
                <a:cubicBezTo>
                  <a:pt x="3713713" y="0"/>
                  <a:pt x="3759200" y="45487"/>
                  <a:pt x="3759200" y="101599"/>
                </a:cubicBezTo>
                <a:lnTo>
                  <a:pt x="3759200" y="812801"/>
                </a:lnTo>
                <a:cubicBezTo>
                  <a:pt x="3759200" y="868913"/>
                  <a:pt x="3713713" y="914400"/>
                  <a:pt x="3657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318000" y="48768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状态检测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324350" y="5232400"/>
            <a:ext cx="3543300" cy="448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跟踪连接状态，动态过滤，更先进。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178800" y="4724400"/>
            <a:ext cx="3759200" cy="1284605"/>
          </a:xfrm>
          <a:custGeom>
            <a:avLst/>
            <a:gdLst/>
            <a:ahLst/>
            <a:cxnLst/>
            <a:rect l="l" t="t" r="r" b="b"/>
            <a:pathLst>
              <a:path w="3759200" h="914400">
                <a:moveTo>
                  <a:pt x="101599" y="0"/>
                </a:moveTo>
                <a:lnTo>
                  <a:pt x="3657601" y="0"/>
                </a:lnTo>
                <a:cubicBezTo>
                  <a:pt x="3713713" y="0"/>
                  <a:pt x="3759200" y="45487"/>
                  <a:pt x="3759200" y="101599"/>
                </a:cubicBezTo>
                <a:lnTo>
                  <a:pt x="3759200" y="812801"/>
                </a:lnTo>
                <a:cubicBezTo>
                  <a:pt x="3759200" y="868913"/>
                  <a:pt x="3713713" y="914400"/>
                  <a:pt x="3657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8280400" y="48768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应用代理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286750" y="5232400"/>
            <a:ext cx="3543300" cy="643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作为通信中介，深度检查，安全性高。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12" grpId="0"/>
      <p:bldP spid="12" grpId="1"/>
      <p:bldP spid="9" grpId="0"/>
      <p:bldP spid="9" grpId="1"/>
      <p:bldP spid="14" grpId="0"/>
      <p:bldP spid="14" grpId="1"/>
      <p:bldP spid="15" grpId="0"/>
      <p:bldP spid="15" grpId="1"/>
      <p:bldP spid="17" grpId="0"/>
      <p:bldP spid="17" grpId="1"/>
      <p:bldP spid="18" grpId="0"/>
      <p:bldP spid="18" grpId="1"/>
      <p:bldP spid="20" grpId="0"/>
      <p:bldP spid="20" grpId="1"/>
      <p:bldP spid="21" grpId="0"/>
      <p:bldP spid="2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78180"/>
            <a:ext cx="11874500" cy="134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入侵检测系统 (IDS)：网络的监控摄像头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2324100"/>
            <a:ext cx="5689600" cy="2971800"/>
          </a:xfrm>
          <a:custGeom>
            <a:avLst/>
            <a:gdLst/>
            <a:ahLst/>
            <a:cxnLst/>
            <a:rect l="l" t="t" r="r" b="b"/>
            <a:pathLst>
              <a:path w="5689600" h="2971800">
                <a:moveTo>
                  <a:pt x="152394" y="0"/>
                </a:moveTo>
                <a:lnTo>
                  <a:pt x="5537206" y="0"/>
                </a:lnTo>
                <a:cubicBezTo>
                  <a:pt x="5621371" y="0"/>
                  <a:pt x="5689600" y="68229"/>
                  <a:pt x="5689600" y="152394"/>
                </a:cubicBezTo>
                <a:lnTo>
                  <a:pt x="5689600" y="2819406"/>
                </a:lnTo>
                <a:cubicBezTo>
                  <a:pt x="5689600" y="2903571"/>
                  <a:pt x="5621371" y="2971800"/>
                  <a:pt x="55372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82600" y="2628900"/>
            <a:ext cx="523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基于特征的IDS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301875" y="3238341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7" name="Text 4"/>
          <p:cNvSpPr/>
          <p:nvPr/>
        </p:nvSpPr>
        <p:spPr>
          <a:xfrm>
            <a:off x="784860" y="3271520"/>
            <a:ext cx="458660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模式匹配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9910" y="3822700"/>
            <a:ext cx="51339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维护已知攻击“特征库”，通过匹配发现攻击。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1515" y="4279900"/>
            <a:ext cx="476313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优点：准确率高，误报少。</a:t>
            </a:r>
            <a:endParaRPr lang="en-US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5010" y="4737100"/>
            <a:ext cx="470027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缺点：只能检测已知攻击。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248400" y="2324100"/>
            <a:ext cx="5689600" cy="2971800"/>
          </a:xfrm>
          <a:custGeom>
            <a:avLst/>
            <a:gdLst/>
            <a:ahLst/>
            <a:cxnLst/>
            <a:rect l="l" t="t" r="r" b="b"/>
            <a:pathLst>
              <a:path w="5689600" h="2971800">
                <a:moveTo>
                  <a:pt x="152394" y="0"/>
                </a:moveTo>
                <a:lnTo>
                  <a:pt x="5537206" y="0"/>
                </a:lnTo>
                <a:cubicBezTo>
                  <a:pt x="5621371" y="0"/>
                  <a:pt x="5689600" y="68229"/>
                  <a:pt x="5689600" y="152394"/>
                </a:cubicBezTo>
                <a:lnTo>
                  <a:pt x="5689600" y="2819406"/>
                </a:lnTo>
                <a:cubicBezTo>
                  <a:pt x="5689600" y="2903571"/>
                  <a:pt x="5621371" y="2971800"/>
                  <a:pt x="55372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77000" y="2628900"/>
            <a:ext cx="5232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基于异常的IDS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96275" y="3238341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14" name="Text 11"/>
          <p:cNvSpPr/>
          <p:nvPr/>
        </p:nvSpPr>
        <p:spPr>
          <a:xfrm>
            <a:off x="6856095" y="3271520"/>
            <a:ext cx="44856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行为分析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75095" y="3822700"/>
            <a:ext cx="525018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建立“正常行为轮廓”，通过检测偏差发现攻击。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33845" y="4279900"/>
            <a:ext cx="489712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优点：可能发现未知攻击。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34480" y="4737100"/>
            <a:ext cx="485076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缺点：误报率高。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12" grpId="0"/>
      <p:bldP spid="12" grpId="1"/>
      <p:bldP spid="14" grpId="0"/>
      <p:bldP spid="14" grpId="1"/>
      <p:bldP spid="7" grpId="0"/>
      <p:bldP spid="7" grpId="1"/>
      <p:bldP spid="8" grpId="0"/>
      <p:bldP spid="8" grpId="1"/>
      <p:bldP spid="15" grpId="0"/>
      <p:bldP spid="15" grpId="1"/>
      <p:bldP spid="9" grpId="0"/>
      <p:bldP spid="9" grpId="1"/>
      <p:bldP spid="16" grpId="0"/>
      <p:bldP spid="16" grpId="1"/>
      <p:bldP spid="10" grpId="0"/>
      <p:bldP spid="10" grpId="1"/>
      <p:bldP spid="17" grpId="0"/>
      <p:bldP spid="1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协议级安全：SSL与IPsec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45795"/>
            <a:ext cx="11874500" cy="1208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SSL/TLS：应用透明的加密隧道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20574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位于应用层与传输层之间，为上层数据提供安全保障，核心是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混合加密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780540" y="266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2002790" y="2946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1828165" y="2825115"/>
            <a:ext cx="958215" cy="591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 (HTTP)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666423" y="266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9" name="Shape 6"/>
          <p:cNvSpPr/>
          <p:nvPr/>
        </p:nvSpPr>
        <p:spPr>
          <a:xfrm>
            <a:off x="5888673" y="2946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5645150" y="2832100"/>
            <a:ext cx="981075" cy="781050"/>
          </a:xfrm>
          <a:prstGeom prst="rect">
            <a:avLst/>
          </a:prstGeom>
          <a:noFill/>
        </p:spPr>
        <p:txBody>
          <a:bodyPr wrap="square" lIns="101600" tIns="0" rIns="10160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SSL/TLS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9473565" y="266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9695815" y="2946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/>
        </p:nvSpPr>
        <p:spPr>
          <a:xfrm>
            <a:off x="9563735" y="2818130"/>
            <a:ext cx="829310" cy="767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传输层 (TCP)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54000" y="439420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406400" y="45974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核心应用：HTTPS (HTTP over SSL/TLS)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12750" y="5003800"/>
            <a:ext cx="11366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握手协商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证书校验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对称加密传输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，实现服务器鉴别、数据加密和报文完整性。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16" grpId="0"/>
      <p:bldP spid="16" grpId="1"/>
      <p:bldP spid="17" grpId="0"/>
      <p:bldP spid="17" grpId="1"/>
      <p:bldP spid="7" grpId="0"/>
      <p:bldP spid="7" grpId="1"/>
      <p:bldP spid="11" grpId="0"/>
      <p:bldP spid="11" grpId="1"/>
      <p:bldP spid="14" grpId="0"/>
      <p:bldP spid="1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499110"/>
            <a:ext cx="11874500" cy="1177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IPsec：网络层的隐形护甲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18796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在网络层提供安全服务，对上层协议透明，是构建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VPN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的核心技术。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2489200"/>
            <a:ext cx="5689600" cy="3149600"/>
          </a:xfrm>
          <a:custGeom>
            <a:avLst/>
            <a:gdLst/>
            <a:ahLst/>
            <a:cxnLst/>
            <a:rect l="l" t="t" r="r" b="b"/>
            <a:pathLst>
              <a:path w="5689600" h="3149600">
                <a:moveTo>
                  <a:pt x="152409" y="0"/>
                </a:moveTo>
                <a:lnTo>
                  <a:pt x="5537191" y="0"/>
                </a:lnTo>
                <a:cubicBezTo>
                  <a:pt x="5621308" y="0"/>
                  <a:pt x="5689600" y="68292"/>
                  <a:pt x="5689600" y="152409"/>
                </a:cubicBezTo>
                <a:lnTo>
                  <a:pt x="5689600" y="2997191"/>
                </a:lnTo>
                <a:cubicBezTo>
                  <a:pt x="5689600" y="3081364"/>
                  <a:pt x="5621364" y="3149600"/>
                  <a:pt x="5537191" y="3149600"/>
                </a:cubicBezTo>
                <a:lnTo>
                  <a:pt x="152409" y="3149600"/>
                </a:lnTo>
                <a:cubicBezTo>
                  <a:pt x="68292" y="3149600"/>
                  <a:pt x="0" y="3081308"/>
                  <a:pt x="0" y="29971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1466850" y="2794000"/>
            <a:ext cx="309943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传输模式</a:t>
            </a:r>
            <a:endParaRPr lang="en-US" sz="28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514350" y="3560445"/>
            <a:ext cx="5168900" cy="1773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仅保护IP数据包的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载荷部分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(如TCP/UDP段)，适用于端到端主机通信。</a:t>
            </a:r>
            <a:endParaRPr lang="en-US" sz="24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6248400" y="2489200"/>
            <a:ext cx="5689600" cy="3149600"/>
          </a:xfrm>
          <a:custGeom>
            <a:avLst/>
            <a:gdLst/>
            <a:ahLst/>
            <a:cxnLst/>
            <a:rect l="l" t="t" r="r" b="b"/>
            <a:pathLst>
              <a:path w="5689600" h="3149600">
                <a:moveTo>
                  <a:pt x="152409" y="0"/>
                </a:moveTo>
                <a:lnTo>
                  <a:pt x="5537191" y="0"/>
                </a:lnTo>
                <a:cubicBezTo>
                  <a:pt x="5621308" y="0"/>
                  <a:pt x="5689600" y="68292"/>
                  <a:pt x="5689600" y="152409"/>
                </a:cubicBezTo>
                <a:lnTo>
                  <a:pt x="5689600" y="2997191"/>
                </a:lnTo>
                <a:cubicBezTo>
                  <a:pt x="5689600" y="3081364"/>
                  <a:pt x="5621364" y="3149600"/>
                  <a:pt x="5537191" y="3149600"/>
                </a:cubicBezTo>
                <a:lnTo>
                  <a:pt x="152409" y="3149600"/>
                </a:lnTo>
                <a:cubicBezTo>
                  <a:pt x="68292" y="3149600"/>
                  <a:pt x="0" y="3081308"/>
                  <a:pt x="0" y="29971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543165" y="2794000"/>
            <a:ext cx="336677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隧道模式</a:t>
            </a:r>
            <a:endParaRPr lang="en-US" sz="280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6508750" y="3429000"/>
            <a:ext cx="5168900" cy="190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保护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整个原始IP包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，并将其封装在新的IP包中，适用于VPN网关场景。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9" grpId="0"/>
      <p:bldP spid="9" grpId="1"/>
      <p:bldP spid="10" grpId="0"/>
      <p:bldP spid="10" grpId="1"/>
      <p:bldP spid="7" grpId="0"/>
      <p:bldP spid="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回顾与展望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280" y="384810"/>
            <a:ext cx="10698480" cy="1177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网络安全闭环：从加密到响应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5283200" y="26416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812800" y="0"/>
                </a:moveTo>
                <a:lnTo>
                  <a:pt x="812800" y="0"/>
                </a:lnTo>
                <a:cubicBezTo>
                  <a:pt x="1261397" y="0"/>
                  <a:pt x="1625600" y="364203"/>
                  <a:pt x="1625600" y="812800"/>
                </a:cubicBezTo>
                <a:lnTo>
                  <a:pt x="1625600" y="812800"/>
                </a:lnTo>
                <a:cubicBezTo>
                  <a:pt x="1625600" y="1261397"/>
                  <a:pt x="1261397" y="1625600"/>
                  <a:pt x="812800" y="1625600"/>
                </a:cubicBezTo>
                <a:lnTo>
                  <a:pt x="812800" y="1625600"/>
                </a:lnTo>
                <a:cubicBezTo>
                  <a:pt x="364203" y="1625600"/>
                  <a:pt x="0" y="1261397"/>
                  <a:pt x="0" y="812800"/>
                </a:cubicBezTo>
                <a:lnTo>
                  <a:pt x="0" y="812800"/>
                </a:lnTo>
                <a:cubicBezTo>
                  <a:pt x="0" y="364203"/>
                  <a:pt x="364203" y="0"/>
                  <a:pt x="8128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226050" y="2641600"/>
            <a:ext cx="1739900" cy="162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安全闭环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659120" y="1612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857875" y="15240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8" name="Text 5"/>
          <p:cNvSpPr/>
          <p:nvPr/>
        </p:nvSpPr>
        <p:spPr>
          <a:xfrm>
            <a:off x="5857875" y="1901825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加密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051800" y="3022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9032875" y="3111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8223885" y="33020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签名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89600" y="4483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5857875" y="46990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/>
        </p:nvSpPr>
        <p:spPr>
          <a:xfrm>
            <a:off x="5873750" y="47879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边界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339465" y="3022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2682875" y="3111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7" name="Text 14"/>
          <p:cNvSpPr/>
          <p:nvPr/>
        </p:nvSpPr>
        <p:spPr>
          <a:xfrm>
            <a:off x="3523615" y="33020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感知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14985" y="5448300"/>
            <a:ext cx="10899140" cy="1056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安全是叠加与响应速度的艺术，需结合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加密、鉴别、访问控制、监控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等多种技术。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8" grpId="0"/>
      <p:bldP spid="1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894080"/>
            <a:ext cx="11874500" cy="909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未来演进：零信任架构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20066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“永不信任，持续验证”，打破传统边界，实现动态、精细化的安全控制。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3081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476375" y="2984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1412875" y="2971800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身份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291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397375" y="2984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4365625" y="2984500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设备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1501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318375" y="2984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3" name="Text 10"/>
          <p:cNvSpPr/>
          <p:nvPr/>
        </p:nvSpPr>
        <p:spPr>
          <a:xfrm>
            <a:off x="7296150" y="3001645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环境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071100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10239375" y="2984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6" name="Text 13"/>
          <p:cNvSpPr/>
          <p:nvPr/>
        </p:nvSpPr>
        <p:spPr>
          <a:xfrm>
            <a:off x="10226675" y="3001645"/>
            <a:ext cx="50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行为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254000" y="444500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06400" y="46482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核心原则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12750" y="5054600"/>
            <a:ext cx="11366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</a:t>
            </a: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微分段、最小权限、持续评估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，将安全从成本中心转化为信任竞争力。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18" grpId="0"/>
      <p:bldP spid="18" grpId="1"/>
      <p:bldP spid="19" grpId="0"/>
      <p:bldP spid="19" grpId="1"/>
      <p:bldP spid="7" grpId="0"/>
      <p:bldP spid="7" grpId="1"/>
      <p:bldP spid="10" grpId="0"/>
      <p:bldP spid="10" grpId="1"/>
      <p:bldP spid="13" grpId="0"/>
      <p:bldP spid="13" grpId="1"/>
      <p:bldP spid="16" grpId="0"/>
      <p:bldP spid="1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pic>
        <p:nvPicPr>
          <p:cNvPr id="7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856615" y="5598160"/>
            <a:ext cx="6192520" cy="53022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汇报日期：2025/12/27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2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3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4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5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6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7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8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9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10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11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12.xml><?xml version="1.0" encoding="utf-8"?>
<p:tagLst xmlns:p="http://schemas.openxmlformats.org/presentationml/2006/main">
  <p:tag name="KSO_WM_DIAGRAM_VIRTUALLY_FRAME" val="{&quot;height&quot;:349.5968503937008,&quot;left&quot;:380.75,&quot;top&quot;:96.05,&quot;width&quot;:557.1}"/>
</p:tagLst>
</file>

<file path=ppt/tags/tag13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14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15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16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17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18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19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0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1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2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3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4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5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6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7.xml><?xml version="1.0" encoding="utf-8"?>
<p:tagLst xmlns:p="http://schemas.openxmlformats.org/presentationml/2006/main">
  <p:tag name="KSO_WM_DIAGRAM_VIRTUALLY_FRAME" val="{&quot;height&quot;:120,&quot;left&quot;:20,&quot;top&quot;:238,&quot;width&quot;:919.6749606299212}"/>
</p:tagLst>
</file>

<file path=ppt/tags/tag28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29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0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1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2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3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4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5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6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7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8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39.xml><?xml version="1.0" encoding="utf-8"?>
<p:tagLst xmlns:p="http://schemas.openxmlformats.org/presentationml/2006/main">
  <p:tag name="KSO_WM_DIAGRAM_VIRTUALLY_FRAME" val="{&quot;height&quot;:285.85,&quot;left&quot;:20,&quot;top&quot;:208,&quot;width&quot;:920}"/>
</p:tagLst>
</file>

<file path=ppt/tags/tag40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1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2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3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4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5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6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7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8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49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50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51.xml><?xml version="1.0" encoding="utf-8"?>
<p:tagLst xmlns:p="http://schemas.openxmlformats.org/presentationml/2006/main">
  <p:tag name="KSO_WM_DIAGRAM_VIRTUALLY_FRAME" val="{&quot;height&quot;:112,&quot;left&quot;:107,&quot;top&quot;:190,&quot;width&quot;:746}"/>
</p:tagLst>
</file>

<file path=ppt/tags/tag52.xml><?xml version="1.0" encoding="utf-8"?>
<p:tagLst xmlns:p="http://schemas.openxmlformats.org/presentationml/2006/main">
  <p:tag name="KSO_WM_DIAGRAM_VIRTUALLY_FRAME" val="{&quot;height&quot;:248,&quot;left&quot;:20,&quot;top&quot;:196,&quot;width&quot;:920}"/>
</p:tagLst>
</file>

<file path=ppt/tags/tag53.xml><?xml version="1.0" encoding="utf-8"?>
<p:tagLst xmlns:p="http://schemas.openxmlformats.org/presentationml/2006/main">
  <p:tag name="KSO_WM_DIAGRAM_VIRTUALLY_FRAME" val="{&quot;height&quot;:248,&quot;left&quot;:20,&quot;top&quot;:196,&quot;width&quot;:920}"/>
</p:tagLst>
</file>

<file path=ppt/tags/tag54.xml><?xml version="1.0" encoding="utf-8"?>
<p:tagLst xmlns:p="http://schemas.openxmlformats.org/presentationml/2006/main">
  <p:tag name="KSO_WM_DIAGRAM_VIRTUALLY_FRAME" val="{&quot;height&quot;:248,&quot;left&quot;:20,&quot;top&quot;:196,&quot;width&quot;:920}"/>
</p:tagLst>
</file>

<file path=ppt/tags/tag55.xml><?xml version="1.0" encoding="utf-8"?>
<p:tagLst xmlns:p="http://schemas.openxmlformats.org/presentationml/2006/main">
  <p:tag name="KSO_WM_DIAGRAM_VIRTUALLY_FRAME" val="{&quot;height&quot;:248,&quot;left&quot;:20,&quot;top&quot;:196,&quot;width&quot;:920}"/>
</p:tagLst>
</file>

<file path=ppt/tags/tag56.xml><?xml version="1.0" encoding="utf-8"?>
<p:tagLst xmlns:p="http://schemas.openxmlformats.org/presentationml/2006/main">
  <p:tag name="KSO_WM_DIAGRAM_VIRTUALLY_FRAME" val="{&quot;height&quot;:248,&quot;left&quot;:20,&quot;top&quot;:196,&quot;width&quot;:920}"/>
</p:tagLst>
</file>

<file path=ppt/tags/tag57.xml><?xml version="1.0" encoding="utf-8"?>
<p:tagLst xmlns:p="http://schemas.openxmlformats.org/presentationml/2006/main">
  <p:tag name="KSO_WM_DIAGRAM_VIRTUALLY_FRAME" val="{&quot;height&quot;:248,&quot;left&quot;:20,&quot;top&quot;:196,&quot;width&quot;:92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1611</Words>
  <Application>WPS 演示</Application>
  <PresentationFormat>On-screen Show (16:9)</PresentationFormat>
  <Paragraphs>260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MingLiU-ExtB</vt:lpstr>
      <vt:lpstr>Microsoft JhengHei UI Light</vt:lpstr>
      <vt:lpstr>Noto Sans SC</vt:lpstr>
      <vt:lpstr>Segoe Print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网络安全：从威胁到信任的闭环</dc:title>
  <dc:creator>Kimi</dc:creator>
  <dc:subject>网络安全：从威胁到信任的闭环</dc:subject>
  <cp:lastModifiedBy>WPS_1694490358</cp:lastModifiedBy>
  <cp:revision>6</cp:revision>
  <dcterms:created xsi:type="dcterms:W3CDTF">2025-12-26T09:22:00Z</dcterms:created>
  <dcterms:modified xsi:type="dcterms:W3CDTF">2025-12-27T09:27:59Z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{"Label":"网络安全：从威胁到信任的闭环","ContentProducer":"001191110108MACG2KBH8F10000","ProduceID":"d575072n7549g3qllhh0","ReservedCode1":"","ContentPropagator":"001191110108MACG2KBH8F20000","PropagateID":"d575072n7549g3qllhh0","ReservedCode2":""}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3C1365A6D27743EF87A906D723CEC73E_12</vt:lpwstr>
  </property>
</Properties>
</file>