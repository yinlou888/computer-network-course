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7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x="12192000" cy="6858000"/>
  <p:notesSz cx="6858000" cy="12192000"/>
  <p:embeddedFontLst>
    <p:embeddedFont>
      <p:font typeface="MiSans" pitchFamily="34" charset="-122"/>
      <p:regular r:id="rId30"/>
    </p:embeddedFont>
    <p:embeddedFont>
      <p:font typeface="MiSans" pitchFamily="34" charset="-120"/>
      <p:regular r:id="rId31"/>
    </p:embeddedFont>
    <p:embeddedFont>
      <p:font typeface="Noto Sans SC" panose="020B0200000000000000" pitchFamily="34" charset="-122"/>
      <p:regular r:id="rId32"/>
    </p:embeddedFont>
    <p:embeddedFont>
      <p:font typeface="Noto Sans SC" panose="020B0200000000000000" pitchFamily="34" charset="-120"/>
      <p:regular r:id="rId33"/>
    </p:embeddedFont>
    <p:embeddedFont>
      <p:font typeface="微软雅黑" panose="020B0503020204020204" charset="-122"/>
      <p:regular r:id="rId34"/>
    </p:embeddedFont>
    <p:embeddedFont>
      <p:font typeface="Calibri" panose="020F0502020204030204" charset="0"/>
      <p:regular r:id="rId35"/>
      <p:bold r:id="rId36"/>
      <p:italic r:id="rId37"/>
      <p:boldItalic r:id="rId38"/>
    </p:embeddedFont>
    <p:embeddedFont>
      <p:font typeface="等线" panose="02010600030101010101" charset="-122"/>
      <p:regular r:id="rId3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9" Type="http://schemas.openxmlformats.org/officeDocument/2006/relationships/font" Target="fonts/font10.fntdata"/><Relationship Id="rId38" Type="http://schemas.openxmlformats.org/officeDocument/2006/relationships/font" Target="fonts/font9.fntdata"/><Relationship Id="rId37" Type="http://schemas.openxmlformats.org/officeDocument/2006/relationships/font" Target="fonts/font8.fntdata"/><Relationship Id="rId36" Type="http://schemas.openxmlformats.org/officeDocument/2006/relationships/font" Target="fonts/font7.fntdata"/><Relationship Id="rId35" Type="http://schemas.openxmlformats.org/officeDocument/2006/relationships/font" Target="fonts/font6.fntdata"/><Relationship Id="rId34" Type="http://schemas.openxmlformats.org/officeDocument/2006/relationships/font" Target="fonts/font5.fntdata"/><Relationship Id="rId33" Type="http://schemas.openxmlformats.org/officeDocument/2006/relationships/font" Target="fonts/font4.fntdata"/><Relationship Id="rId32" Type="http://schemas.openxmlformats.org/officeDocument/2006/relationships/font" Target="fonts/font3.fntdata"/><Relationship Id="rId31" Type="http://schemas.openxmlformats.org/officeDocument/2006/relationships/font" Target="fonts/font2.fntdata"/><Relationship Id="rId30" Type="http://schemas.openxmlformats.org/officeDocument/2006/relationships/font" Target="fonts/font1.fntdata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tags" Target="../tags/tag4.xml"/><Relationship Id="rId7" Type="http://schemas.openxmlformats.org/officeDocument/2006/relationships/tags" Target="../tags/tag3.xml"/><Relationship Id="rId6" Type="http://schemas.openxmlformats.org/officeDocument/2006/relationships/tags" Target="../tags/tag2.xml"/><Relationship Id="rId5" Type="http://schemas.openxmlformats.org/officeDocument/2006/relationships/tags" Target="../tags/tag1.xml"/><Relationship Id="rId4" Type="http://schemas.openxmlformats.org/officeDocument/2006/relationships/image" Target="../media/image6.png"/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8" Type="http://schemas.openxmlformats.org/officeDocument/2006/relationships/notesSlide" Target="../notesSlides/notesSlide2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tags" Target="../tags/tag7.xml"/><Relationship Id="rId10" Type="http://schemas.openxmlformats.org/officeDocument/2006/relationships/tags" Target="../tags/tag6.xml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24.xml"/><Relationship Id="rId12" Type="http://schemas.openxmlformats.org/officeDocument/2006/relationships/tags" Target="../tags/tag23.xml"/><Relationship Id="rId11" Type="http://schemas.openxmlformats.org/officeDocument/2006/relationships/tags" Target="../tags/tag22.xml"/><Relationship Id="rId10" Type="http://schemas.openxmlformats.org/officeDocument/2006/relationships/tags" Target="../tags/tag21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7" Type="http://schemas.openxmlformats.org/officeDocument/2006/relationships/notesSlide" Target="../notesSlides/notesSlide4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38.xml"/><Relationship Id="rId14" Type="http://schemas.openxmlformats.org/officeDocument/2006/relationships/tags" Target="../tags/tag37.xml"/><Relationship Id="rId13" Type="http://schemas.openxmlformats.org/officeDocument/2006/relationships/tags" Target="../tags/tag36.xml"/><Relationship Id="rId12" Type="http://schemas.openxmlformats.org/officeDocument/2006/relationships/tags" Target="../tags/tag35.xml"/><Relationship Id="rId11" Type="http://schemas.openxmlformats.org/officeDocument/2006/relationships/tags" Target="../tags/tag34.xml"/><Relationship Id="rId10" Type="http://schemas.openxmlformats.org/officeDocument/2006/relationships/tags" Target="../tags/tag33.xm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46.xml"/><Relationship Id="rId8" Type="http://schemas.openxmlformats.org/officeDocument/2006/relationships/tags" Target="../tags/tag45.xml"/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8" Type="http://schemas.openxmlformats.org/officeDocument/2006/relationships/notesSlide" Target="../notesSlides/notesSlide5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53.xml"/><Relationship Id="rId15" Type="http://schemas.openxmlformats.org/officeDocument/2006/relationships/tags" Target="../tags/tag52.xml"/><Relationship Id="rId14" Type="http://schemas.openxmlformats.org/officeDocument/2006/relationships/tags" Target="../tags/tag51.xml"/><Relationship Id="rId13" Type="http://schemas.openxmlformats.org/officeDocument/2006/relationships/tags" Target="../tags/tag50.xml"/><Relationship Id="rId12" Type="http://schemas.openxmlformats.org/officeDocument/2006/relationships/tags" Target="../tags/tag49.xml"/><Relationship Id="rId11" Type="http://schemas.openxmlformats.org/officeDocument/2006/relationships/tags" Target="../tags/tag48.xml"/><Relationship Id="rId10" Type="http://schemas.openxmlformats.org/officeDocument/2006/relationships/tags" Target="../tags/tag47.xml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61.xml"/><Relationship Id="rId8" Type="http://schemas.openxmlformats.org/officeDocument/2006/relationships/tags" Target="../tags/tag60.xml"/><Relationship Id="rId7" Type="http://schemas.openxmlformats.org/officeDocument/2006/relationships/tags" Target="../tags/tag59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5" Type="http://schemas.openxmlformats.org/officeDocument/2006/relationships/notesSlide" Target="../notesSlides/notesSlide7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65.xml"/><Relationship Id="rId12" Type="http://schemas.openxmlformats.org/officeDocument/2006/relationships/tags" Target="../tags/tag64.xml"/><Relationship Id="rId11" Type="http://schemas.openxmlformats.org/officeDocument/2006/relationships/tags" Target="../tags/tag63.xml"/><Relationship Id="rId10" Type="http://schemas.openxmlformats.org/officeDocument/2006/relationships/tags" Target="../tags/tag62.xml"/><Relationship Id="rId1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image" Target="../media/image12.png"/><Relationship Id="rId4" Type="http://schemas.openxmlformats.org/officeDocument/2006/relationships/tags" Target="../tags/tag68.xml"/><Relationship Id="rId3" Type="http://schemas.openxmlformats.org/officeDocument/2006/relationships/tags" Target="../tags/tag67.xml"/><Relationship Id="rId20" Type="http://schemas.openxmlformats.org/officeDocument/2006/relationships/notesSlide" Target="../notesSlides/notesSlide10.xml"/><Relationship Id="rId2" Type="http://schemas.openxmlformats.org/officeDocument/2006/relationships/tags" Target="../tags/tag66.xml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80.xml"/><Relationship Id="rId17" Type="http://schemas.openxmlformats.org/officeDocument/2006/relationships/tags" Target="../tags/tag79.xml"/><Relationship Id="rId16" Type="http://schemas.openxmlformats.org/officeDocument/2006/relationships/image" Target="../media/image13.jpeg"/><Relationship Id="rId15" Type="http://schemas.openxmlformats.org/officeDocument/2006/relationships/tags" Target="../tags/tag78.xml"/><Relationship Id="rId14" Type="http://schemas.openxmlformats.org/officeDocument/2006/relationships/tags" Target="../tags/tag77.xml"/><Relationship Id="rId13" Type="http://schemas.openxmlformats.org/officeDocument/2006/relationships/tags" Target="../tags/tag76.xml"/><Relationship Id="rId12" Type="http://schemas.openxmlformats.org/officeDocument/2006/relationships/tags" Target="../tags/tag75.xml"/><Relationship Id="rId11" Type="http://schemas.openxmlformats.org/officeDocument/2006/relationships/tags" Target="../tags/tag74.xml"/><Relationship Id="rId10" Type="http://schemas.openxmlformats.org/officeDocument/2006/relationships/tags" Target="../tags/tag73.xml"/><Relationship Id="rId1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4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87.xml"/><Relationship Id="rId8" Type="http://schemas.openxmlformats.org/officeDocument/2006/relationships/tags" Target="../tags/tag86.xml"/><Relationship Id="rId7" Type="http://schemas.openxmlformats.org/officeDocument/2006/relationships/tags" Target="../tags/tag85.xml"/><Relationship Id="rId6" Type="http://schemas.openxmlformats.org/officeDocument/2006/relationships/tags" Target="../tags/tag84.xml"/><Relationship Id="rId5" Type="http://schemas.openxmlformats.org/officeDocument/2006/relationships/image" Target="../media/image14.png"/><Relationship Id="rId4" Type="http://schemas.openxmlformats.org/officeDocument/2006/relationships/tags" Target="../tags/tag83.xml"/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5" Type="http://schemas.openxmlformats.org/officeDocument/2006/relationships/notesSlide" Target="../notesSlides/notesSlide13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90.xml"/><Relationship Id="rId12" Type="http://schemas.openxmlformats.org/officeDocument/2006/relationships/tags" Target="../tags/tag89.xml"/><Relationship Id="rId11" Type="http://schemas.openxmlformats.org/officeDocument/2006/relationships/image" Target="../media/image15.png"/><Relationship Id="rId10" Type="http://schemas.openxmlformats.org/officeDocument/2006/relationships/tags" Target="../tags/tag88.xml"/><Relationship Id="rId1" Type="http://schemas.openxmlformats.org/officeDocument/2006/relationships/image" Target="../media/image4.jpe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4.x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" Type="http://schemas.openxmlformats.org/officeDocument/2006/relationships/image" Target="../media/image4.jpeg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5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4.jpe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6.jpeg"/><Relationship Id="rId7" Type="http://schemas.openxmlformats.org/officeDocument/2006/relationships/tags" Target="../tags/tag102.xml"/><Relationship Id="rId6" Type="http://schemas.openxmlformats.org/officeDocument/2006/relationships/tags" Target="../tags/tag101.xml"/><Relationship Id="rId5" Type="http://schemas.openxmlformats.org/officeDocument/2006/relationships/tags" Target="../tags/tag100.xml"/><Relationship Id="rId4" Type="http://schemas.openxmlformats.org/officeDocument/2006/relationships/tags" Target="../tags/tag99.xml"/><Relationship Id="rId3" Type="http://schemas.openxmlformats.org/officeDocument/2006/relationships/tags" Target="../tags/tag98.xml"/><Relationship Id="rId2" Type="http://schemas.openxmlformats.org/officeDocument/2006/relationships/tags" Target="../tags/tag97.xml"/><Relationship Id="rId10" Type="http://schemas.openxmlformats.org/officeDocument/2006/relationships/notesSlide" Target="../notesSlides/notesSlide16.xml"/><Relationship Id="rId1" Type="http://schemas.openxmlformats.org/officeDocument/2006/relationships/image" Target="../media/image4.jpe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110.xml"/><Relationship Id="rId8" Type="http://schemas.openxmlformats.org/officeDocument/2006/relationships/tags" Target="../tags/tag109.xml"/><Relationship Id="rId7" Type="http://schemas.openxmlformats.org/officeDocument/2006/relationships/tags" Target="../tags/tag108.xml"/><Relationship Id="rId6" Type="http://schemas.openxmlformats.org/officeDocument/2006/relationships/tags" Target="../tags/tag107.xml"/><Relationship Id="rId5" Type="http://schemas.openxmlformats.org/officeDocument/2006/relationships/tags" Target="../tags/tag106.xml"/><Relationship Id="rId4" Type="http://schemas.openxmlformats.org/officeDocument/2006/relationships/tags" Target="../tags/tag105.xml"/><Relationship Id="rId3" Type="http://schemas.openxmlformats.org/officeDocument/2006/relationships/tags" Target="../tags/tag104.xml"/><Relationship Id="rId23" Type="http://schemas.openxmlformats.org/officeDocument/2006/relationships/notesSlide" Target="../notesSlides/notesSlide17.xml"/><Relationship Id="rId22" Type="http://schemas.openxmlformats.org/officeDocument/2006/relationships/slideLayout" Target="../slideLayouts/slideLayout1.xml"/><Relationship Id="rId21" Type="http://schemas.openxmlformats.org/officeDocument/2006/relationships/tags" Target="../tags/tag122.xml"/><Relationship Id="rId20" Type="http://schemas.openxmlformats.org/officeDocument/2006/relationships/tags" Target="../tags/tag121.xml"/><Relationship Id="rId2" Type="http://schemas.openxmlformats.org/officeDocument/2006/relationships/tags" Target="../tags/tag103.xml"/><Relationship Id="rId19" Type="http://schemas.openxmlformats.org/officeDocument/2006/relationships/tags" Target="../tags/tag120.xml"/><Relationship Id="rId18" Type="http://schemas.openxmlformats.org/officeDocument/2006/relationships/tags" Target="../tags/tag119.xml"/><Relationship Id="rId17" Type="http://schemas.openxmlformats.org/officeDocument/2006/relationships/tags" Target="../tags/tag118.xml"/><Relationship Id="rId16" Type="http://schemas.openxmlformats.org/officeDocument/2006/relationships/tags" Target="../tags/tag117.xml"/><Relationship Id="rId15" Type="http://schemas.openxmlformats.org/officeDocument/2006/relationships/tags" Target="../tags/tag116.xml"/><Relationship Id="rId14" Type="http://schemas.openxmlformats.org/officeDocument/2006/relationships/tags" Target="../tags/tag115.xml"/><Relationship Id="rId13" Type="http://schemas.openxmlformats.org/officeDocument/2006/relationships/tags" Target="../tags/tag114.xml"/><Relationship Id="rId12" Type="http://schemas.openxmlformats.org/officeDocument/2006/relationships/tags" Target="../tags/tag113.xml"/><Relationship Id="rId11" Type="http://schemas.openxmlformats.org/officeDocument/2006/relationships/tags" Target="../tags/tag112.xml"/><Relationship Id="rId10" Type="http://schemas.openxmlformats.org/officeDocument/2006/relationships/tags" Target="../tags/tag111.xml"/><Relationship Id="rId1" Type="http://schemas.openxmlformats.org/officeDocument/2006/relationships/image" Target="../media/image4.jpe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129.xml"/><Relationship Id="rId7" Type="http://schemas.openxmlformats.org/officeDocument/2006/relationships/tags" Target="../tags/tag128.xml"/><Relationship Id="rId6" Type="http://schemas.openxmlformats.org/officeDocument/2006/relationships/tags" Target="../tags/tag127.xml"/><Relationship Id="rId5" Type="http://schemas.openxmlformats.org/officeDocument/2006/relationships/tags" Target="../tags/tag126.xml"/><Relationship Id="rId4" Type="http://schemas.openxmlformats.org/officeDocument/2006/relationships/tags" Target="../tags/tag125.xml"/><Relationship Id="rId3" Type="http://schemas.openxmlformats.org/officeDocument/2006/relationships/tags" Target="../tags/tag124.xml"/><Relationship Id="rId2" Type="http://schemas.openxmlformats.org/officeDocument/2006/relationships/tags" Target="../tags/tag123.xml"/><Relationship Id="rId10" Type="http://schemas.openxmlformats.org/officeDocument/2006/relationships/notesSlide" Target="../notesSlides/notesSlide18.xml"/><Relationship Id="rId1" Type="http://schemas.openxmlformats.org/officeDocument/2006/relationships/image" Target="../media/image4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0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4.jpe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137.xml"/><Relationship Id="rId8" Type="http://schemas.openxmlformats.org/officeDocument/2006/relationships/tags" Target="../tags/tag136.xml"/><Relationship Id="rId7" Type="http://schemas.openxmlformats.org/officeDocument/2006/relationships/tags" Target="../tags/tag135.xml"/><Relationship Id="rId6" Type="http://schemas.openxmlformats.org/officeDocument/2006/relationships/tags" Target="../tags/tag134.xml"/><Relationship Id="rId5" Type="http://schemas.openxmlformats.org/officeDocument/2006/relationships/tags" Target="../tags/tag133.xml"/><Relationship Id="rId4" Type="http://schemas.openxmlformats.org/officeDocument/2006/relationships/tags" Target="../tags/tag132.xml"/><Relationship Id="rId3" Type="http://schemas.openxmlformats.org/officeDocument/2006/relationships/tags" Target="../tags/tag131.xml"/><Relationship Id="rId23" Type="http://schemas.openxmlformats.org/officeDocument/2006/relationships/notesSlide" Target="../notesSlides/notesSlide21.xml"/><Relationship Id="rId22" Type="http://schemas.openxmlformats.org/officeDocument/2006/relationships/slideLayout" Target="../slideLayouts/slideLayout1.xml"/><Relationship Id="rId21" Type="http://schemas.openxmlformats.org/officeDocument/2006/relationships/tags" Target="../tags/tag149.xml"/><Relationship Id="rId20" Type="http://schemas.openxmlformats.org/officeDocument/2006/relationships/tags" Target="../tags/tag148.xml"/><Relationship Id="rId2" Type="http://schemas.openxmlformats.org/officeDocument/2006/relationships/tags" Target="../tags/tag130.xml"/><Relationship Id="rId19" Type="http://schemas.openxmlformats.org/officeDocument/2006/relationships/tags" Target="../tags/tag147.xml"/><Relationship Id="rId18" Type="http://schemas.openxmlformats.org/officeDocument/2006/relationships/tags" Target="../tags/tag146.xml"/><Relationship Id="rId17" Type="http://schemas.openxmlformats.org/officeDocument/2006/relationships/tags" Target="../tags/tag145.xml"/><Relationship Id="rId16" Type="http://schemas.openxmlformats.org/officeDocument/2006/relationships/tags" Target="../tags/tag144.xml"/><Relationship Id="rId15" Type="http://schemas.openxmlformats.org/officeDocument/2006/relationships/tags" Target="../tags/tag143.xml"/><Relationship Id="rId14" Type="http://schemas.openxmlformats.org/officeDocument/2006/relationships/tags" Target="../tags/tag142.xml"/><Relationship Id="rId13" Type="http://schemas.openxmlformats.org/officeDocument/2006/relationships/tags" Target="../tags/tag141.xml"/><Relationship Id="rId12" Type="http://schemas.openxmlformats.org/officeDocument/2006/relationships/tags" Target="../tags/tag140.xml"/><Relationship Id="rId11" Type="http://schemas.openxmlformats.org/officeDocument/2006/relationships/tags" Target="../tags/tag139.xml"/><Relationship Id="rId10" Type="http://schemas.openxmlformats.org/officeDocument/2006/relationships/tags" Target="../tags/tag138.xml"/><Relationship Id="rId1" Type="http://schemas.openxmlformats.org/officeDocument/2006/relationships/image" Target="../media/image4.jpe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image" Target="../media/image1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3-d2tarltnfo2stf9djk2g.png"/>
          <p:cNvPicPr>
            <a:picLocks noChangeAspect="1"/>
          </p:cNvPicPr>
          <p:nvPr/>
        </p:nvPicPr>
        <p:blipFill>
          <a:blip r:embed="rId1"/>
          <a:srcRect l="11651" t="6196" r="5498" b="9580"/>
          <a:stretch>
            <a:fillRect/>
          </a:stretch>
        </p:blipFill>
        <p:spPr>
          <a:xfrm>
            <a:off x="-317" y="-282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6745" y="6151880"/>
            <a:ext cx="4345305" cy="33147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Text 1"/>
          <p:cNvSpPr/>
          <p:nvPr/>
        </p:nvSpPr>
        <p:spPr>
          <a:xfrm>
            <a:off x="626745" y="5882005"/>
            <a:ext cx="4345305" cy="601345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>
              <a:lnSpc>
                <a:spcPct val="90000"/>
              </a:lnSpc>
            </a:pPr>
            <a:r>
              <a:rPr lang="en-US" sz="2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汇报人：</a:t>
            </a:r>
            <a:r>
              <a:rPr lang="zh-CN" altLang="en-US" sz="2400" b="1" dirty="0">
                <a:solidFill>
                  <a:srgbClr val="000000"/>
                </a:solidFill>
                <a:uFillTx/>
                <a:latin typeface="MiSans" pitchFamily="34" charset="-122"/>
                <a:ea typeface="MiSans" pitchFamily="34" charset="-122"/>
                <a:cs typeface="MiSans" pitchFamily="34" charset="-120"/>
              </a:rPr>
              <a:t>甘芝清</a:t>
            </a:r>
            <a:r>
              <a:rPr lang="en-US" altLang="zh-CN" sz="2400" b="1" dirty="0">
                <a:solidFill>
                  <a:srgbClr val="000000"/>
                </a:solidFill>
                <a:uFillTx/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uFillTx/>
                <a:latin typeface="MiSans" pitchFamily="34" charset="-122"/>
                <a:ea typeface="MiSans" pitchFamily="34" charset="-122"/>
                <a:cs typeface="MiSans" pitchFamily="34" charset="-120"/>
              </a:rPr>
              <a:t>黄慧雯</a:t>
            </a:r>
            <a:r>
              <a:rPr lang="en-US" altLang="zh-CN" sz="2400" b="1" dirty="0">
                <a:solidFill>
                  <a:srgbClr val="000000"/>
                </a:solidFill>
                <a:uFillTx/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uFillTx/>
                <a:latin typeface="MiSans" pitchFamily="34" charset="-122"/>
                <a:ea typeface="MiSans" pitchFamily="34" charset="-122"/>
                <a:cs typeface="MiSans" pitchFamily="34" charset="-120"/>
              </a:rPr>
              <a:t>林银蕊</a:t>
            </a:r>
            <a:endParaRPr lang="zh-CN" altLang="en-US" sz="2400" b="1" dirty="0">
              <a:solidFill>
                <a:srgbClr val="000000"/>
              </a:solidFill>
              <a:uFillTx/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211695" y="6116955"/>
            <a:ext cx="4448810" cy="36639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r">
              <a:lnSpc>
                <a:spcPct val="90000"/>
              </a:lnSpc>
            </a:pPr>
            <a:r>
              <a:rPr lang="en-US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汇报日期：2025/</a:t>
            </a:r>
            <a:r>
              <a:rPr lang="en-US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12/03</a:t>
            </a: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11450859" y="42888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450859" y="42888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1450859" y="52585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50859" y="52585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1450859" y="62282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450859" y="622829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304972" y="6293196"/>
            <a:ext cx="704469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pic>
        <p:nvPicPr>
          <p:cNvPr id="13" name="Image 1" descr="https://kimi-img.moonshot.cn/pub/slides/slides_tmpl/image/25-09-05-17:30:59-d2tarktnfo2stf9djjsg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rot="16200000">
            <a:off x="1188085" y="102870"/>
            <a:ext cx="262890" cy="117030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26745" y="2042160"/>
            <a:ext cx="6378575" cy="19380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rgbClr val="000000"/>
                </a:solidFill>
                <a:uFillTx/>
                <a:latin typeface="MiSans" pitchFamily="34" charset="-122"/>
                <a:ea typeface="MiSans" pitchFamily="34" charset="-122"/>
                <a:cs typeface="MiSans" pitchFamily="34" charset="-120"/>
              </a:rPr>
              <a:t>物理层：比特流的传输之道</a:t>
            </a:r>
            <a:endParaRPr lang="en-US" sz="6000" b="1" dirty="0">
              <a:solidFill>
                <a:srgbClr val="000000"/>
              </a:solidFill>
              <a:uFillTx/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pic>
        <p:nvPicPr>
          <p:cNvPr id="15" name="Image 2" descr="https://kimi-img.moonshot.cn/pub/slides/slides_tmpl/image/25-09-05-17:30:59-d2tarktnfo2stf9djjt0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909594" y="4470400"/>
            <a:ext cx="780106" cy="82078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734695" y="5018515"/>
            <a:ext cx="1131570" cy="815230"/>
          </a:xfrm>
          <a:prstGeom prst="trapezoid">
            <a:avLst>
              <a:gd name="adj" fmla="val 26039"/>
            </a:avLst>
          </a:prstGeom>
          <a:gradFill flip="none" rotWithShape="1">
            <a:gsLst>
              <a:gs pos="0">
                <a:srgbClr val="577FD2">
                  <a:alpha val="21000"/>
                </a:srgbClr>
              </a:gs>
              <a:gs pos="27000">
                <a:srgbClr val="577FD2">
                  <a:alpha val="21000"/>
                </a:srgbClr>
              </a:gs>
              <a:gs pos="68000">
                <a:srgbClr val="F3F7FA">
                  <a:alpha val="0"/>
                </a:srgbClr>
              </a:gs>
              <a:gs pos="100000">
                <a:srgbClr val="F3F7FA">
                  <a:alpha val="0"/>
                </a:srgbClr>
              </a:gs>
            </a:gsLst>
            <a:lin ang="5400000" scaled="1"/>
          </a:gradFill>
        </p:spPr>
      </p:sp>
      <p:sp>
        <p:nvSpPr>
          <p:cNvPr id="17" name="Text 12"/>
          <p:cNvSpPr/>
          <p:nvPr/>
        </p:nvSpPr>
        <p:spPr>
          <a:xfrm>
            <a:off x="734695" y="5018515"/>
            <a:ext cx="1131570" cy="8152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4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44550" y="1925955"/>
            <a:ext cx="1408430" cy="8001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Text 1"/>
          <p:cNvSpPr/>
          <p:nvPr/>
        </p:nvSpPr>
        <p:spPr>
          <a:xfrm>
            <a:off x="844550" y="1925955"/>
            <a:ext cx="1408430" cy="8001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>
              <a:lnSpc>
                <a:spcPct val="130000"/>
              </a:lnSpc>
            </a:pPr>
            <a:r>
              <a:rPr lang="en-US" sz="5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目录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844550" y="2692400"/>
            <a:ext cx="2663190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CONTENTS</a:t>
            </a:r>
            <a:endParaRPr lang="en-US" sz="3200" b="1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924560" y="2670810"/>
            <a:ext cx="166497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7" name="Image 1" descr="https://kimi-img.moonshot.cn/pub/slides/slides_tmpl/image/25-09-05-17:30:59-d2tarktnfo2stf9djjtg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flipV="1">
            <a:off x="10751820" y="428625"/>
            <a:ext cx="762000" cy="76200"/>
          </a:xfrm>
          <a:prstGeom prst="rect">
            <a:avLst/>
          </a:prstGeom>
        </p:spPr>
      </p:pic>
      <p:pic>
        <p:nvPicPr>
          <p:cNvPr id="8" name="Image 2" descr="https://kimi-img.moonshot.cn/pub/slides/slides_tmpl/image/25-09-05-17:30:59-d2tarktnfo2stf9djjtg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flipV="1">
            <a:off x="10751820" y="559435"/>
            <a:ext cx="762000" cy="7620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 flipH="1">
            <a:off x="4570730" y="1357630"/>
            <a:ext cx="127000" cy="342900"/>
          </a:xfrm>
          <a:prstGeom prst="line">
            <a:avLst/>
          </a:prstGeom>
          <a:noFill/>
          <a:ln w="28575">
            <a:solidFill>
              <a:srgbClr val="4B62E1"/>
            </a:solidFill>
            <a:prstDash val="solid"/>
            <a:headEnd type="none"/>
            <a:tailEnd type="none"/>
          </a:ln>
        </p:spPr>
      </p:sp>
      <p:sp>
        <p:nvSpPr>
          <p:cNvPr id="10" name="Shape 5"/>
          <p:cNvSpPr/>
          <p:nvPr/>
        </p:nvSpPr>
        <p:spPr>
          <a:xfrm flipH="1">
            <a:off x="4570730" y="2172335"/>
            <a:ext cx="127000" cy="342900"/>
          </a:xfrm>
          <a:prstGeom prst="line">
            <a:avLst/>
          </a:prstGeom>
          <a:noFill/>
          <a:ln w="28575">
            <a:solidFill>
              <a:srgbClr val="4B62E1"/>
            </a:solidFill>
            <a:prstDash val="solid"/>
            <a:headEnd type="none"/>
            <a:tailEnd type="none"/>
          </a:ln>
        </p:spPr>
      </p:sp>
      <p:sp>
        <p:nvSpPr>
          <p:cNvPr id="11" name="Shape 6"/>
          <p:cNvSpPr/>
          <p:nvPr/>
        </p:nvSpPr>
        <p:spPr>
          <a:xfrm flipH="1">
            <a:off x="4570730" y="2924810"/>
            <a:ext cx="127000" cy="342900"/>
          </a:xfrm>
          <a:prstGeom prst="line">
            <a:avLst/>
          </a:prstGeom>
          <a:noFill/>
          <a:ln w="28575">
            <a:solidFill>
              <a:srgbClr val="4B62E1"/>
            </a:solidFill>
            <a:prstDash val="solid"/>
            <a:headEnd type="none"/>
            <a:tailEnd type="none"/>
          </a:ln>
        </p:spPr>
      </p:sp>
      <p:sp>
        <p:nvSpPr>
          <p:cNvPr id="12" name="Shape 7"/>
          <p:cNvSpPr/>
          <p:nvPr/>
        </p:nvSpPr>
        <p:spPr>
          <a:xfrm flipH="1">
            <a:off x="4570730" y="3700145"/>
            <a:ext cx="127000" cy="342900"/>
          </a:xfrm>
          <a:prstGeom prst="line">
            <a:avLst/>
          </a:prstGeom>
          <a:noFill/>
          <a:ln w="28575">
            <a:solidFill>
              <a:srgbClr val="4B62E1"/>
            </a:solidFill>
            <a:prstDash val="solid"/>
            <a:headEnd type="none"/>
            <a:tailEnd type="none"/>
          </a:ln>
        </p:spPr>
      </p:sp>
      <p:sp>
        <p:nvSpPr>
          <p:cNvPr id="13" name="Shape 8"/>
          <p:cNvSpPr/>
          <p:nvPr/>
        </p:nvSpPr>
        <p:spPr>
          <a:xfrm flipH="1">
            <a:off x="4570730" y="4443730"/>
            <a:ext cx="127000" cy="342900"/>
          </a:xfrm>
          <a:prstGeom prst="line">
            <a:avLst/>
          </a:prstGeom>
          <a:noFill/>
          <a:ln w="28575">
            <a:solidFill>
              <a:srgbClr val="4B62E1"/>
            </a:solidFill>
            <a:prstDash val="solid"/>
            <a:headEnd type="none"/>
            <a:tailEnd type="none"/>
          </a:ln>
        </p:spPr>
      </p:sp>
      <p:sp>
        <p:nvSpPr>
          <p:cNvPr id="14" name="Shape 9"/>
          <p:cNvSpPr/>
          <p:nvPr/>
        </p:nvSpPr>
        <p:spPr>
          <a:xfrm flipH="1">
            <a:off x="4570730" y="5227955"/>
            <a:ext cx="127000" cy="342900"/>
          </a:xfrm>
          <a:prstGeom prst="line">
            <a:avLst/>
          </a:prstGeom>
          <a:noFill/>
          <a:ln w="28575">
            <a:solidFill>
              <a:srgbClr val="4B62E1"/>
            </a:solidFill>
            <a:prstDash val="solid"/>
            <a:headEnd type="none"/>
            <a:tailEnd type="none"/>
          </a:ln>
        </p:spPr>
      </p:sp>
      <p:sp>
        <p:nvSpPr>
          <p:cNvPr id="15" name="Shape 10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Shape 11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6" name="Shape 21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28" name="Image 3" descr="https://kimi-img.moonshot.cn/pub/slides/slides_tmpl/image/25-09-05-17:30:59-d2tarktnfo2stf9djjt0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2252980" y="4632325"/>
            <a:ext cx="892175" cy="938530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2052955" y="5259070"/>
            <a:ext cx="1294130" cy="932180"/>
          </a:xfrm>
          <a:prstGeom prst="trapezoid">
            <a:avLst>
              <a:gd name="adj" fmla="val 26039"/>
            </a:avLst>
          </a:prstGeom>
          <a:gradFill flip="none" rotWithShape="1">
            <a:gsLst>
              <a:gs pos="0">
                <a:srgbClr val="577FD2">
                  <a:alpha val="21000"/>
                </a:srgbClr>
              </a:gs>
              <a:gs pos="27000">
                <a:srgbClr val="577FD2">
                  <a:alpha val="21000"/>
                </a:srgbClr>
              </a:gs>
              <a:gs pos="68000">
                <a:srgbClr val="F3F7FA">
                  <a:alpha val="0"/>
                </a:srgbClr>
              </a:gs>
              <a:gs pos="100000">
                <a:srgbClr val="F3F7FA">
                  <a:alpha val="0"/>
                </a:srgbClr>
              </a:gs>
            </a:gsLst>
            <a:lin ang="5400000" scaled="1"/>
          </a:gradFill>
        </p:spPr>
      </p:sp>
      <p:sp>
        <p:nvSpPr>
          <p:cNvPr id="30" name="Text 24"/>
          <p:cNvSpPr/>
          <p:nvPr/>
        </p:nvSpPr>
        <p:spPr>
          <a:xfrm>
            <a:off x="2052955" y="5259070"/>
            <a:ext cx="1294130" cy="9321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31" name="Image 4" descr="https://kimi-img.moonshot.cn/pub/slides/slides_tmpl/image/25-09-05-17:31:01-d2tarldnfo2stf9djk0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9841865" y="1183640"/>
            <a:ext cx="1897380" cy="1684020"/>
          </a:xfrm>
          <a:prstGeom prst="rect">
            <a:avLst/>
          </a:prstGeom>
        </p:spPr>
      </p:pic>
      <p:sp>
        <p:nvSpPr>
          <p:cNvPr id="32" name="Text 25"/>
          <p:cNvSpPr/>
          <p:nvPr>
            <p:custDataLst>
              <p:tags r:id="rId5"/>
            </p:custDataLst>
          </p:nvPr>
        </p:nvSpPr>
        <p:spPr>
          <a:xfrm>
            <a:off x="4835525" y="1219835"/>
            <a:ext cx="806450" cy="5524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01.</a:t>
            </a:r>
            <a:endParaRPr lang="en-US" sz="1600" dirty="0"/>
          </a:p>
        </p:txBody>
      </p:sp>
      <p:sp>
        <p:nvSpPr>
          <p:cNvPr id="33" name="Text 26"/>
          <p:cNvSpPr/>
          <p:nvPr>
            <p:custDataLst>
              <p:tags r:id="rId6"/>
            </p:custDataLst>
          </p:nvPr>
        </p:nvSpPr>
        <p:spPr>
          <a:xfrm>
            <a:off x="5642610" y="1338580"/>
            <a:ext cx="6268085" cy="3619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8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物理层的</a:t>
            </a:r>
            <a:r>
              <a:rPr lang="zh-CN" altLang="en-US" sz="2800" b="1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基本概念</a:t>
            </a:r>
            <a:endParaRPr lang="zh-CN" altLang="en-US" sz="2800" b="1" dirty="0">
              <a:solidFill>
                <a:srgbClr val="595959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34" name="Text 27"/>
          <p:cNvSpPr/>
          <p:nvPr>
            <p:custDataLst>
              <p:tags r:id="rId7"/>
            </p:custDataLst>
          </p:nvPr>
        </p:nvSpPr>
        <p:spPr>
          <a:xfrm>
            <a:off x="4835525" y="2028825"/>
            <a:ext cx="806450" cy="5524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02.</a:t>
            </a:r>
            <a:endParaRPr lang="en-US" sz="1600" dirty="0"/>
          </a:p>
        </p:txBody>
      </p:sp>
      <p:sp>
        <p:nvSpPr>
          <p:cNvPr id="35" name="Text 28"/>
          <p:cNvSpPr/>
          <p:nvPr>
            <p:custDataLst>
              <p:tags r:id="rId8"/>
            </p:custDataLst>
          </p:nvPr>
        </p:nvSpPr>
        <p:spPr>
          <a:xfrm>
            <a:off x="5642610" y="2167255"/>
            <a:ext cx="6268085" cy="4508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信号换装与极限速率</a:t>
            </a:r>
            <a:endParaRPr lang="en-US" sz="2800" dirty="0"/>
          </a:p>
        </p:txBody>
      </p:sp>
      <p:sp>
        <p:nvSpPr>
          <p:cNvPr id="36" name="Text 29"/>
          <p:cNvSpPr/>
          <p:nvPr>
            <p:custDataLst>
              <p:tags r:id="rId9"/>
            </p:custDataLst>
          </p:nvPr>
        </p:nvSpPr>
        <p:spPr>
          <a:xfrm>
            <a:off x="4835525" y="2781935"/>
            <a:ext cx="806450" cy="5524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03.</a:t>
            </a:r>
            <a:endParaRPr lang="en-US" sz="1600" dirty="0"/>
          </a:p>
        </p:txBody>
      </p:sp>
      <p:sp>
        <p:nvSpPr>
          <p:cNvPr id="37" name="Text 30"/>
          <p:cNvSpPr/>
          <p:nvPr>
            <p:custDataLst>
              <p:tags r:id="rId10"/>
            </p:custDataLst>
          </p:nvPr>
        </p:nvSpPr>
        <p:spPr>
          <a:xfrm>
            <a:off x="5642610" y="2882900"/>
            <a:ext cx="6268085" cy="3854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传输媒体大观园</a:t>
            </a:r>
            <a:endParaRPr lang="en-US" sz="2800" dirty="0"/>
          </a:p>
        </p:txBody>
      </p:sp>
      <p:sp>
        <p:nvSpPr>
          <p:cNvPr id="38" name="Text 31"/>
          <p:cNvSpPr/>
          <p:nvPr>
            <p:custDataLst>
              <p:tags r:id="rId11"/>
            </p:custDataLst>
          </p:nvPr>
        </p:nvSpPr>
        <p:spPr>
          <a:xfrm>
            <a:off x="4835525" y="3562985"/>
            <a:ext cx="806450" cy="5524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04.</a:t>
            </a:r>
            <a:endParaRPr lang="en-US" sz="1600" dirty="0"/>
          </a:p>
        </p:txBody>
      </p:sp>
      <p:sp>
        <p:nvSpPr>
          <p:cNvPr id="39" name="Text 32"/>
          <p:cNvSpPr/>
          <p:nvPr>
            <p:custDataLst>
              <p:tags r:id="rId12"/>
            </p:custDataLst>
          </p:nvPr>
        </p:nvSpPr>
        <p:spPr>
          <a:xfrm>
            <a:off x="5642610" y="3686175"/>
            <a:ext cx="6268085" cy="3632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复用技术组合拳</a:t>
            </a:r>
            <a:endParaRPr lang="en-US" sz="2800" dirty="0">
              <a:solidFill>
                <a:srgbClr val="595959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40" name="Text 33"/>
          <p:cNvSpPr/>
          <p:nvPr>
            <p:custDataLst>
              <p:tags r:id="rId13"/>
            </p:custDataLst>
          </p:nvPr>
        </p:nvSpPr>
        <p:spPr>
          <a:xfrm>
            <a:off x="4835525" y="4344035"/>
            <a:ext cx="832485" cy="5524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05.</a:t>
            </a:r>
            <a:endParaRPr lang="en-US" sz="1600" dirty="0"/>
          </a:p>
        </p:txBody>
      </p:sp>
      <p:sp>
        <p:nvSpPr>
          <p:cNvPr id="41" name="Text 34"/>
          <p:cNvSpPr/>
          <p:nvPr>
            <p:custDataLst>
              <p:tags r:id="rId14"/>
            </p:custDataLst>
          </p:nvPr>
        </p:nvSpPr>
        <p:spPr>
          <a:xfrm>
            <a:off x="5642610" y="4483100"/>
            <a:ext cx="6268085" cy="3206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宽带接入最后一公里</a:t>
            </a:r>
            <a:endParaRPr lang="en-US" sz="2800" dirty="0"/>
          </a:p>
        </p:txBody>
      </p:sp>
      <p:sp>
        <p:nvSpPr>
          <p:cNvPr id="42" name="Text 35"/>
          <p:cNvSpPr/>
          <p:nvPr>
            <p:custDataLst>
              <p:tags r:id="rId15"/>
            </p:custDataLst>
          </p:nvPr>
        </p:nvSpPr>
        <p:spPr>
          <a:xfrm>
            <a:off x="4835525" y="5097145"/>
            <a:ext cx="806450" cy="5524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06.</a:t>
            </a:r>
            <a:endParaRPr lang="en-US" sz="1600" dirty="0"/>
          </a:p>
        </p:txBody>
      </p:sp>
      <p:sp>
        <p:nvSpPr>
          <p:cNvPr id="43" name="Text 36"/>
          <p:cNvSpPr/>
          <p:nvPr>
            <p:custDataLst>
              <p:tags r:id="rId16"/>
            </p:custDataLst>
          </p:nvPr>
        </p:nvSpPr>
        <p:spPr>
          <a:xfrm>
            <a:off x="5642610" y="5202555"/>
            <a:ext cx="6268085" cy="430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回顾与前瞻</a:t>
            </a:r>
            <a:endParaRPr lang="en-US" sz="2800" dirty="0">
              <a:solidFill>
                <a:srgbClr val="595959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0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/>
      <p:bldP spid="5" grpId="1"/>
      <p:bldP spid="33" grpId="0"/>
      <p:bldP spid="33" grpId="1"/>
      <p:bldP spid="35" grpId="0"/>
      <p:bldP spid="35" grpId="1"/>
      <p:bldP spid="37" grpId="0"/>
      <p:bldP spid="37" grpId="1"/>
      <p:bldP spid="39" grpId="0"/>
      <p:bldP spid="39" grpId="1"/>
      <p:bldP spid="41" grpId="0"/>
      <p:bldP spid="41" grpId="1"/>
      <p:bldP spid="43" grpId="0"/>
      <p:bldP spid="43" grpId="1"/>
      <p:bldP spid="42" grpId="0"/>
      <p:bldP spid="42" grpId="1"/>
      <p:bldP spid="40" grpId="0"/>
      <p:bldP spid="40" grpId="1"/>
      <p:bldP spid="38" grpId="0"/>
      <p:bldP spid="38" grpId="1"/>
      <p:bldP spid="36" grpId="0"/>
      <p:bldP spid="36" grpId="1"/>
      <p:bldP spid="34" grpId="0"/>
      <p:bldP spid="34" grpId="1"/>
      <p:bldP spid="32" grpId="0"/>
      <p:bldP spid="32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1:00-d2tarl5nfo2stf9djj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7:31:00-d2tarl5nfo2stf9djj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7:31:00-d2tarl5nfo2stf9djjv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7:30:59-d2tarktnfo2stf9djjs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3989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F2F7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660717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zh-CN" altLang="en-US" sz="4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物理层的</a:t>
            </a:r>
            <a:r>
              <a:rPr lang="zh-CN" altLang="en-US" sz="4400" b="1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基本概念</a:t>
            </a:r>
            <a:endParaRPr lang="en-US" sz="4400" dirty="0">
              <a:solidFill>
                <a:srgbClr val="0D0D0D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Text 4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5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Text 6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7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5" name="Text 8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9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1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4000" y="213995"/>
            <a:ext cx="11912600" cy="1320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zh-CN" alt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物理层的基本概念</a:t>
            </a:r>
            <a:endParaRPr lang="en-US" sz="4800" b="1" dirty="0">
              <a:solidFill>
                <a:srgbClr val="4A90E2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254000" y="1317625"/>
            <a:ext cx="11798300" cy="11512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zh-CN" altLang="en-US" dirty="0"/>
              <a:t>物理层是</a:t>
            </a:r>
            <a:r>
              <a:rPr lang="en-US" altLang="zh-CN" dirty="0"/>
              <a:t>OSI</a:t>
            </a:r>
            <a:r>
              <a:rPr lang="zh-CN" altLang="en-US" dirty="0"/>
              <a:t>模型中的最底层，负责在物理介质上传输原始的比特流（</a:t>
            </a:r>
            <a:r>
              <a:rPr lang="en-US" altLang="zh-CN" dirty="0"/>
              <a:t>0</a:t>
            </a:r>
            <a:r>
              <a:rPr lang="zh-CN" altLang="en-US" dirty="0"/>
              <a:t>和</a:t>
            </a:r>
            <a:r>
              <a:rPr lang="en-US" altLang="zh-CN" dirty="0"/>
              <a:t>1</a:t>
            </a:r>
            <a:r>
              <a:rPr lang="zh-CN" altLang="en-US" dirty="0"/>
              <a:t>）。它不关心数据的内容或格式，只关注</a:t>
            </a:r>
            <a:r>
              <a:rPr lang="en-US" altLang="zh-CN" dirty="0"/>
              <a:t>“</a:t>
            </a:r>
            <a:r>
              <a:rPr lang="zh-CN" altLang="en-US" dirty="0"/>
              <a:t>如何把比特从一个地方传到另一个地方</a:t>
            </a:r>
            <a:r>
              <a:rPr lang="en-US" altLang="zh-CN" dirty="0"/>
              <a:t>”</a:t>
            </a:r>
            <a:r>
              <a:rPr lang="zh-CN" altLang="en-US" dirty="0"/>
              <a:t>的物理问题。物理层通过定义接口的机械、电气、功能和规程特性，为上层（数据链路层）提供一个可靠的比特流传输服务，屏蔽掉底层传输介质和设备的差异</a:t>
            </a:r>
            <a:endParaRPr lang="zh-CN" altLang="en-US" dirty="0"/>
          </a:p>
        </p:txBody>
      </p:sp>
      <p:sp>
        <p:nvSpPr>
          <p:cNvPr id="5" name="Shape 1"/>
          <p:cNvSpPr/>
          <p:nvPr/>
        </p:nvSpPr>
        <p:spPr>
          <a:xfrm>
            <a:off x="254000" y="4165600"/>
            <a:ext cx="1879600" cy="914400"/>
          </a:xfrm>
          <a:custGeom>
            <a:avLst/>
            <a:gdLst/>
            <a:ahLst/>
            <a:cxnLst/>
            <a:rect l="l" t="t" r="r" b="b"/>
            <a:pathLst>
              <a:path w="1879600" h="914400">
                <a:moveTo>
                  <a:pt x="101599" y="0"/>
                </a:moveTo>
                <a:lnTo>
                  <a:pt x="1778001" y="0"/>
                </a:lnTo>
                <a:cubicBezTo>
                  <a:pt x="1834113" y="0"/>
                  <a:pt x="1879600" y="45487"/>
                  <a:pt x="1879600" y="101599"/>
                </a:cubicBezTo>
                <a:lnTo>
                  <a:pt x="1879600" y="812801"/>
                </a:lnTo>
                <a:cubicBezTo>
                  <a:pt x="1879600" y="868913"/>
                  <a:pt x="1834113" y="914400"/>
                  <a:pt x="17780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4A90E2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Text 2"/>
          <p:cNvSpPr/>
          <p:nvPr/>
        </p:nvSpPr>
        <p:spPr>
          <a:xfrm>
            <a:off x="254000" y="4165600"/>
            <a:ext cx="1880235" cy="924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28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四大特性</a:t>
            </a:r>
            <a:endParaRPr lang="zh-CN" altLang="en-US" sz="2800" b="1" dirty="0">
              <a:solidFill>
                <a:srgbClr val="FFFFFF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7" name="Shape 1"/>
          <p:cNvSpPr/>
          <p:nvPr>
            <p:custDataLst>
              <p:tags r:id="rId2"/>
            </p:custDataLst>
          </p:nvPr>
        </p:nvSpPr>
        <p:spPr>
          <a:xfrm>
            <a:off x="2367915" y="2722245"/>
            <a:ext cx="9387205" cy="838200"/>
          </a:xfrm>
          <a:custGeom>
            <a:avLst/>
            <a:gdLst/>
            <a:ahLst/>
            <a:cxnLst/>
            <a:rect l="l" t="t" r="r" b="b"/>
            <a:pathLst>
              <a:path w="11684000" h="1066800">
                <a:moveTo>
                  <a:pt x="101602" y="0"/>
                </a:moveTo>
                <a:lnTo>
                  <a:pt x="11582398" y="0"/>
                </a:lnTo>
                <a:cubicBezTo>
                  <a:pt x="11638511" y="0"/>
                  <a:pt x="11684000" y="45489"/>
                  <a:pt x="11684000" y="101602"/>
                </a:cubicBezTo>
                <a:lnTo>
                  <a:pt x="11684000" y="1066800"/>
                </a:lnTo>
                <a:lnTo>
                  <a:pt x="0" y="1066800"/>
                </a:ln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ADD8E6">
              <a:alpha val="80000"/>
            </a:srgbClr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Shape 1"/>
          <p:cNvSpPr/>
          <p:nvPr>
            <p:custDataLst>
              <p:tags r:id="rId3"/>
            </p:custDataLst>
          </p:nvPr>
        </p:nvSpPr>
        <p:spPr>
          <a:xfrm>
            <a:off x="2367915" y="4747895"/>
            <a:ext cx="9387205" cy="838200"/>
          </a:xfrm>
          <a:custGeom>
            <a:avLst/>
            <a:gdLst/>
            <a:ahLst/>
            <a:cxnLst/>
            <a:rect l="l" t="t" r="r" b="b"/>
            <a:pathLst>
              <a:path w="11684000" h="1066800">
                <a:moveTo>
                  <a:pt x="101602" y="0"/>
                </a:moveTo>
                <a:lnTo>
                  <a:pt x="11582398" y="0"/>
                </a:lnTo>
                <a:cubicBezTo>
                  <a:pt x="11638511" y="0"/>
                  <a:pt x="11684000" y="45489"/>
                  <a:pt x="11684000" y="101602"/>
                </a:cubicBezTo>
                <a:lnTo>
                  <a:pt x="11684000" y="1066800"/>
                </a:lnTo>
                <a:lnTo>
                  <a:pt x="0" y="1066800"/>
                </a:ln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ADD8E6">
              <a:alpha val="80000"/>
            </a:srgbClr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0" name="Shape 1"/>
          <p:cNvSpPr/>
          <p:nvPr>
            <p:custDataLst>
              <p:tags r:id="rId4"/>
            </p:custDataLst>
          </p:nvPr>
        </p:nvSpPr>
        <p:spPr>
          <a:xfrm>
            <a:off x="2367915" y="3712845"/>
            <a:ext cx="9387205" cy="838200"/>
          </a:xfrm>
          <a:custGeom>
            <a:avLst/>
            <a:gdLst/>
            <a:ahLst/>
            <a:cxnLst/>
            <a:rect l="l" t="t" r="r" b="b"/>
            <a:pathLst>
              <a:path w="11684000" h="1066800">
                <a:moveTo>
                  <a:pt x="101602" y="0"/>
                </a:moveTo>
                <a:lnTo>
                  <a:pt x="11582398" y="0"/>
                </a:lnTo>
                <a:cubicBezTo>
                  <a:pt x="11638511" y="0"/>
                  <a:pt x="11684000" y="45489"/>
                  <a:pt x="11684000" y="101602"/>
                </a:cubicBezTo>
                <a:lnTo>
                  <a:pt x="11684000" y="1066800"/>
                </a:lnTo>
                <a:lnTo>
                  <a:pt x="0" y="1066800"/>
                </a:ln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ADD8E6">
              <a:alpha val="80000"/>
            </a:srgbClr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1"/>
          <p:cNvSpPr/>
          <p:nvPr>
            <p:custDataLst>
              <p:tags r:id="rId5"/>
            </p:custDataLst>
          </p:nvPr>
        </p:nvSpPr>
        <p:spPr>
          <a:xfrm>
            <a:off x="2367915" y="5782945"/>
            <a:ext cx="9387205" cy="838200"/>
          </a:xfrm>
          <a:custGeom>
            <a:avLst/>
            <a:gdLst/>
            <a:ahLst/>
            <a:cxnLst/>
            <a:rect l="l" t="t" r="r" b="b"/>
            <a:pathLst>
              <a:path w="11684000" h="1066800">
                <a:moveTo>
                  <a:pt x="101602" y="0"/>
                </a:moveTo>
                <a:lnTo>
                  <a:pt x="11582398" y="0"/>
                </a:lnTo>
                <a:cubicBezTo>
                  <a:pt x="11638511" y="0"/>
                  <a:pt x="11684000" y="45489"/>
                  <a:pt x="11684000" y="101602"/>
                </a:cubicBezTo>
                <a:lnTo>
                  <a:pt x="11684000" y="1066800"/>
                </a:lnTo>
                <a:lnTo>
                  <a:pt x="0" y="1066800"/>
                </a:ln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ADD8E6">
              <a:alpha val="80000"/>
            </a:srgbClr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4" name="Text 11"/>
          <p:cNvSpPr/>
          <p:nvPr>
            <p:custDataLst>
              <p:tags r:id="rId6"/>
            </p:custDataLst>
          </p:nvPr>
        </p:nvSpPr>
        <p:spPr>
          <a:xfrm>
            <a:off x="2578735" y="2719705"/>
            <a:ext cx="2395855" cy="8521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zh-CN" altLang="en-US" sz="24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机械特性</a:t>
            </a:r>
            <a:endParaRPr lang="en-US" sz="1600" dirty="0"/>
          </a:p>
        </p:txBody>
      </p:sp>
      <p:sp>
        <p:nvSpPr>
          <p:cNvPr id="12" name="Text 11"/>
          <p:cNvSpPr/>
          <p:nvPr>
            <p:custDataLst>
              <p:tags r:id="rId7"/>
            </p:custDataLst>
          </p:nvPr>
        </p:nvSpPr>
        <p:spPr>
          <a:xfrm>
            <a:off x="2578735" y="3709670"/>
            <a:ext cx="2035175" cy="8413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zh-CN" altLang="en-US" sz="24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电气特性</a:t>
            </a:r>
            <a:endParaRPr lang="en-US" sz="1600" dirty="0"/>
          </a:p>
        </p:txBody>
      </p:sp>
      <p:sp>
        <p:nvSpPr>
          <p:cNvPr id="13" name="Text 11"/>
          <p:cNvSpPr/>
          <p:nvPr>
            <p:custDataLst>
              <p:tags r:id="rId8"/>
            </p:custDataLst>
          </p:nvPr>
        </p:nvSpPr>
        <p:spPr>
          <a:xfrm>
            <a:off x="2579370" y="4741545"/>
            <a:ext cx="1826260" cy="8401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zh-CN" altLang="en-US" sz="24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功能特性</a:t>
            </a:r>
            <a:endParaRPr lang="en-US" sz="1600" dirty="0"/>
          </a:p>
        </p:txBody>
      </p:sp>
      <p:sp>
        <p:nvSpPr>
          <p:cNvPr id="15" name="Text 11"/>
          <p:cNvSpPr/>
          <p:nvPr>
            <p:custDataLst>
              <p:tags r:id="rId9"/>
            </p:custDataLst>
          </p:nvPr>
        </p:nvSpPr>
        <p:spPr>
          <a:xfrm>
            <a:off x="2578735" y="5783580"/>
            <a:ext cx="2141220" cy="8267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zh-CN" altLang="en-US" sz="24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过程特性</a:t>
            </a:r>
            <a:endParaRPr lang="en-US" sz="1600" dirty="0"/>
          </a:p>
        </p:txBody>
      </p:sp>
      <p:sp>
        <p:nvSpPr>
          <p:cNvPr id="16" name="Text 2"/>
          <p:cNvSpPr/>
          <p:nvPr>
            <p:custDataLst>
              <p:tags r:id="rId10"/>
            </p:custDataLst>
          </p:nvPr>
        </p:nvSpPr>
        <p:spPr>
          <a:xfrm>
            <a:off x="4019550" y="2723515"/>
            <a:ext cx="7562850" cy="8578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pitchFamily="34" charset="-120"/>
              </a:rPr>
              <a:t>指明接口所用接线器的形状和尺寸、引脚数目和排列、固定和锁定装置等。</a:t>
            </a:r>
            <a:endParaRPr lang="zh-CN" altLang="en-US" b="1" dirty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pitchFamily="34" charset="-120"/>
            </a:endParaRPr>
          </a:p>
        </p:txBody>
      </p:sp>
      <p:sp>
        <p:nvSpPr>
          <p:cNvPr id="17" name="Text 2"/>
          <p:cNvSpPr/>
          <p:nvPr>
            <p:custDataLst>
              <p:tags r:id="rId11"/>
            </p:custDataLst>
          </p:nvPr>
        </p:nvSpPr>
        <p:spPr>
          <a:xfrm>
            <a:off x="4026535" y="3662680"/>
            <a:ext cx="7682865" cy="8877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指明在接口电缆的各条线上出现的电压的范围。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 2"/>
          <p:cNvSpPr/>
          <p:nvPr>
            <p:custDataLst>
              <p:tags r:id="rId12"/>
            </p:custDataLst>
          </p:nvPr>
        </p:nvSpPr>
        <p:spPr>
          <a:xfrm>
            <a:off x="3989705" y="4737735"/>
            <a:ext cx="7719695" cy="8489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指明某条线上出现的某一电平的电压的意义。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 2"/>
          <p:cNvSpPr/>
          <p:nvPr>
            <p:custDataLst>
              <p:tags r:id="rId13"/>
            </p:custDataLst>
          </p:nvPr>
        </p:nvSpPr>
        <p:spPr>
          <a:xfrm>
            <a:off x="4040505" y="5744210"/>
            <a:ext cx="7668895" cy="8978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指明对于不同功能的各种可能事件的出现顺序。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6" grpId="0"/>
      <p:bldP spid="6" grpId="1"/>
      <p:bldP spid="14" grpId="0"/>
      <p:bldP spid="14" grpId="1"/>
      <p:bldP spid="12" grpId="0"/>
      <p:bldP spid="12" grpId="1"/>
      <p:bldP spid="13" grpId="0"/>
      <p:bldP spid="13" grpId="1"/>
      <p:bldP spid="15" grpId="0"/>
      <p:bldP spid="15" grpId="1"/>
      <p:bldP spid="16" grpId="0"/>
      <p:bldP spid="16" grpId="1"/>
      <p:bldP spid="17" grpId="0"/>
      <p:bldP spid="17" grpId="1"/>
      <p:bldP spid="18" grpId="0"/>
      <p:bldP spid="18" grpId="1"/>
      <p:bldP spid="19" grpId="0"/>
      <p:bldP spid="19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4000" y="264160"/>
            <a:ext cx="11912600" cy="1615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数据通信系统骨架</a:t>
            </a:r>
            <a:endParaRPr lang="en-US" sz="4800" b="1" dirty="0">
              <a:solidFill>
                <a:srgbClr val="4A90E2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254000" y="1473200"/>
            <a:ext cx="11798300" cy="863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任何物理层技术，都服务于这个最小闭环</a:t>
            </a:r>
            <a:endParaRPr lang="en-US" sz="2400" dirty="0"/>
          </a:p>
        </p:txBody>
      </p:sp>
      <p:sp>
        <p:nvSpPr>
          <p:cNvPr id="5" name="Shape 2"/>
          <p:cNvSpPr/>
          <p:nvPr>
            <p:custDataLst>
              <p:tags r:id="rId2"/>
            </p:custDataLst>
          </p:nvPr>
        </p:nvSpPr>
        <p:spPr>
          <a:xfrm>
            <a:off x="1104900" y="27432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ADD8E6"/>
          </a:solidFill>
        </p:spPr>
      </p:sp>
      <p:sp>
        <p:nvSpPr>
          <p:cNvPr id="6" name="Shape 3"/>
          <p:cNvSpPr/>
          <p:nvPr>
            <p:custDataLst>
              <p:tags r:id="rId3"/>
            </p:custDataLst>
          </p:nvPr>
        </p:nvSpPr>
        <p:spPr>
          <a:xfrm>
            <a:off x="1514475" y="31242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57150" y="28575"/>
                </a:moveTo>
                <a:cubicBezTo>
                  <a:pt x="25628" y="28575"/>
                  <a:pt x="0" y="54203"/>
                  <a:pt x="0" y="85725"/>
                </a:cubicBezTo>
                <a:lnTo>
                  <a:pt x="0" y="142875"/>
                </a:lnTo>
                <a:cubicBezTo>
                  <a:pt x="0" y="174397"/>
                  <a:pt x="25628" y="200025"/>
                  <a:pt x="57150" y="200025"/>
                </a:cubicBezTo>
                <a:lnTo>
                  <a:pt x="342900" y="200025"/>
                </a:lnTo>
                <a:cubicBezTo>
                  <a:pt x="374422" y="200025"/>
                  <a:pt x="400050" y="174397"/>
                  <a:pt x="400050" y="142875"/>
                </a:cubicBezTo>
                <a:lnTo>
                  <a:pt x="400050" y="85725"/>
                </a:lnTo>
                <a:cubicBezTo>
                  <a:pt x="400050" y="54203"/>
                  <a:pt x="374422" y="28575"/>
                  <a:pt x="342900" y="28575"/>
                </a:cubicBezTo>
                <a:lnTo>
                  <a:pt x="57150" y="28575"/>
                </a:lnTo>
                <a:close/>
                <a:moveTo>
                  <a:pt x="250031" y="92869"/>
                </a:moveTo>
                <a:cubicBezTo>
                  <a:pt x="261859" y="92869"/>
                  <a:pt x="271463" y="102472"/>
                  <a:pt x="271463" y="114300"/>
                </a:cubicBezTo>
                <a:cubicBezTo>
                  <a:pt x="271463" y="126128"/>
                  <a:pt x="261859" y="135731"/>
                  <a:pt x="250031" y="135731"/>
                </a:cubicBezTo>
                <a:cubicBezTo>
                  <a:pt x="238203" y="135731"/>
                  <a:pt x="228600" y="126128"/>
                  <a:pt x="228600" y="114300"/>
                </a:cubicBezTo>
                <a:cubicBezTo>
                  <a:pt x="228600" y="102472"/>
                  <a:pt x="238203" y="92869"/>
                  <a:pt x="250031" y="92869"/>
                </a:cubicBezTo>
                <a:close/>
                <a:moveTo>
                  <a:pt x="300038" y="114300"/>
                </a:moveTo>
                <a:cubicBezTo>
                  <a:pt x="300038" y="102472"/>
                  <a:pt x="309641" y="92869"/>
                  <a:pt x="321469" y="92869"/>
                </a:cubicBezTo>
                <a:cubicBezTo>
                  <a:pt x="333297" y="92869"/>
                  <a:pt x="342900" y="102472"/>
                  <a:pt x="342900" y="114300"/>
                </a:cubicBezTo>
                <a:cubicBezTo>
                  <a:pt x="342900" y="126128"/>
                  <a:pt x="333297" y="135731"/>
                  <a:pt x="321469" y="135731"/>
                </a:cubicBezTo>
                <a:cubicBezTo>
                  <a:pt x="309641" y="135731"/>
                  <a:pt x="300038" y="126128"/>
                  <a:pt x="300038" y="114300"/>
                </a:cubicBezTo>
                <a:close/>
                <a:moveTo>
                  <a:pt x="57150" y="257175"/>
                </a:moveTo>
                <a:cubicBezTo>
                  <a:pt x="25628" y="257175"/>
                  <a:pt x="0" y="282803"/>
                  <a:pt x="0" y="314325"/>
                </a:cubicBezTo>
                <a:lnTo>
                  <a:pt x="0" y="371475"/>
                </a:lnTo>
                <a:cubicBezTo>
                  <a:pt x="0" y="402997"/>
                  <a:pt x="25628" y="428625"/>
                  <a:pt x="57150" y="428625"/>
                </a:cubicBezTo>
                <a:lnTo>
                  <a:pt x="342900" y="428625"/>
                </a:lnTo>
                <a:cubicBezTo>
                  <a:pt x="374422" y="428625"/>
                  <a:pt x="400050" y="402997"/>
                  <a:pt x="400050" y="371475"/>
                </a:cubicBezTo>
                <a:lnTo>
                  <a:pt x="400050" y="314325"/>
                </a:lnTo>
                <a:cubicBezTo>
                  <a:pt x="400050" y="282803"/>
                  <a:pt x="374422" y="257175"/>
                  <a:pt x="342900" y="257175"/>
                </a:cubicBezTo>
                <a:lnTo>
                  <a:pt x="57150" y="257175"/>
                </a:lnTo>
                <a:close/>
                <a:moveTo>
                  <a:pt x="250031" y="321469"/>
                </a:moveTo>
                <a:cubicBezTo>
                  <a:pt x="261859" y="321469"/>
                  <a:pt x="271463" y="331072"/>
                  <a:pt x="271463" y="342900"/>
                </a:cubicBezTo>
                <a:cubicBezTo>
                  <a:pt x="271463" y="354728"/>
                  <a:pt x="261859" y="364331"/>
                  <a:pt x="250031" y="364331"/>
                </a:cubicBezTo>
                <a:cubicBezTo>
                  <a:pt x="238203" y="364331"/>
                  <a:pt x="228600" y="354728"/>
                  <a:pt x="228600" y="342900"/>
                </a:cubicBezTo>
                <a:cubicBezTo>
                  <a:pt x="228600" y="331072"/>
                  <a:pt x="238203" y="321469"/>
                  <a:pt x="250031" y="321469"/>
                </a:cubicBezTo>
                <a:close/>
                <a:moveTo>
                  <a:pt x="300038" y="342900"/>
                </a:moveTo>
                <a:cubicBezTo>
                  <a:pt x="300038" y="331072"/>
                  <a:pt x="309641" y="321469"/>
                  <a:pt x="321469" y="321469"/>
                </a:cubicBezTo>
                <a:cubicBezTo>
                  <a:pt x="333297" y="321469"/>
                  <a:pt x="342900" y="331072"/>
                  <a:pt x="342900" y="342900"/>
                </a:cubicBezTo>
                <a:cubicBezTo>
                  <a:pt x="342900" y="354728"/>
                  <a:pt x="333297" y="364331"/>
                  <a:pt x="321469" y="364331"/>
                </a:cubicBezTo>
                <a:cubicBezTo>
                  <a:pt x="309641" y="364331"/>
                  <a:pt x="300038" y="354728"/>
                  <a:pt x="300038" y="342900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7" name="Text 4"/>
          <p:cNvSpPr/>
          <p:nvPr>
            <p:custDataLst>
              <p:tags r:id="rId4"/>
            </p:custDataLst>
          </p:nvPr>
        </p:nvSpPr>
        <p:spPr>
          <a:xfrm>
            <a:off x="1082675" y="4114800"/>
            <a:ext cx="119253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源系统</a:t>
            </a:r>
            <a:endParaRPr lang="en-US" sz="2400" b="1" dirty="0">
              <a:solidFill>
                <a:srgbClr val="4A90E2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8" name="Text 5"/>
          <p:cNvSpPr/>
          <p:nvPr>
            <p:custDataLst>
              <p:tags r:id="rId5"/>
            </p:custDataLst>
          </p:nvPr>
        </p:nvSpPr>
        <p:spPr>
          <a:xfrm>
            <a:off x="781050" y="4521200"/>
            <a:ext cx="1866900" cy="7410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生成并发送数据比特流</a:t>
            </a:r>
            <a:endParaRPr lang="en-US" sz="2000" dirty="0"/>
          </a:p>
        </p:txBody>
      </p:sp>
      <p:sp>
        <p:nvSpPr>
          <p:cNvPr id="9" name="Shape 6"/>
          <p:cNvSpPr/>
          <p:nvPr>
            <p:custDataLst>
              <p:tags r:id="rId6"/>
            </p:custDataLst>
          </p:nvPr>
        </p:nvSpPr>
        <p:spPr>
          <a:xfrm>
            <a:off x="3378200" y="3733800"/>
            <a:ext cx="1054100" cy="50800"/>
          </a:xfrm>
          <a:custGeom>
            <a:avLst/>
            <a:gdLst/>
            <a:ahLst/>
            <a:cxnLst/>
            <a:rect l="l" t="t" r="r" b="b"/>
            <a:pathLst>
              <a:path w="1054100" h="50800">
                <a:moveTo>
                  <a:pt x="0" y="0"/>
                </a:moveTo>
                <a:lnTo>
                  <a:pt x="1054100" y="0"/>
                </a:lnTo>
                <a:lnTo>
                  <a:pt x="10541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ADD8E6"/>
          </a:solidFill>
        </p:spPr>
      </p:sp>
      <p:sp>
        <p:nvSpPr>
          <p:cNvPr id="10" name="Shape 7"/>
          <p:cNvSpPr/>
          <p:nvPr>
            <p:custDataLst>
              <p:tags r:id="rId7"/>
            </p:custDataLst>
          </p:nvPr>
        </p:nvSpPr>
        <p:spPr>
          <a:xfrm>
            <a:off x="5486400" y="27432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ADD8E6"/>
          </a:solidFill>
        </p:spPr>
      </p:sp>
      <p:sp>
        <p:nvSpPr>
          <p:cNvPr id="11" name="Shape 8"/>
          <p:cNvSpPr/>
          <p:nvPr>
            <p:custDataLst>
              <p:tags r:id="rId8"/>
            </p:custDataLst>
          </p:nvPr>
        </p:nvSpPr>
        <p:spPr>
          <a:xfrm>
            <a:off x="5838825" y="31242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21456" y="78581"/>
                </a:moveTo>
                <a:lnTo>
                  <a:pt x="292894" y="78581"/>
                </a:lnTo>
                <a:lnTo>
                  <a:pt x="292894" y="121444"/>
                </a:lnTo>
                <a:lnTo>
                  <a:pt x="221456" y="121444"/>
                </a:lnTo>
                <a:lnTo>
                  <a:pt x="221456" y="78581"/>
                </a:lnTo>
                <a:close/>
                <a:moveTo>
                  <a:pt x="214313" y="28575"/>
                </a:moveTo>
                <a:cubicBezTo>
                  <a:pt x="190649" y="28575"/>
                  <a:pt x="171450" y="47774"/>
                  <a:pt x="171450" y="71438"/>
                </a:cubicBezTo>
                <a:lnTo>
                  <a:pt x="171450" y="128588"/>
                </a:lnTo>
                <a:cubicBezTo>
                  <a:pt x="171450" y="152251"/>
                  <a:pt x="190649" y="171450"/>
                  <a:pt x="214313" y="171450"/>
                </a:cubicBezTo>
                <a:lnTo>
                  <a:pt x="228600" y="171450"/>
                </a:lnTo>
                <a:lnTo>
                  <a:pt x="228600" y="200025"/>
                </a:lnTo>
                <a:lnTo>
                  <a:pt x="28575" y="200025"/>
                </a:lnTo>
                <a:cubicBezTo>
                  <a:pt x="12769" y="200025"/>
                  <a:pt x="0" y="212794"/>
                  <a:pt x="0" y="228600"/>
                </a:cubicBezTo>
                <a:cubicBezTo>
                  <a:pt x="0" y="244406"/>
                  <a:pt x="12769" y="257175"/>
                  <a:pt x="28575" y="257175"/>
                </a:cubicBezTo>
                <a:lnTo>
                  <a:pt x="114300" y="257175"/>
                </a:lnTo>
                <a:lnTo>
                  <a:pt x="114300" y="285750"/>
                </a:lnTo>
                <a:lnTo>
                  <a:pt x="100013" y="285750"/>
                </a:lnTo>
                <a:cubicBezTo>
                  <a:pt x="76349" y="285750"/>
                  <a:pt x="57150" y="304949"/>
                  <a:pt x="57150" y="328613"/>
                </a:cubicBezTo>
                <a:lnTo>
                  <a:pt x="57150" y="385763"/>
                </a:lnTo>
                <a:cubicBezTo>
                  <a:pt x="57150" y="409426"/>
                  <a:pt x="76349" y="428625"/>
                  <a:pt x="100013" y="428625"/>
                </a:cubicBezTo>
                <a:lnTo>
                  <a:pt x="185738" y="428625"/>
                </a:lnTo>
                <a:cubicBezTo>
                  <a:pt x="209401" y="428625"/>
                  <a:pt x="228600" y="409426"/>
                  <a:pt x="228600" y="385763"/>
                </a:cubicBezTo>
                <a:lnTo>
                  <a:pt x="228600" y="328613"/>
                </a:lnTo>
                <a:cubicBezTo>
                  <a:pt x="228600" y="304949"/>
                  <a:pt x="209401" y="285750"/>
                  <a:pt x="185738" y="285750"/>
                </a:cubicBezTo>
                <a:lnTo>
                  <a:pt x="171450" y="285750"/>
                </a:lnTo>
                <a:lnTo>
                  <a:pt x="171450" y="257175"/>
                </a:lnTo>
                <a:lnTo>
                  <a:pt x="342900" y="257175"/>
                </a:lnTo>
                <a:lnTo>
                  <a:pt x="342900" y="285750"/>
                </a:lnTo>
                <a:lnTo>
                  <a:pt x="328613" y="285750"/>
                </a:lnTo>
                <a:cubicBezTo>
                  <a:pt x="304949" y="285750"/>
                  <a:pt x="285750" y="304949"/>
                  <a:pt x="285750" y="328613"/>
                </a:cubicBezTo>
                <a:lnTo>
                  <a:pt x="285750" y="385763"/>
                </a:lnTo>
                <a:cubicBezTo>
                  <a:pt x="285750" y="409426"/>
                  <a:pt x="304949" y="428625"/>
                  <a:pt x="328613" y="428625"/>
                </a:cubicBezTo>
                <a:lnTo>
                  <a:pt x="414338" y="428625"/>
                </a:lnTo>
                <a:cubicBezTo>
                  <a:pt x="438001" y="428625"/>
                  <a:pt x="457200" y="409426"/>
                  <a:pt x="457200" y="385763"/>
                </a:cubicBezTo>
                <a:lnTo>
                  <a:pt x="457200" y="328613"/>
                </a:lnTo>
                <a:cubicBezTo>
                  <a:pt x="457200" y="304949"/>
                  <a:pt x="438001" y="285750"/>
                  <a:pt x="414338" y="285750"/>
                </a:cubicBezTo>
                <a:lnTo>
                  <a:pt x="400050" y="285750"/>
                </a:lnTo>
                <a:lnTo>
                  <a:pt x="400050" y="257175"/>
                </a:lnTo>
                <a:lnTo>
                  <a:pt x="485775" y="257175"/>
                </a:lnTo>
                <a:cubicBezTo>
                  <a:pt x="501581" y="257175"/>
                  <a:pt x="514350" y="244406"/>
                  <a:pt x="514350" y="228600"/>
                </a:cubicBezTo>
                <a:cubicBezTo>
                  <a:pt x="514350" y="212794"/>
                  <a:pt x="501581" y="200025"/>
                  <a:pt x="485775" y="200025"/>
                </a:cubicBezTo>
                <a:lnTo>
                  <a:pt x="285750" y="200025"/>
                </a:lnTo>
                <a:lnTo>
                  <a:pt x="285750" y="171450"/>
                </a:lnTo>
                <a:lnTo>
                  <a:pt x="300038" y="171450"/>
                </a:lnTo>
                <a:cubicBezTo>
                  <a:pt x="323701" y="171450"/>
                  <a:pt x="342900" y="152251"/>
                  <a:pt x="342900" y="128588"/>
                </a:cubicBezTo>
                <a:lnTo>
                  <a:pt x="342900" y="71438"/>
                </a:lnTo>
                <a:cubicBezTo>
                  <a:pt x="342900" y="47774"/>
                  <a:pt x="323701" y="28575"/>
                  <a:pt x="300038" y="28575"/>
                </a:cubicBezTo>
                <a:lnTo>
                  <a:pt x="214313" y="28575"/>
                </a:lnTo>
                <a:close/>
                <a:moveTo>
                  <a:pt x="400050" y="335756"/>
                </a:moveTo>
                <a:lnTo>
                  <a:pt x="407194" y="335756"/>
                </a:lnTo>
                <a:lnTo>
                  <a:pt x="407194" y="378619"/>
                </a:lnTo>
                <a:lnTo>
                  <a:pt x="335756" y="378619"/>
                </a:lnTo>
                <a:lnTo>
                  <a:pt x="335756" y="335756"/>
                </a:lnTo>
                <a:lnTo>
                  <a:pt x="400050" y="335756"/>
                </a:lnTo>
                <a:close/>
                <a:moveTo>
                  <a:pt x="171450" y="335756"/>
                </a:moveTo>
                <a:lnTo>
                  <a:pt x="178594" y="335756"/>
                </a:lnTo>
                <a:lnTo>
                  <a:pt x="178594" y="378619"/>
                </a:lnTo>
                <a:lnTo>
                  <a:pt x="107156" y="378619"/>
                </a:lnTo>
                <a:lnTo>
                  <a:pt x="107156" y="335756"/>
                </a:lnTo>
                <a:lnTo>
                  <a:pt x="171450" y="335756"/>
                </a:lnTo>
                <a:close/>
              </a:path>
            </a:pathLst>
          </a:custGeom>
          <a:solidFill>
            <a:srgbClr val="4A90E2"/>
          </a:solidFill>
        </p:spPr>
      </p:sp>
      <p:sp>
        <p:nvSpPr>
          <p:cNvPr id="12" name="Text 9"/>
          <p:cNvSpPr/>
          <p:nvPr>
            <p:custDataLst>
              <p:tags r:id="rId9"/>
            </p:custDataLst>
          </p:nvPr>
        </p:nvSpPr>
        <p:spPr>
          <a:xfrm>
            <a:off x="5483860" y="4114800"/>
            <a:ext cx="1241425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传输系统</a:t>
            </a:r>
            <a:endParaRPr lang="en-US" sz="2400" b="1" dirty="0">
              <a:solidFill>
                <a:srgbClr val="4A90E2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3" name="Text 10"/>
          <p:cNvSpPr/>
          <p:nvPr>
            <p:custDataLst>
              <p:tags r:id="rId10"/>
            </p:custDataLst>
          </p:nvPr>
        </p:nvSpPr>
        <p:spPr>
          <a:xfrm>
            <a:off x="5340350" y="4521200"/>
            <a:ext cx="1516380" cy="7410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提供物理传输路径</a:t>
            </a:r>
            <a:endParaRPr lang="en-US" sz="2000" dirty="0"/>
          </a:p>
        </p:txBody>
      </p:sp>
      <p:sp>
        <p:nvSpPr>
          <p:cNvPr id="14" name="Shape 11"/>
          <p:cNvSpPr/>
          <p:nvPr>
            <p:custDataLst>
              <p:tags r:id="rId11"/>
            </p:custDataLst>
          </p:nvPr>
        </p:nvSpPr>
        <p:spPr>
          <a:xfrm>
            <a:off x="7759700" y="3733800"/>
            <a:ext cx="1054100" cy="50800"/>
          </a:xfrm>
          <a:custGeom>
            <a:avLst/>
            <a:gdLst/>
            <a:ahLst/>
            <a:cxnLst/>
            <a:rect l="l" t="t" r="r" b="b"/>
            <a:pathLst>
              <a:path w="1054100" h="50800">
                <a:moveTo>
                  <a:pt x="0" y="0"/>
                </a:moveTo>
                <a:lnTo>
                  <a:pt x="1054100" y="0"/>
                </a:lnTo>
                <a:lnTo>
                  <a:pt x="10541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ADD8E6"/>
          </a:solidFill>
        </p:spPr>
      </p:sp>
      <p:sp>
        <p:nvSpPr>
          <p:cNvPr id="15" name="Shape 12"/>
          <p:cNvSpPr/>
          <p:nvPr>
            <p:custDataLst>
              <p:tags r:id="rId12"/>
            </p:custDataLst>
          </p:nvPr>
        </p:nvSpPr>
        <p:spPr>
          <a:xfrm>
            <a:off x="9867900" y="27432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ADD8E6"/>
          </a:solidFill>
        </p:spPr>
      </p:sp>
      <p:sp>
        <p:nvSpPr>
          <p:cNvPr id="16" name="Shape 13"/>
          <p:cNvSpPr/>
          <p:nvPr>
            <p:custDataLst>
              <p:tags r:id="rId13"/>
            </p:custDataLst>
          </p:nvPr>
        </p:nvSpPr>
        <p:spPr>
          <a:xfrm>
            <a:off x="10248900" y="3124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28575"/>
                </a:moveTo>
                <a:cubicBezTo>
                  <a:pt x="25628" y="28575"/>
                  <a:pt x="0" y="54203"/>
                  <a:pt x="0" y="85725"/>
                </a:cubicBezTo>
                <a:lnTo>
                  <a:pt x="0" y="314325"/>
                </a:lnTo>
                <a:cubicBezTo>
                  <a:pt x="0" y="345847"/>
                  <a:pt x="25628" y="371475"/>
                  <a:pt x="57150" y="371475"/>
                </a:cubicBezTo>
                <a:lnTo>
                  <a:pt x="185738" y="371475"/>
                </a:lnTo>
                <a:lnTo>
                  <a:pt x="171450" y="414338"/>
                </a:lnTo>
                <a:lnTo>
                  <a:pt x="107156" y="414338"/>
                </a:lnTo>
                <a:cubicBezTo>
                  <a:pt x="95280" y="414338"/>
                  <a:pt x="85725" y="423892"/>
                  <a:pt x="85725" y="435769"/>
                </a:cubicBezTo>
                <a:cubicBezTo>
                  <a:pt x="85725" y="447645"/>
                  <a:pt x="95280" y="457200"/>
                  <a:pt x="107156" y="457200"/>
                </a:cubicBezTo>
                <a:lnTo>
                  <a:pt x="350044" y="457200"/>
                </a:lnTo>
                <a:cubicBezTo>
                  <a:pt x="361920" y="457200"/>
                  <a:pt x="371475" y="447645"/>
                  <a:pt x="371475" y="435769"/>
                </a:cubicBezTo>
                <a:cubicBezTo>
                  <a:pt x="371475" y="423892"/>
                  <a:pt x="361920" y="414338"/>
                  <a:pt x="350044" y="414338"/>
                </a:cubicBezTo>
                <a:lnTo>
                  <a:pt x="285750" y="414338"/>
                </a:lnTo>
                <a:lnTo>
                  <a:pt x="271463" y="371475"/>
                </a:lnTo>
                <a:lnTo>
                  <a:pt x="400050" y="371475"/>
                </a:lnTo>
                <a:cubicBezTo>
                  <a:pt x="431572" y="371475"/>
                  <a:pt x="457200" y="345847"/>
                  <a:pt x="457200" y="314325"/>
                </a:cubicBezTo>
                <a:lnTo>
                  <a:pt x="457200" y="85725"/>
                </a:lnTo>
                <a:cubicBezTo>
                  <a:pt x="457200" y="54203"/>
                  <a:pt x="431572" y="28575"/>
                  <a:pt x="400050" y="28575"/>
                </a:cubicBezTo>
                <a:lnTo>
                  <a:pt x="57150" y="28575"/>
                </a:lnTo>
                <a:close/>
                <a:moveTo>
                  <a:pt x="85725" y="85725"/>
                </a:moveTo>
                <a:lnTo>
                  <a:pt x="371475" y="85725"/>
                </a:lnTo>
                <a:cubicBezTo>
                  <a:pt x="387281" y="85725"/>
                  <a:pt x="400050" y="98494"/>
                  <a:pt x="400050" y="114300"/>
                </a:cubicBezTo>
                <a:lnTo>
                  <a:pt x="400050" y="257175"/>
                </a:lnTo>
                <a:cubicBezTo>
                  <a:pt x="400050" y="272981"/>
                  <a:pt x="387281" y="285750"/>
                  <a:pt x="371475" y="285750"/>
                </a:cubicBezTo>
                <a:lnTo>
                  <a:pt x="85725" y="285750"/>
                </a:lnTo>
                <a:cubicBezTo>
                  <a:pt x="69919" y="285750"/>
                  <a:pt x="57150" y="272981"/>
                  <a:pt x="57150" y="257175"/>
                </a:cubicBezTo>
                <a:lnTo>
                  <a:pt x="57150" y="114300"/>
                </a:lnTo>
                <a:cubicBezTo>
                  <a:pt x="57150" y="98494"/>
                  <a:pt x="69919" y="85725"/>
                  <a:pt x="85725" y="85725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17" name="Text 14"/>
          <p:cNvSpPr/>
          <p:nvPr>
            <p:custDataLst>
              <p:tags r:id="rId14"/>
            </p:custDataLst>
          </p:nvPr>
        </p:nvSpPr>
        <p:spPr>
          <a:xfrm>
            <a:off x="9810750" y="4114800"/>
            <a:ext cx="1333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目的系统</a:t>
            </a:r>
            <a:endParaRPr lang="en-US" sz="2400" b="1" dirty="0">
              <a:solidFill>
                <a:srgbClr val="4A90E2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8" name="Text 15"/>
          <p:cNvSpPr/>
          <p:nvPr>
            <p:custDataLst>
              <p:tags r:id="rId15"/>
            </p:custDataLst>
          </p:nvPr>
        </p:nvSpPr>
        <p:spPr>
          <a:xfrm>
            <a:off x="9696450" y="4521200"/>
            <a:ext cx="1604645" cy="8134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接收并处理数据</a:t>
            </a:r>
            <a:endParaRPr lang="en-US" sz="2000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203200" y="5334635"/>
            <a:ext cx="11785600" cy="1218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三者协作，完成比特流从生成、传输到送达的</a:t>
            </a:r>
            <a:r>
              <a:rPr lang="en-US" sz="2400" dirty="0">
                <a:solidFill>
                  <a:srgbClr val="4A90E2"/>
                </a:solidFill>
                <a:highlight>
                  <a:srgbClr val="ADD8E6">
                    <a:alpha val="100000"/>
                  </a:srgbClr>
                </a:highligh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纵向旅程 </a:t>
            </a: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，缺一不可。</a:t>
            </a:r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8" grpId="0"/>
      <p:bldP spid="8" grpId="1"/>
      <p:bldP spid="12" grpId="0"/>
      <p:bldP spid="12" grpId="1"/>
      <p:bldP spid="17" grpId="0"/>
      <p:bldP spid="17" grpId="1"/>
      <p:bldP spid="13" grpId="0"/>
      <p:bldP spid="13" grpId="1"/>
      <p:bldP spid="18" grpId="0"/>
      <p:bldP spid="18" grpId="1"/>
      <p:bldP spid="19" grpId="0"/>
      <p:bldP spid="19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9700" y="66675"/>
            <a:ext cx="11912600" cy="1685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信息交互的三种时空秩序</a:t>
            </a:r>
            <a:endParaRPr lang="en-US" sz="4800" b="1" dirty="0">
              <a:solidFill>
                <a:srgbClr val="4A90E2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4" name="Shape 1"/>
          <p:cNvSpPr/>
          <p:nvPr>
            <p:custDataLst>
              <p:tags r:id="rId2"/>
            </p:custDataLst>
          </p:nvPr>
        </p:nvSpPr>
        <p:spPr>
          <a:xfrm>
            <a:off x="254000" y="2159000"/>
            <a:ext cx="3695700" cy="2743200"/>
          </a:xfrm>
          <a:custGeom>
            <a:avLst/>
            <a:gdLst/>
            <a:ahLst/>
            <a:cxnLst/>
            <a:rect l="l" t="t" r="r" b="b"/>
            <a:pathLst>
              <a:path w="3695700" h="2743200">
                <a:moveTo>
                  <a:pt x="101608" y="0"/>
                </a:moveTo>
                <a:lnTo>
                  <a:pt x="3594092" y="0"/>
                </a:lnTo>
                <a:cubicBezTo>
                  <a:pt x="3650208" y="0"/>
                  <a:pt x="3695700" y="45492"/>
                  <a:pt x="3695700" y="101608"/>
                </a:cubicBezTo>
                <a:lnTo>
                  <a:pt x="3695700" y="2641592"/>
                </a:lnTo>
                <a:cubicBezTo>
                  <a:pt x="3695700" y="2697708"/>
                  <a:pt x="3650208" y="2743200"/>
                  <a:pt x="3594092" y="2743200"/>
                </a:cubicBezTo>
                <a:lnTo>
                  <a:pt x="101608" y="2743200"/>
                </a:lnTo>
                <a:cubicBezTo>
                  <a:pt x="45492" y="2743200"/>
                  <a:pt x="0" y="2697708"/>
                  <a:pt x="0" y="2641592"/>
                </a:cubicBezTo>
                <a:lnTo>
                  <a:pt x="0" y="101608"/>
                </a:lnTo>
                <a:cubicBezTo>
                  <a:pt x="0" y="45529"/>
                  <a:pt x="45529" y="0"/>
                  <a:pt x="101608" y="0"/>
                </a:cubicBezTo>
                <a:close/>
              </a:path>
            </a:pathLst>
          </a:custGeom>
          <a:solidFill>
            <a:srgbClr val="ADD8E6">
              <a:alpha val="30196"/>
            </a:srgbClr>
          </a:solidFill>
        </p:spPr>
      </p:sp>
      <p:sp>
        <p:nvSpPr>
          <p:cNvPr id="5" name="Shape 2"/>
          <p:cNvSpPr/>
          <p:nvPr>
            <p:custDataLst>
              <p:tags r:id="rId3"/>
            </p:custDataLst>
          </p:nvPr>
        </p:nvSpPr>
        <p:spPr>
          <a:xfrm>
            <a:off x="1591667" y="23622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4A90E2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3"/>
          <p:cNvSpPr/>
          <p:nvPr>
            <p:custDataLst>
              <p:tags r:id="rId4"/>
            </p:custDataLst>
          </p:nvPr>
        </p:nvSpPr>
        <p:spPr>
          <a:xfrm>
            <a:off x="1842492" y="26416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78492" y="10269"/>
                </a:moveTo>
                <a:cubicBezTo>
                  <a:pt x="68401" y="4108"/>
                  <a:pt x="55185" y="7412"/>
                  <a:pt x="49024" y="17502"/>
                </a:cubicBezTo>
                <a:cubicBezTo>
                  <a:pt x="26878" y="54114"/>
                  <a:pt x="14198" y="97066"/>
                  <a:pt x="14198" y="142875"/>
                </a:cubicBezTo>
                <a:cubicBezTo>
                  <a:pt x="14198" y="188684"/>
                  <a:pt x="26878" y="231636"/>
                  <a:pt x="49024" y="268248"/>
                </a:cubicBezTo>
                <a:cubicBezTo>
                  <a:pt x="55185" y="278338"/>
                  <a:pt x="68312" y="281642"/>
                  <a:pt x="78492" y="275481"/>
                </a:cubicBezTo>
                <a:cubicBezTo>
                  <a:pt x="88672" y="269319"/>
                  <a:pt x="91886" y="256193"/>
                  <a:pt x="85725" y="246013"/>
                </a:cubicBezTo>
                <a:cubicBezTo>
                  <a:pt x="67598" y="216009"/>
                  <a:pt x="57150" y="180648"/>
                  <a:pt x="57150" y="142875"/>
                </a:cubicBezTo>
                <a:cubicBezTo>
                  <a:pt x="57150" y="105102"/>
                  <a:pt x="67598" y="69741"/>
                  <a:pt x="85814" y="39648"/>
                </a:cubicBezTo>
                <a:cubicBezTo>
                  <a:pt x="91976" y="29557"/>
                  <a:pt x="88672" y="16341"/>
                  <a:pt x="78581" y="10180"/>
                </a:cubicBezTo>
                <a:close/>
                <a:moveTo>
                  <a:pt x="435769" y="10269"/>
                </a:moveTo>
                <a:cubicBezTo>
                  <a:pt x="425678" y="16431"/>
                  <a:pt x="422374" y="29557"/>
                  <a:pt x="428536" y="39737"/>
                </a:cubicBezTo>
                <a:cubicBezTo>
                  <a:pt x="446752" y="69830"/>
                  <a:pt x="457200" y="105192"/>
                  <a:pt x="457200" y="142964"/>
                </a:cubicBezTo>
                <a:cubicBezTo>
                  <a:pt x="457200" y="180737"/>
                  <a:pt x="446752" y="216098"/>
                  <a:pt x="428536" y="246191"/>
                </a:cubicBezTo>
                <a:cubicBezTo>
                  <a:pt x="422374" y="256282"/>
                  <a:pt x="425678" y="269498"/>
                  <a:pt x="435769" y="275659"/>
                </a:cubicBezTo>
                <a:cubicBezTo>
                  <a:pt x="445859" y="281821"/>
                  <a:pt x="459075" y="278517"/>
                  <a:pt x="465237" y="268426"/>
                </a:cubicBezTo>
                <a:cubicBezTo>
                  <a:pt x="487382" y="231815"/>
                  <a:pt x="500063" y="188863"/>
                  <a:pt x="500063" y="143054"/>
                </a:cubicBezTo>
                <a:cubicBezTo>
                  <a:pt x="500063" y="97244"/>
                  <a:pt x="487382" y="54114"/>
                  <a:pt x="465237" y="17502"/>
                </a:cubicBezTo>
                <a:cubicBezTo>
                  <a:pt x="459075" y="7412"/>
                  <a:pt x="445949" y="4108"/>
                  <a:pt x="435769" y="10269"/>
                </a:cubicBezTo>
                <a:close/>
                <a:moveTo>
                  <a:pt x="285750" y="192345"/>
                </a:moveTo>
                <a:cubicBezTo>
                  <a:pt x="302806" y="182434"/>
                  <a:pt x="314325" y="164038"/>
                  <a:pt x="314325" y="142875"/>
                </a:cubicBezTo>
                <a:cubicBezTo>
                  <a:pt x="314325" y="111353"/>
                  <a:pt x="288697" y="85725"/>
                  <a:pt x="257175" y="85725"/>
                </a:cubicBezTo>
                <a:cubicBezTo>
                  <a:pt x="225653" y="85725"/>
                  <a:pt x="200025" y="111353"/>
                  <a:pt x="200025" y="142875"/>
                </a:cubicBezTo>
                <a:cubicBezTo>
                  <a:pt x="200025" y="164038"/>
                  <a:pt x="211544" y="182523"/>
                  <a:pt x="228600" y="192345"/>
                </a:cubicBezTo>
                <a:lnTo>
                  <a:pt x="228600" y="428625"/>
                </a:lnTo>
                <a:cubicBezTo>
                  <a:pt x="228600" y="444431"/>
                  <a:pt x="241369" y="457200"/>
                  <a:pt x="257175" y="457200"/>
                </a:cubicBezTo>
                <a:cubicBezTo>
                  <a:pt x="272981" y="457200"/>
                  <a:pt x="285750" y="444431"/>
                  <a:pt x="285750" y="428625"/>
                </a:cubicBezTo>
                <a:lnTo>
                  <a:pt x="285750" y="192345"/>
                </a:lnTo>
                <a:close/>
                <a:moveTo>
                  <a:pt x="160913" y="81260"/>
                </a:moveTo>
                <a:cubicBezTo>
                  <a:pt x="167342" y="71259"/>
                  <a:pt x="164396" y="58043"/>
                  <a:pt x="154484" y="51614"/>
                </a:cubicBezTo>
                <a:cubicBezTo>
                  <a:pt x="144572" y="45184"/>
                  <a:pt x="131266" y="48131"/>
                  <a:pt x="124837" y="58043"/>
                </a:cubicBezTo>
                <a:cubicBezTo>
                  <a:pt x="109121" y="82510"/>
                  <a:pt x="100013" y="111621"/>
                  <a:pt x="100013" y="142875"/>
                </a:cubicBezTo>
                <a:cubicBezTo>
                  <a:pt x="100013" y="174129"/>
                  <a:pt x="109121" y="203240"/>
                  <a:pt x="124837" y="227707"/>
                </a:cubicBezTo>
                <a:cubicBezTo>
                  <a:pt x="131266" y="237708"/>
                  <a:pt x="144482" y="240566"/>
                  <a:pt x="154484" y="234136"/>
                </a:cubicBezTo>
                <a:cubicBezTo>
                  <a:pt x="164485" y="227707"/>
                  <a:pt x="167342" y="214491"/>
                  <a:pt x="160913" y="204490"/>
                </a:cubicBezTo>
                <a:cubicBezTo>
                  <a:pt x="149483" y="186720"/>
                  <a:pt x="142875" y="165556"/>
                  <a:pt x="142875" y="142875"/>
                </a:cubicBezTo>
                <a:cubicBezTo>
                  <a:pt x="142875" y="120194"/>
                  <a:pt x="149483" y="99030"/>
                  <a:pt x="160913" y="81260"/>
                </a:cubicBezTo>
                <a:close/>
                <a:moveTo>
                  <a:pt x="389513" y="58043"/>
                </a:moveTo>
                <a:cubicBezTo>
                  <a:pt x="383084" y="48042"/>
                  <a:pt x="369868" y="45184"/>
                  <a:pt x="359866" y="51614"/>
                </a:cubicBezTo>
                <a:cubicBezTo>
                  <a:pt x="349865" y="58043"/>
                  <a:pt x="347008" y="71259"/>
                  <a:pt x="353437" y="81260"/>
                </a:cubicBezTo>
                <a:cubicBezTo>
                  <a:pt x="364867" y="99030"/>
                  <a:pt x="371475" y="120194"/>
                  <a:pt x="371475" y="142875"/>
                </a:cubicBezTo>
                <a:cubicBezTo>
                  <a:pt x="371475" y="165556"/>
                  <a:pt x="364867" y="186720"/>
                  <a:pt x="353437" y="204490"/>
                </a:cubicBezTo>
                <a:cubicBezTo>
                  <a:pt x="347008" y="214491"/>
                  <a:pt x="349954" y="227707"/>
                  <a:pt x="359866" y="234136"/>
                </a:cubicBezTo>
                <a:cubicBezTo>
                  <a:pt x="369778" y="240566"/>
                  <a:pt x="383084" y="237619"/>
                  <a:pt x="389513" y="227707"/>
                </a:cubicBezTo>
                <a:cubicBezTo>
                  <a:pt x="405229" y="203240"/>
                  <a:pt x="414338" y="174129"/>
                  <a:pt x="414338" y="142875"/>
                </a:cubicBezTo>
                <a:cubicBezTo>
                  <a:pt x="414338" y="111621"/>
                  <a:pt x="405229" y="82510"/>
                  <a:pt x="389513" y="58043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7" name="Text 4"/>
          <p:cNvSpPr/>
          <p:nvPr>
            <p:custDataLst>
              <p:tags r:id="rId5"/>
            </p:custDataLst>
          </p:nvPr>
        </p:nvSpPr>
        <p:spPr>
          <a:xfrm>
            <a:off x="1718667" y="3581400"/>
            <a:ext cx="7620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单工</a:t>
            </a:r>
            <a:endParaRPr lang="en-US" sz="1600" dirty="0"/>
          </a:p>
        </p:txBody>
      </p:sp>
      <p:sp>
        <p:nvSpPr>
          <p:cNvPr id="8" name="Text 5"/>
          <p:cNvSpPr/>
          <p:nvPr>
            <p:custDataLst>
              <p:tags r:id="rId6"/>
            </p:custDataLst>
          </p:nvPr>
        </p:nvSpPr>
        <p:spPr>
          <a:xfrm>
            <a:off x="406400" y="4089400"/>
            <a:ext cx="3390900" cy="751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单向传输，如</a:t>
            </a: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广播</a:t>
            </a: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，一发多收，简单高效。</a:t>
            </a:r>
            <a:endParaRPr lang="en-US" sz="2000" dirty="0"/>
          </a:p>
        </p:txBody>
      </p:sp>
      <p:sp>
        <p:nvSpPr>
          <p:cNvPr id="9" name="Shape 6"/>
          <p:cNvSpPr/>
          <p:nvPr>
            <p:custDataLst>
              <p:tags r:id="rId7"/>
            </p:custDataLst>
          </p:nvPr>
        </p:nvSpPr>
        <p:spPr>
          <a:xfrm>
            <a:off x="4250333" y="1905000"/>
            <a:ext cx="3695700" cy="2946400"/>
          </a:xfrm>
          <a:custGeom>
            <a:avLst/>
            <a:gdLst/>
            <a:ahLst/>
            <a:cxnLst/>
            <a:rect l="l" t="t" r="r" b="b"/>
            <a:pathLst>
              <a:path w="3695700" h="2946400">
                <a:moveTo>
                  <a:pt x="101592" y="0"/>
                </a:moveTo>
                <a:lnTo>
                  <a:pt x="3594108" y="0"/>
                </a:lnTo>
                <a:cubicBezTo>
                  <a:pt x="3650216" y="0"/>
                  <a:pt x="3695700" y="45484"/>
                  <a:pt x="3695700" y="101592"/>
                </a:cubicBezTo>
                <a:lnTo>
                  <a:pt x="3695700" y="2844808"/>
                </a:lnTo>
                <a:cubicBezTo>
                  <a:pt x="3695700" y="2900916"/>
                  <a:pt x="3650216" y="2946400"/>
                  <a:pt x="3594108" y="2946400"/>
                </a:cubicBezTo>
                <a:lnTo>
                  <a:pt x="101592" y="2946400"/>
                </a:lnTo>
                <a:cubicBezTo>
                  <a:pt x="45484" y="2946400"/>
                  <a:pt x="0" y="2900916"/>
                  <a:pt x="0" y="2844808"/>
                </a:cubicBezTo>
                <a:lnTo>
                  <a:pt x="0" y="101592"/>
                </a:lnTo>
                <a:cubicBezTo>
                  <a:pt x="0" y="45522"/>
                  <a:pt x="45522" y="0"/>
                  <a:pt x="101592" y="0"/>
                </a:cubicBezTo>
                <a:close/>
              </a:path>
            </a:pathLst>
          </a:custGeom>
          <a:solidFill>
            <a:srgbClr val="ADD8E6">
              <a:alpha val="60000"/>
            </a:srgbClr>
          </a:solidFill>
        </p:spPr>
      </p:sp>
      <p:sp>
        <p:nvSpPr>
          <p:cNvPr id="10" name="Shape 7"/>
          <p:cNvSpPr/>
          <p:nvPr>
            <p:custDataLst>
              <p:tags r:id="rId8"/>
            </p:custDataLst>
          </p:nvPr>
        </p:nvSpPr>
        <p:spPr>
          <a:xfrm>
            <a:off x="5486400" y="21082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7484DF"/>
          </a:solidFill>
          <a:effectLst>
            <a:outerShdw blurRad="317500" dist="254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8"/>
          <p:cNvSpPr/>
          <p:nvPr>
            <p:custDataLst>
              <p:tags r:id="rId9"/>
            </p:custDataLst>
          </p:nvPr>
        </p:nvSpPr>
        <p:spPr>
          <a:xfrm>
            <a:off x="5867400" y="2413000"/>
            <a:ext cx="457200" cy="609600"/>
          </a:xfrm>
          <a:custGeom>
            <a:avLst/>
            <a:gdLst/>
            <a:ahLst/>
            <a:cxnLst/>
            <a:rect l="l" t="t" r="r" b="b"/>
            <a:pathLst>
              <a:path w="457200" h="609600">
                <a:moveTo>
                  <a:pt x="104775" y="-38100"/>
                </a:moveTo>
                <a:cubicBezTo>
                  <a:pt x="120610" y="-38100"/>
                  <a:pt x="133350" y="-25360"/>
                  <a:pt x="133350" y="-9525"/>
                </a:cubicBezTo>
                <a:lnTo>
                  <a:pt x="133350" y="76200"/>
                </a:lnTo>
                <a:lnTo>
                  <a:pt x="190500" y="76200"/>
                </a:lnTo>
                <a:cubicBezTo>
                  <a:pt x="190500" y="55126"/>
                  <a:pt x="207526" y="38100"/>
                  <a:pt x="228600" y="38100"/>
                </a:cubicBezTo>
                <a:cubicBezTo>
                  <a:pt x="249674" y="38100"/>
                  <a:pt x="266700" y="55126"/>
                  <a:pt x="266700" y="76200"/>
                </a:cubicBezTo>
                <a:lnTo>
                  <a:pt x="304800" y="76200"/>
                </a:lnTo>
                <a:cubicBezTo>
                  <a:pt x="304800" y="55126"/>
                  <a:pt x="321826" y="38100"/>
                  <a:pt x="342900" y="38100"/>
                </a:cubicBezTo>
                <a:cubicBezTo>
                  <a:pt x="363974" y="38100"/>
                  <a:pt x="381000" y="55126"/>
                  <a:pt x="381000" y="76200"/>
                </a:cubicBezTo>
                <a:lnTo>
                  <a:pt x="400050" y="76200"/>
                </a:lnTo>
                <a:cubicBezTo>
                  <a:pt x="431602" y="76200"/>
                  <a:pt x="457200" y="101798"/>
                  <a:pt x="457200" y="133350"/>
                </a:cubicBezTo>
                <a:lnTo>
                  <a:pt x="457200" y="324922"/>
                </a:lnTo>
                <a:cubicBezTo>
                  <a:pt x="457200" y="336709"/>
                  <a:pt x="454462" y="348377"/>
                  <a:pt x="449104" y="358973"/>
                </a:cubicBezTo>
                <a:lnTo>
                  <a:pt x="425053" y="407075"/>
                </a:lnTo>
                <a:cubicBezTo>
                  <a:pt x="421124" y="415052"/>
                  <a:pt x="418981" y="423743"/>
                  <a:pt x="418981" y="432673"/>
                </a:cubicBezTo>
                <a:lnTo>
                  <a:pt x="418981" y="533519"/>
                </a:lnTo>
                <a:cubicBezTo>
                  <a:pt x="418981" y="575548"/>
                  <a:pt x="384810" y="609719"/>
                  <a:pt x="342781" y="609719"/>
                </a:cubicBezTo>
                <a:lnTo>
                  <a:pt x="114300" y="609600"/>
                </a:lnTo>
                <a:cubicBezTo>
                  <a:pt x="72271" y="609600"/>
                  <a:pt x="38100" y="575429"/>
                  <a:pt x="38100" y="533400"/>
                </a:cubicBezTo>
                <a:lnTo>
                  <a:pt x="38100" y="432554"/>
                </a:lnTo>
                <a:cubicBezTo>
                  <a:pt x="38100" y="423624"/>
                  <a:pt x="36076" y="414933"/>
                  <a:pt x="32028" y="406956"/>
                </a:cubicBezTo>
                <a:lnTo>
                  <a:pt x="8096" y="358973"/>
                </a:lnTo>
                <a:cubicBezTo>
                  <a:pt x="2738" y="348377"/>
                  <a:pt x="0" y="336709"/>
                  <a:pt x="0" y="324922"/>
                </a:cubicBezTo>
                <a:lnTo>
                  <a:pt x="0" y="133350"/>
                </a:lnTo>
                <a:cubicBezTo>
                  <a:pt x="0" y="101798"/>
                  <a:pt x="25598" y="76200"/>
                  <a:pt x="57150" y="76200"/>
                </a:cubicBezTo>
                <a:lnTo>
                  <a:pt x="76200" y="76200"/>
                </a:lnTo>
                <a:lnTo>
                  <a:pt x="76200" y="-9525"/>
                </a:lnTo>
                <a:cubicBezTo>
                  <a:pt x="76200" y="-25360"/>
                  <a:pt x="88940" y="-38100"/>
                  <a:pt x="104775" y="-38100"/>
                </a:cubicBezTo>
                <a:close/>
                <a:moveTo>
                  <a:pt x="142875" y="171450"/>
                </a:moveTo>
                <a:cubicBezTo>
                  <a:pt x="127040" y="171450"/>
                  <a:pt x="114300" y="184190"/>
                  <a:pt x="114300" y="200025"/>
                </a:cubicBezTo>
                <a:cubicBezTo>
                  <a:pt x="114300" y="215860"/>
                  <a:pt x="127040" y="228600"/>
                  <a:pt x="142875" y="228600"/>
                </a:cubicBezTo>
                <a:lnTo>
                  <a:pt x="314325" y="228600"/>
                </a:lnTo>
                <a:cubicBezTo>
                  <a:pt x="330160" y="228600"/>
                  <a:pt x="342900" y="215860"/>
                  <a:pt x="342900" y="200025"/>
                </a:cubicBezTo>
                <a:cubicBezTo>
                  <a:pt x="342900" y="184190"/>
                  <a:pt x="330160" y="171450"/>
                  <a:pt x="314325" y="171450"/>
                </a:cubicBezTo>
                <a:lnTo>
                  <a:pt x="142875" y="171450"/>
                </a:lnTo>
                <a:close/>
                <a:moveTo>
                  <a:pt x="142875" y="285750"/>
                </a:moveTo>
                <a:cubicBezTo>
                  <a:pt x="127040" y="285750"/>
                  <a:pt x="114300" y="298490"/>
                  <a:pt x="114300" y="314325"/>
                </a:cubicBezTo>
                <a:cubicBezTo>
                  <a:pt x="114300" y="330160"/>
                  <a:pt x="127040" y="342900"/>
                  <a:pt x="142875" y="342900"/>
                </a:cubicBezTo>
                <a:lnTo>
                  <a:pt x="314325" y="342900"/>
                </a:lnTo>
                <a:cubicBezTo>
                  <a:pt x="330160" y="342900"/>
                  <a:pt x="342900" y="330160"/>
                  <a:pt x="342900" y="314325"/>
                </a:cubicBezTo>
                <a:cubicBezTo>
                  <a:pt x="342900" y="298490"/>
                  <a:pt x="330160" y="285750"/>
                  <a:pt x="314325" y="285750"/>
                </a:cubicBezTo>
                <a:lnTo>
                  <a:pt x="142875" y="28575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2" name="Text 9"/>
          <p:cNvSpPr/>
          <p:nvPr>
            <p:custDataLst>
              <p:tags r:id="rId10"/>
            </p:custDataLst>
          </p:nvPr>
        </p:nvSpPr>
        <p:spPr>
          <a:xfrm>
            <a:off x="5562600" y="3530600"/>
            <a:ext cx="10668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7484D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半双工</a:t>
            </a:r>
            <a:endParaRPr lang="en-US" sz="1600" dirty="0"/>
          </a:p>
        </p:txBody>
      </p:sp>
      <p:sp>
        <p:nvSpPr>
          <p:cNvPr id="13" name="Text 10"/>
          <p:cNvSpPr/>
          <p:nvPr>
            <p:custDataLst>
              <p:tags r:id="rId11"/>
            </p:custDataLst>
          </p:nvPr>
        </p:nvSpPr>
        <p:spPr>
          <a:xfrm>
            <a:off x="4402455" y="4038600"/>
            <a:ext cx="3390900" cy="802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双向交替，如</a:t>
            </a: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对讲机</a:t>
            </a: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，分时复用，节省资源。</a:t>
            </a:r>
            <a:endParaRPr lang="en-US" sz="2000" dirty="0"/>
          </a:p>
        </p:txBody>
      </p:sp>
      <p:sp>
        <p:nvSpPr>
          <p:cNvPr id="14" name="Shape 11"/>
          <p:cNvSpPr/>
          <p:nvPr>
            <p:custDataLst>
              <p:tags r:id="rId12"/>
            </p:custDataLst>
          </p:nvPr>
        </p:nvSpPr>
        <p:spPr>
          <a:xfrm>
            <a:off x="8246666" y="2159000"/>
            <a:ext cx="3695700" cy="2743200"/>
          </a:xfrm>
          <a:custGeom>
            <a:avLst/>
            <a:gdLst/>
            <a:ahLst/>
            <a:cxnLst/>
            <a:rect l="l" t="t" r="r" b="b"/>
            <a:pathLst>
              <a:path w="3695700" h="2743200">
                <a:moveTo>
                  <a:pt x="101608" y="0"/>
                </a:moveTo>
                <a:lnTo>
                  <a:pt x="3594092" y="0"/>
                </a:lnTo>
                <a:cubicBezTo>
                  <a:pt x="3650208" y="0"/>
                  <a:pt x="3695700" y="45492"/>
                  <a:pt x="3695700" y="101608"/>
                </a:cubicBezTo>
                <a:lnTo>
                  <a:pt x="3695700" y="2641592"/>
                </a:lnTo>
                <a:cubicBezTo>
                  <a:pt x="3695700" y="2697708"/>
                  <a:pt x="3650208" y="2743200"/>
                  <a:pt x="3594092" y="2743200"/>
                </a:cubicBezTo>
                <a:lnTo>
                  <a:pt x="101608" y="2743200"/>
                </a:lnTo>
                <a:cubicBezTo>
                  <a:pt x="45492" y="2743200"/>
                  <a:pt x="0" y="2697708"/>
                  <a:pt x="0" y="2641592"/>
                </a:cubicBezTo>
                <a:lnTo>
                  <a:pt x="0" y="101608"/>
                </a:lnTo>
                <a:cubicBezTo>
                  <a:pt x="0" y="45529"/>
                  <a:pt x="45529" y="0"/>
                  <a:pt x="101608" y="0"/>
                </a:cubicBezTo>
                <a:close/>
              </a:path>
            </a:pathLst>
          </a:custGeom>
          <a:solidFill>
            <a:srgbClr val="ADD8E6">
              <a:alpha val="30196"/>
            </a:srgbClr>
          </a:solidFill>
        </p:spPr>
      </p:sp>
      <p:sp>
        <p:nvSpPr>
          <p:cNvPr id="15" name="Shape 12"/>
          <p:cNvSpPr/>
          <p:nvPr>
            <p:custDataLst>
              <p:tags r:id="rId13"/>
            </p:custDataLst>
          </p:nvPr>
        </p:nvSpPr>
        <p:spPr>
          <a:xfrm>
            <a:off x="9584333" y="23622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4A90E2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Shape 13"/>
          <p:cNvSpPr/>
          <p:nvPr>
            <p:custDataLst>
              <p:tags r:id="rId14"/>
            </p:custDataLst>
          </p:nvPr>
        </p:nvSpPr>
        <p:spPr>
          <a:xfrm>
            <a:off x="9835158" y="26416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307181" y="-28575"/>
                </a:moveTo>
                <a:cubicBezTo>
                  <a:pt x="421571" y="-28575"/>
                  <a:pt x="514350" y="64204"/>
                  <a:pt x="514350" y="178594"/>
                </a:cubicBezTo>
                <a:cubicBezTo>
                  <a:pt x="514350" y="190470"/>
                  <a:pt x="504795" y="200025"/>
                  <a:pt x="492919" y="200025"/>
                </a:cubicBezTo>
                <a:cubicBezTo>
                  <a:pt x="481042" y="200025"/>
                  <a:pt x="471488" y="190470"/>
                  <a:pt x="471488" y="178594"/>
                </a:cubicBezTo>
                <a:cubicBezTo>
                  <a:pt x="471488" y="87868"/>
                  <a:pt x="397907" y="14288"/>
                  <a:pt x="307181" y="14288"/>
                </a:cubicBezTo>
                <a:cubicBezTo>
                  <a:pt x="295305" y="14288"/>
                  <a:pt x="285750" y="4733"/>
                  <a:pt x="285750" y="-7144"/>
                </a:cubicBezTo>
                <a:cubicBezTo>
                  <a:pt x="285750" y="-19020"/>
                  <a:pt x="295305" y="-28575"/>
                  <a:pt x="307181" y="-28575"/>
                </a:cubicBezTo>
                <a:close/>
                <a:moveTo>
                  <a:pt x="314325" y="142875"/>
                </a:moveTo>
                <a:cubicBezTo>
                  <a:pt x="330096" y="142875"/>
                  <a:pt x="342900" y="155679"/>
                  <a:pt x="342900" y="171450"/>
                </a:cubicBezTo>
                <a:cubicBezTo>
                  <a:pt x="342900" y="187221"/>
                  <a:pt x="330096" y="200025"/>
                  <a:pt x="314325" y="200025"/>
                </a:cubicBezTo>
                <a:cubicBezTo>
                  <a:pt x="298554" y="200025"/>
                  <a:pt x="285750" y="187221"/>
                  <a:pt x="285750" y="171450"/>
                </a:cubicBezTo>
                <a:cubicBezTo>
                  <a:pt x="285750" y="155679"/>
                  <a:pt x="298554" y="142875"/>
                  <a:pt x="314325" y="142875"/>
                </a:cubicBezTo>
                <a:close/>
                <a:moveTo>
                  <a:pt x="285750" y="78581"/>
                </a:moveTo>
                <a:cubicBezTo>
                  <a:pt x="285750" y="66705"/>
                  <a:pt x="295305" y="57150"/>
                  <a:pt x="307181" y="57150"/>
                </a:cubicBezTo>
                <a:cubicBezTo>
                  <a:pt x="374243" y="57150"/>
                  <a:pt x="428625" y="111532"/>
                  <a:pt x="428625" y="178594"/>
                </a:cubicBezTo>
                <a:cubicBezTo>
                  <a:pt x="428625" y="190470"/>
                  <a:pt x="419070" y="200025"/>
                  <a:pt x="407194" y="200025"/>
                </a:cubicBezTo>
                <a:cubicBezTo>
                  <a:pt x="395317" y="200025"/>
                  <a:pt x="385763" y="190470"/>
                  <a:pt x="385763" y="178594"/>
                </a:cubicBezTo>
                <a:cubicBezTo>
                  <a:pt x="385763" y="135195"/>
                  <a:pt x="350580" y="100013"/>
                  <a:pt x="307181" y="100013"/>
                </a:cubicBezTo>
                <a:cubicBezTo>
                  <a:pt x="295305" y="100013"/>
                  <a:pt x="285750" y="90458"/>
                  <a:pt x="285750" y="78581"/>
                </a:cubicBezTo>
                <a:close/>
                <a:moveTo>
                  <a:pt x="128677" y="1250"/>
                </a:moveTo>
                <a:cubicBezTo>
                  <a:pt x="146268" y="-3572"/>
                  <a:pt x="164663" y="5447"/>
                  <a:pt x="171629" y="22235"/>
                </a:cubicBezTo>
                <a:lnTo>
                  <a:pt x="207794" y="109121"/>
                </a:lnTo>
                <a:cubicBezTo>
                  <a:pt x="213955" y="123855"/>
                  <a:pt x="209669" y="140910"/>
                  <a:pt x="197257" y="151090"/>
                </a:cubicBezTo>
                <a:lnTo>
                  <a:pt x="157877" y="183326"/>
                </a:lnTo>
                <a:cubicBezTo>
                  <a:pt x="186898" y="247263"/>
                  <a:pt x="237351" y="299412"/>
                  <a:pt x="300127" y="330577"/>
                </a:cubicBezTo>
                <a:lnTo>
                  <a:pt x="334595" y="288429"/>
                </a:lnTo>
                <a:cubicBezTo>
                  <a:pt x="344686" y="276017"/>
                  <a:pt x="361742" y="271820"/>
                  <a:pt x="376565" y="277892"/>
                </a:cubicBezTo>
                <a:lnTo>
                  <a:pt x="463451" y="314146"/>
                </a:lnTo>
                <a:cubicBezTo>
                  <a:pt x="480239" y="321112"/>
                  <a:pt x="489258" y="339507"/>
                  <a:pt x="484436" y="357098"/>
                </a:cubicBezTo>
                <a:lnTo>
                  <a:pt x="483096" y="362010"/>
                </a:lnTo>
                <a:cubicBezTo>
                  <a:pt x="467380" y="419785"/>
                  <a:pt x="411569" y="469076"/>
                  <a:pt x="343436" y="454700"/>
                </a:cubicBezTo>
                <a:cubicBezTo>
                  <a:pt x="187166" y="421571"/>
                  <a:pt x="64204" y="298609"/>
                  <a:pt x="31075" y="142339"/>
                </a:cubicBezTo>
                <a:cubicBezTo>
                  <a:pt x="16699" y="74206"/>
                  <a:pt x="65990" y="18395"/>
                  <a:pt x="123676" y="2590"/>
                </a:cubicBezTo>
                <a:lnTo>
                  <a:pt x="128588" y="125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7" name="Text 14"/>
          <p:cNvSpPr/>
          <p:nvPr>
            <p:custDataLst>
              <p:tags r:id="rId15"/>
            </p:custDataLst>
          </p:nvPr>
        </p:nvSpPr>
        <p:spPr>
          <a:xfrm>
            <a:off x="9558933" y="3581400"/>
            <a:ext cx="10668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全双工</a:t>
            </a:r>
            <a:endParaRPr lang="en-US" sz="1600" dirty="0"/>
          </a:p>
        </p:txBody>
      </p:sp>
      <p:sp>
        <p:nvSpPr>
          <p:cNvPr id="18" name="Text 15"/>
          <p:cNvSpPr/>
          <p:nvPr>
            <p:custDataLst>
              <p:tags r:id="rId16"/>
            </p:custDataLst>
          </p:nvPr>
        </p:nvSpPr>
        <p:spPr>
          <a:xfrm>
            <a:off x="8399145" y="4089400"/>
            <a:ext cx="33909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双向同时，如</a:t>
            </a: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电话</a:t>
            </a: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，实时交互，效率最高。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203200" y="5308600"/>
            <a:ext cx="11785600" cy="1341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方向性决定</a:t>
            </a:r>
            <a:r>
              <a:rPr lang="en-US" sz="2400" dirty="0">
                <a:solidFill>
                  <a:srgbClr val="4A90E2"/>
                </a:solidFill>
                <a:highlight>
                  <a:srgbClr val="ADD8E6">
                    <a:alpha val="100000"/>
                  </a:srgbClr>
                </a:highligh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资源分配策略 </a:t>
            </a: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，全双工对信道资源诉求最高。</a:t>
            </a:r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7" grpId="0"/>
      <p:bldP spid="7" grpId="1"/>
      <p:bldP spid="12" grpId="0"/>
      <p:bldP spid="12" grpId="1"/>
      <p:bldP spid="17" grpId="0"/>
      <p:bldP spid="17" grpId="1"/>
      <p:bldP spid="8" grpId="0"/>
      <p:bldP spid="8" grpId="1"/>
      <p:bldP spid="13" grpId="0"/>
      <p:bldP spid="13" grpId="1"/>
      <p:bldP spid="18" grpId="0"/>
      <p:bldP spid="18" grpId="1"/>
      <p:bldP spid="19" grpId="0"/>
      <p:bldP spid="19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1:00-d2tarl5nfo2stf9djj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7:31:00-d2tarl5nfo2stf9djj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7:31:00-d2tarl5nfo2stf9djjv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7:30:59-d2tarktnfo2stf9djjs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3989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F2F7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660717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信号换装与极限速率</a:t>
            </a:r>
            <a:endParaRPr lang="en-US" sz="4400" dirty="0"/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Text 4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5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Text 6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7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5" name="Text 8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9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1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7" grpId="0"/>
      <p:bldP spid="7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9700" y="168275"/>
            <a:ext cx="11912600" cy="17875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把比特穿上电波外套：编码与调制</a:t>
            </a:r>
            <a:endParaRPr lang="en-US" sz="4800" b="1" dirty="0">
              <a:solidFill>
                <a:srgbClr val="4A90E2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4" name="Shape 1"/>
          <p:cNvSpPr/>
          <p:nvPr>
            <p:custDataLst>
              <p:tags r:id="rId2"/>
            </p:custDataLst>
          </p:nvPr>
        </p:nvSpPr>
        <p:spPr>
          <a:xfrm>
            <a:off x="254000" y="2362200"/>
            <a:ext cx="5638800" cy="3048000"/>
          </a:xfrm>
          <a:custGeom>
            <a:avLst/>
            <a:gdLst/>
            <a:ahLst/>
            <a:cxnLst/>
            <a:rect l="l" t="t" r="r" b="b"/>
            <a:pathLst>
              <a:path w="5638800" h="3048000">
                <a:moveTo>
                  <a:pt x="152400" y="0"/>
                </a:moveTo>
                <a:lnTo>
                  <a:pt x="5486400" y="0"/>
                </a:lnTo>
                <a:cubicBezTo>
                  <a:pt x="5570512" y="0"/>
                  <a:pt x="5638800" y="68288"/>
                  <a:pt x="5638800" y="152400"/>
                </a:cubicBezTo>
                <a:lnTo>
                  <a:pt x="5638800" y="2895600"/>
                </a:lnTo>
                <a:cubicBezTo>
                  <a:pt x="5638800" y="2979712"/>
                  <a:pt x="5570512" y="3048000"/>
                  <a:pt x="5486400" y="3048000"/>
                </a:cubicBezTo>
                <a:lnTo>
                  <a:pt x="152400" y="3048000"/>
                </a:lnTo>
                <a:cubicBezTo>
                  <a:pt x="68288" y="3048000"/>
                  <a:pt x="0" y="2979712"/>
                  <a:pt x="0" y="2895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ADD8E6">
              <a:alpha val="30196"/>
            </a:srgbClr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2"/>
          <p:cNvSpPr/>
          <p:nvPr>
            <p:custDataLst>
              <p:tags r:id="rId3"/>
            </p:custDataLst>
          </p:nvPr>
        </p:nvSpPr>
        <p:spPr>
          <a:xfrm>
            <a:off x="558800" y="2667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6" name="Shape 3"/>
          <p:cNvSpPr/>
          <p:nvPr>
            <p:custDataLst>
              <p:tags r:id="rId4"/>
            </p:custDataLst>
          </p:nvPr>
        </p:nvSpPr>
        <p:spPr>
          <a:xfrm>
            <a:off x="692150" y="28194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214789" y="714"/>
                </a:moveTo>
                <a:cubicBezTo>
                  <a:pt x="204668" y="-2203"/>
                  <a:pt x="194131" y="3691"/>
                  <a:pt x="191214" y="13811"/>
                </a:cubicBezTo>
                <a:lnTo>
                  <a:pt x="115014" y="280511"/>
                </a:lnTo>
                <a:cubicBezTo>
                  <a:pt x="112097" y="290632"/>
                  <a:pt x="117991" y="301169"/>
                  <a:pt x="128111" y="304086"/>
                </a:cubicBezTo>
                <a:cubicBezTo>
                  <a:pt x="138232" y="307003"/>
                  <a:pt x="148769" y="301109"/>
                  <a:pt x="151686" y="290989"/>
                </a:cubicBezTo>
                <a:lnTo>
                  <a:pt x="227886" y="24289"/>
                </a:lnTo>
                <a:cubicBezTo>
                  <a:pt x="230803" y="14168"/>
                  <a:pt x="224909" y="3631"/>
                  <a:pt x="214789" y="714"/>
                </a:cubicBezTo>
                <a:close/>
                <a:moveTo>
                  <a:pt x="253246" y="81736"/>
                </a:moveTo>
                <a:cubicBezTo>
                  <a:pt x="245805" y="89178"/>
                  <a:pt x="245805" y="101263"/>
                  <a:pt x="253246" y="108704"/>
                </a:cubicBezTo>
                <a:lnTo>
                  <a:pt x="296942" y="152400"/>
                </a:lnTo>
                <a:lnTo>
                  <a:pt x="253246" y="196096"/>
                </a:lnTo>
                <a:cubicBezTo>
                  <a:pt x="245805" y="203537"/>
                  <a:pt x="245805" y="215622"/>
                  <a:pt x="253246" y="223064"/>
                </a:cubicBezTo>
                <a:cubicBezTo>
                  <a:pt x="260687" y="230505"/>
                  <a:pt x="272772" y="230505"/>
                  <a:pt x="280214" y="223064"/>
                </a:cubicBezTo>
                <a:lnTo>
                  <a:pt x="337364" y="165914"/>
                </a:lnTo>
                <a:cubicBezTo>
                  <a:pt x="344805" y="158472"/>
                  <a:pt x="344805" y="146387"/>
                  <a:pt x="337364" y="138946"/>
                </a:cubicBezTo>
                <a:lnTo>
                  <a:pt x="280214" y="81796"/>
                </a:lnTo>
                <a:cubicBezTo>
                  <a:pt x="272772" y="74355"/>
                  <a:pt x="260687" y="74355"/>
                  <a:pt x="253246" y="81796"/>
                </a:cubicBezTo>
                <a:close/>
                <a:moveTo>
                  <a:pt x="89714" y="81736"/>
                </a:moveTo>
                <a:cubicBezTo>
                  <a:pt x="82272" y="74295"/>
                  <a:pt x="70187" y="74295"/>
                  <a:pt x="62746" y="81736"/>
                </a:cubicBezTo>
                <a:lnTo>
                  <a:pt x="5596" y="138886"/>
                </a:lnTo>
                <a:cubicBezTo>
                  <a:pt x="-1845" y="146328"/>
                  <a:pt x="-1845" y="158413"/>
                  <a:pt x="5596" y="165854"/>
                </a:cubicBezTo>
                <a:lnTo>
                  <a:pt x="62746" y="223004"/>
                </a:lnTo>
                <a:cubicBezTo>
                  <a:pt x="70187" y="230445"/>
                  <a:pt x="82272" y="230445"/>
                  <a:pt x="89714" y="223004"/>
                </a:cubicBezTo>
                <a:cubicBezTo>
                  <a:pt x="97155" y="215563"/>
                  <a:pt x="97155" y="203478"/>
                  <a:pt x="89714" y="196036"/>
                </a:cubicBezTo>
                <a:lnTo>
                  <a:pt x="46018" y="152400"/>
                </a:lnTo>
                <a:lnTo>
                  <a:pt x="89654" y="108704"/>
                </a:lnTo>
                <a:cubicBezTo>
                  <a:pt x="97095" y="101263"/>
                  <a:pt x="97095" y="89178"/>
                  <a:pt x="89654" y="81736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7" name="Text 4"/>
          <p:cNvSpPr/>
          <p:nvPr>
            <p:custDataLst>
              <p:tags r:id="rId5"/>
            </p:custDataLst>
          </p:nvPr>
        </p:nvSpPr>
        <p:spPr>
          <a:xfrm>
            <a:off x="1371600" y="2768600"/>
            <a:ext cx="21336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32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编码：守时</a:t>
            </a:r>
            <a:endParaRPr lang="en-US" sz="3200" b="1" dirty="0">
              <a:solidFill>
                <a:srgbClr val="4A90E2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8" name="Text 5"/>
          <p:cNvSpPr/>
          <p:nvPr>
            <p:custDataLst>
              <p:tags r:id="rId6"/>
            </p:custDataLst>
          </p:nvPr>
        </p:nvSpPr>
        <p:spPr>
          <a:xfrm>
            <a:off x="558800" y="3479800"/>
            <a:ext cx="5130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将数据转为数字信号，确保</a:t>
            </a: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时钟同步</a:t>
            </a: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与</a:t>
            </a: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抗干扰</a:t>
            </a: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。</a:t>
            </a:r>
            <a:endParaRPr lang="en-US" sz="2000" dirty="0"/>
          </a:p>
        </p:txBody>
      </p:sp>
      <p:sp>
        <p:nvSpPr>
          <p:cNvPr id="9" name="Text 6"/>
          <p:cNvSpPr/>
          <p:nvPr>
            <p:custDataLst>
              <p:tags r:id="rId7"/>
            </p:custDataLst>
          </p:nvPr>
        </p:nvSpPr>
        <p:spPr>
          <a:xfrm>
            <a:off x="558800" y="3977640"/>
            <a:ext cx="5130800" cy="13912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不归零编码:</a:t>
            </a: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简单，但同步困难。</a:t>
            </a:r>
            <a:endParaRPr lang="en-US" sz="2000" dirty="0"/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曼彻斯特编码:</a:t>
            </a: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自带时钟，但带宽翻倍。</a:t>
            </a:r>
            <a:endParaRPr lang="en-US" sz="2000" dirty="0"/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en-US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差分曼彻斯特编码:</a:t>
            </a: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抗干扰更强。</a:t>
            </a:r>
            <a:endParaRPr lang="en-US" dirty="0"/>
          </a:p>
        </p:txBody>
      </p:sp>
      <p:sp>
        <p:nvSpPr>
          <p:cNvPr id="10" name="Shape 7"/>
          <p:cNvSpPr/>
          <p:nvPr>
            <p:custDataLst>
              <p:tags r:id="rId8"/>
            </p:custDataLst>
          </p:nvPr>
        </p:nvSpPr>
        <p:spPr>
          <a:xfrm>
            <a:off x="6299200" y="2362200"/>
            <a:ext cx="5638800" cy="3048000"/>
          </a:xfrm>
          <a:custGeom>
            <a:avLst/>
            <a:gdLst/>
            <a:ahLst/>
            <a:cxnLst/>
            <a:rect l="l" t="t" r="r" b="b"/>
            <a:pathLst>
              <a:path w="5638800" h="3048000">
                <a:moveTo>
                  <a:pt x="152400" y="0"/>
                </a:moveTo>
                <a:lnTo>
                  <a:pt x="5486400" y="0"/>
                </a:lnTo>
                <a:cubicBezTo>
                  <a:pt x="5570512" y="0"/>
                  <a:pt x="5638800" y="68288"/>
                  <a:pt x="5638800" y="152400"/>
                </a:cubicBezTo>
                <a:lnTo>
                  <a:pt x="5638800" y="2895600"/>
                </a:lnTo>
                <a:cubicBezTo>
                  <a:pt x="5638800" y="2979712"/>
                  <a:pt x="5570512" y="3048000"/>
                  <a:pt x="5486400" y="3048000"/>
                </a:cubicBezTo>
                <a:lnTo>
                  <a:pt x="152400" y="3048000"/>
                </a:lnTo>
                <a:cubicBezTo>
                  <a:pt x="68288" y="3048000"/>
                  <a:pt x="0" y="2979712"/>
                  <a:pt x="0" y="2895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7484DF">
              <a:alpha val="30196"/>
            </a:srgbClr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8"/>
          <p:cNvSpPr/>
          <p:nvPr>
            <p:custDataLst>
              <p:tags r:id="rId9"/>
            </p:custDataLst>
          </p:nvPr>
        </p:nvSpPr>
        <p:spPr>
          <a:xfrm>
            <a:off x="6604000" y="2667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7484DF"/>
          </a:solidFill>
        </p:spPr>
      </p:sp>
      <p:sp>
        <p:nvSpPr>
          <p:cNvPr id="12" name="Shape 9"/>
          <p:cNvSpPr/>
          <p:nvPr>
            <p:custDataLst>
              <p:tags r:id="rId10"/>
            </p:custDataLst>
          </p:nvPr>
        </p:nvSpPr>
        <p:spPr>
          <a:xfrm>
            <a:off x="6756400" y="2819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57150"/>
                </a:moveTo>
                <a:cubicBezTo>
                  <a:pt x="38100" y="46613"/>
                  <a:pt x="46613" y="38100"/>
                  <a:pt x="57150" y="38100"/>
                </a:cubicBezTo>
                <a:lnTo>
                  <a:pt x="152400" y="38100"/>
                </a:lnTo>
                <a:cubicBezTo>
                  <a:pt x="162937" y="38100"/>
                  <a:pt x="171450" y="46613"/>
                  <a:pt x="171450" y="57150"/>
                </a:cubicBezTo>
                <a:lnTo>
                  <a:pt x="171450" y="228600"/>
                </a:lnTo>
                <a:lnTo>
                  <a:pt x="228600" y="228600"/>
                </a:lnTo>
                <a:lnTo>
                  <a:pt x="228600" y="152400"/>
                </a:lnTo>
                <a:cubicBezTo>
                  <a:pt x="228600" y="141863"/>
                  <a:pt x="237113" y="133350"/>
                  <a:pt x="247650" y="133350"/>
                </a:cubicBezTo>
                <a:lnTo>
                  <a:pt x="285750" y="133350"/>
                </a:lnTo>
                <a:cubicBezTo>
                  <a:pt x="296287" y="133350"/>
                  <a:pt x="304800" y="141863"/>
                  <a:pt x="304800" y="152400"/>
                </a:cubicBezTo>
                <a:cubicBezTo>
                  <a:pt x="304800" y="162937"/>
                  <a:pt x="296287" y="171450"/>
                  <a:pt x="285750" y="171450"/>
                </a:cubicBezTo>
                <a:lnTo>
                  <a:pt x="266700" y="171450"/>
                </a:lnTo>
                <a:lnTo>
                  <a:pt x="266700" y="247650"/>
                </a:lnTo>
                <a:cubicBezTo>
                  <a:pt x="266700" y="258187"/>
                  <a:pt x="258187" y="266700"/>
                  <a:pt x="247650" y="266700"/>
                </a:cubicBezTo>
                <a:lnTo>
                  <a:pt x="152400" y="266700"/>
                </a:lnTo>
                <a:cubicBezTo>
                  <a:pt x="141863" y="266700"/>
                  <a:pt x="133350" y="258187"/>
                  <a:pt x="133350" y="247650"/>
                </a:cubicBezTo>
                <a:lnTo>
                  <a:pt x="133350" y="76200"/>
                </a:lnTo>
                <a:lnTo>
                  <a:pt x="76200" y="76200"/>
                </a:lnTo>
                <a:lnTo>
                  <a:pt x="76200" y="152400"/>
                </a:lnTo>
                <a:cubicBezTo>
                  <a:pt x="76200" y="162937"/>
                  <a:pt x="67687" y="171450"/>
                  <a:pt x="57150" y="171450"/>
                </a:cubicBezTo>
                <a:lnTo>
                  <a:pt x="19050" y="171450"/>
                </a:lnTo>
                <a:cubicBezTo>
                  <a:pt x="8513" y="171450"/>
                  <a:pt x="0" y="162937"/>
                  <a:pt x="0" y="152400"/>
                </a:cubicBezTo>
                <a:cubicBezTo>
                  <a:pt x="0" y="141863"/>
                  <a:pt x="8513" y="133350"/>
                  <a:pt x="19050" y="133350"/>
                </a:cubicBezTo>
                <a:lnTo>
                  <a:pt x="38100" y="133350"/>
                </a:lnTo>
                <a:lnTo>
                  <a:pt x="38100" y="5715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3" name="Text 10"/>
          <p:cNvSpPr/>
          <p:nvPr>
            <p:custDataLst>
              <p:tags r:id="rId11"/>
            </p:custDataLst>
          </p:nvPr>
        </p:nvSpPr>
        <p:spPr>
          <a:xfrm>
            <a:off x="7416800" y="2768600"/>
            <a:ext cx="21336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3200" b="1" dirty="0">
                <a:solidFill>
                  <a:srgbClr val="7484D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调制：守宽</a:t>
            </a:r>
            <a:endParaRPr lang="en-US" sz="3200" b="1" dirty="0">
              <a:solidFill>
                <a:srgbClr val="7484DF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4" name="Text 11"/>
          <p:cNvSpPr/>
          <p:nvPr>
            <p:custDataLst>
              <p:tags r:id="rId12"/>
            </p:custDataLst>
          </p:nvPr>
        </p:nvSpPr>
        <p:spPr>
          <a:xfrm>
            <a:off x="6604000" y="3479800"/>
            <a:ext cx="5130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将数据加载到模拟载波上，提升</a:t>
            </a: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频谱利用率</a:t>
            </a: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。</a:t>
            </a:r>
            <a:endParaRPr lang="en-US" sz="2000" dirty="0"/>
          </a:p>
        </p:txBody>
      </p:sp>
      <p:sp>
        <p:nvSpPr>
          <p:cNvPr id="15" name="Text 12"/>
          <p:cNvSpPr/>
          <p:nvPr>
            <p:custDataLst>
              <p:tags r:id="rId13"/>
            </p:custDataLst>
          </p:nvPr>
        </p:nvSpPr>
        <p:spPr>
          <a:xfrm>
            <a:off x="6604000" y="3967480"/>
            <a:ext cx="5130800" cy="143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调幅(AM) / 调频(FM):</a:t>
            </a: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基础方式。</a:t>
            </a:r>
            <a:endParaRPr lang="en-US" sz="2000" dirty="0"/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调相(PM):</a:t>
            </a: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抗干扰能力优。</a:t>
            </a:r>
            <a:endParaRPr lang="en-US" sz="2000" dirty="0"/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正交幅度调制(QAM):</a:t>
            </a: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高效利用带宽。</a:t>
            </a: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7" grpId="0"/>
      <p:bldP spid="7" grpId="1"/>
      <p:bldP spid="13" grpId="0"/>
      <p:bldP spid="13" grpId="1"/>
      <p:bldP spid="8" grpId="0"/>
      <p:bldP spid="8" grpId="1"/>
      <p:bldP spid="14" grpId="0"/>
      <p:bldP spid="14" grpId="1"/>
      <p:bldP spid="9" grpId="0"/>
      <p:bldP spid="9" grpId="1"/>
      <p:bldP spid="15" grpId="0"/>
      <p:bldP spid="15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47115" y="24765"/>
            <a:ext cx="10511790" cy="13392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信道速率的双顶天花板</a:t>
            </a:r>
            <a:endParaRPr lang="en-US" sz="4800" b="1" dirty="0">
              <a:solidFill>
                <a:srgbClr val="4A90E2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1052195" y="1380490"/>
            <a:ext cx="1028065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理论极限：无论技术如何进步，都无法突破的物理定律。</a:t>
            </a:r>
            <a:endParaRPr lang="en-US" sz="2400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614759" y="2151261"/>
            <a:ext cx="4673600" cy="3314700"/>
          </a:xfrm>
          <a:custGeom>
            <a:avLst/>
            <a:gdLst/>
            <a:ahLst/>
            <a:cxnLst/>
            <a:rect l="l" t="t" r="r" b="b"/>
            <a:pathLst>
              <a:path w="4673600" h="3314700">
                <a:moveTo>
                  <a:pt x="101596" y="0"/>
                </a:moveTo>
                <a:lnTo>
                  <a:pt x="4572004" y="0"/>
                </a:lnTo>
                <a:cubicBezTo>
                  <a:pt x="4628114" y="0"/>
                  <a:pt x="4673600" y="45486"/>
                  <a:pt x="4673600" y="101596"/>
                </a:cubicBezTo>
                <a:lnTo>
                  <a:pt x="4673600" y="3213104"/>
                </a:lnTo>
                <a:cubicBezTo>
                  <a:pt x="4673600" y="3269214"/>
                  <a:pt x="4628114" y="3314700"/>
                  <a:pt x="4572004" y="3314700"/>
                </a:cubicBezTo>
                <a:lnTo>
                  <a:pt x="101596" y="3314700"/>
                </a:lnTo>
                <a:cubicBezTo>
                  <a:pt x="45486" y="3314700"/>
                  <a:pt x="0" y="3269214"/>
                  <a:pt x="0" y="3213104"/>
                </a:cubicBezTo>
                <a:lnTo>
                  <a:pt x="0" y="101596"/>
                </a:lnTo>
                <a:cubicBezTo>
                  <a:pt x="0" y="45523"/>
                  <a:pt x="45523" y="0"/>
                  <a:pt x="101596" y="0"/>
                </a:cubicBezTo>
                <a:close/>
              </a:path>
            </a:pathLst>
          </a:custGeom>
          <a:solidFill>
            <a:srgbClr val="ADD8E6">
              <a:alpha val="30196"/>
            </a:srgbClr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73735" y="2161540"/>
            <a:ext cx="4574540" cy="701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奈氏准则 (理想)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14680" y="3014980"/>
            <a:ext cx="4664075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理想低通信道，无噪声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1659731" y="3472061"/>
            <a:ext cx="2578100" cy="1231900"/>
          </a:xfrm>
          <a:custGeom>
            <a:avLst/>
            <a:gdLst/>
            <a:ahLst/>
            <a:cxnLst/>
            <a:rect l="l" t="t" r="r" b="b"/>
            <a:pathLst>
              <a:path w="2578100" h="1231900">
                <a:moveTo>
                  <a:pt x="76205" y="0"/>
                </a:moveTo>
                <a:lnTo>
                  <a:pt x="2501895" y="0"/>
                </a:lnTo>
                <a:cubicBezTo>
                  <a:pt x="2543982" y="0"/>
                  <a:pt x="2578100" y="34118"/>
                  <a:pt x="2578100" y="76205"/>
                </a:cubicBezTo>
                <a:lnTo>
                  <a:pt x="2578100" y="1155695"/>
                </a:lnTo>
                <a:cubicBezTo>
                  <a:pt x="2578100" y="1197782"/>
                  <a:pt x="2543982" y="1231900"/>
                  <a:pt x="2501895" y="1231900"/>
                </a:cubicBezTo>
                <a:lnTo>
                  <a:pt x="76205" y="1231900"/>
                </a:lnTo>
                <a:cubicBezTo>
                  <a:pt x="34118" y="1231900"/>
                  <a:pt x="0" y="1197782"/>
                  <a:pt x="0" y="11556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0800" dist="25400" dir="5400000" algn="bl" rotWithShape="0">
              <a:srgbClr val="000000">
                <a:alpha val="5098"/>
              </a:srgbClr>
            </a:outerShdw>
          </a:effectLst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6"/>
              <p:cNvSpPr/>
              <p:nvPr/>
            </p:nvSpPr>
            <p:spPr>
              <a:xfrm>
                <a:off x="1735931" y="3929261"/>
                <a:ext cx="2425700" cy="3175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i="1" dirty="0">
                          <a:solidFill>
                            <a:srgbClr val="333333"/>
                          </a:solidFill>
                          <a:latin typeface="Cambria Math" panose="02040503050406030204" charset="0"/>
                        </a:rPr>
                        <m:t>𝐶</m:t>
                      </m:r>
                      <m:r>
                        <a:rPr lang="en-US" sz="2400" dirty="0">
                          <a:solidFill>
                            <a:srgbClr val="333333"/>
                          </a:solidFill>
                          <a:latin typeface="Cambria Math" panose="02040503050406030204" charset="0"/>
                        </a:rPr>
                        <m:t>=</m:t>
                      </m:r>
                      <m:r>
                        <a:rPr lang="en-US" sz="2400" dirty="0">
                          <a:solidFill>
                            <a:srgbClr val="333333"/>
                          </a:solidFill>
                          <a:latin typeface="Cambria Math" panose="02040503050406030204" charset="0"/>
                        </a:rPr>
                        <m:t>2</m:t>
                      </m:r>
                      <m:r>
                        <a:rPr lang="en-US" sz="2400" i="1" dirty="0">
                          <a:solidFill>
                            <a:srgbClr val="333333"/>
                          </a:solidFill>
                          <a:latin typeface="Cambria Math" panose="02040503050406030204" charset="0"/>
                        </a:rPr>
                        <m:t>𝑊</m:t>
                      </m:r>
                      <m:sSub>
                        <m:sSubPr>
                          <m:ctrlPr>
                            <a:rPr lang="en-US" sz="1700" dirty="0">
                              <a:solidFill>
                                <a:srgbClr val="333333"/>
                              </a:solidFill>
                            </a:rPr>
                          </m:ctrlPr>
                        </m:sSubPr>
                        <m:e>
                          <m:r>
                            <a:rPr lang="en-US" sz="1700" i="1" dirty="0">
                              <a:solidFill>
                                <a:srgbClr val="333333"/>
                              </a:solidFill>
                              <a:latin typeface="Cambria Math" panose="02040503050406030204" charset="0"/>
                            </a:rPr>
                            <m:t>𝑙𝑜𝑔</m:t>
                          </m:r>
                          <m:r>
                            <a:rPr lang="en-US" sz="1700" dirty="0">
                              <a:solidFill>
                                <a:srgbClr val="333333"/>
                              </a:solidFill>
                              <a:latin typeface="Cambria Math" panose="02040503050406030204" charset="0"/>
                            </a:rPr>
                            <m:t>⁡</m:t>
                          </m:r>
                        </m:e>
                        <m:sub>
                          <m:r>
                            <a:rPr lang="en-US" sz="1700" dirty="0">
                              <a:solidFill>
                                <a:srgbClr val="333333"/>
                              </a:solidFill>
                              <a:latin typeface="Cambria Math" panose="02040503050406030204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dirty="0">
                          <a:solidFill>
                            <a:srgbClr val="333333"/>
                          </a:solidFill>
                          <a:latin typeface="Cambria Math" panose="02040503050406030204" charset="0"/>
                        </a:rPr>
                        <m:t>𝑀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9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5931" y="3929261"/>
                <a:ext cx="2425700" cy="317500"/>
              </a:xfrm>
              <a:prstGeom prst="rect">
                <a:avLst/>
              </a:prstGeom>
              <a:blipFill rotWithShape="1">
                <a:blip r:embed="rId2"/>
                <a:stretch>
                  <a:fillRect l="-20" t="-13363" r="20" b="-132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7"/>
          <p:cNvSpPr/>
          <p:nvPr/>
        </p:nvSpPr>
        <p:spPr>
          <a:xfrm>
            <a:off x="647065" y="4909820"/>
            <a:ext cx="467487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给出</a:t>
            </a: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码元</a:t>
            </a: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速率极限。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5694759" y="3505002"/>
            <a:ext cx="11049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7484D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VS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903641" y="2142331"/>
            <a:ext cx="4673600" cy="3340100"/>
          </a:xfrm>
          <a:custGeom>
            <a:avLst/>
            <a:gdLst/>
            <a:ahLst/>
            <a:cxnLst/>
            <a:rect l="l" t="t" r="r" b="b"/>
            <a:pathLst>
              <a:path w="4673600" h="3340100">
                <a:moveTo>
                  <a:pt x="101606" y="0"/>
                </a:moveTo>
                <a:lnTo>
                  <a:pt x="4571994" y="0"/>
                </a:lnTo>
                <a:cubicBezTo>
                  <a:pt x="4628110" y="0"/>
                  <a:pt x="4673600" y="45490"/>
                  <a:pt x="4673600" y="101606"/>
                </a:cubicBezTo>
                <a:lnTo>
                  <a:pt x="4673600" y="3238494"/>
                </a:lnTo>
                <a:cubicBezTo>
                  <a:pt x="4673600" y="3294610"/>
                  <a:pt x="4628110" y="3340100"/>
                  <a:pt x="4571994" y="3340100"/>
                </a:cubicBezTo>
                <a:lnTo>
                  <a:pt x="101606" y="3340100"/>
                </a:lnTo>
                <a:cubicBezTo>
                  <a:pt x="45490" y="3340100"/>
                  <a:pt x="0" y="3294610"/>
                  <a:pt x="0" y="3238494"/>
                </a:cubicBezTo>
                <a:lnTo>
                  <a:pt x="0" y="101606"/>
                </a:lnTo>
                <a:cubicBezTo>
                  <a:pt x="0" y="45528"/>
                  <a:pt x="45528" y="0"/>
                  <a:pt x="101606" y="0"/>
                </a:cubicBezTo>
                <a:close/>
              </a:path>
            </a:pathLst>
          </a:custGeom>
          <a:solidFill>
            <a:srgbClr val="7484DF">
              <a:alpha val="30196"/>
            </a:srgbClr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904355" y="2163445"/>
            <a:ext cx="4648200" cy="6902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800" b="1" dirty="0">
                <a:solidFill>
                  <a:srgbClr val="7484D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香农公式 (现实)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6952615" y="3006090"/>
            <a:ext cx="457708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有噪声信道，信噪比 S/N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7472759" y="3463131"/>
            <a:ext cx="3530600" cy="1257300"/>
          </a:xfrm>
          <a:custGeom>
            <a:avLst/>
            <a:gdLst/>
            <a:ahLst/>
            <a:cxnLst/>
            <a:rect l="l" t="t" r="r" b="b"/>
            <a:pathLst>
              <a:path w="3530600" h="1257300">
                <a:moveTo>
                  <a:pt x="76205" y="0"/>
                </a:moveTo>
                <a:lnTo>
                  <a:pt x="3454395" y="0"/>
                </a:lnTo>
                <a:cubicBezTo>
                  <a:pt x="3496482" y="0"/>
                  <a:pt x="3530600" y="34118"/>
                  <a:pt x="3530600" y="76205"/>
                </a:cubicBezTo>
                <a:lnTo>
                  <a:pt x="3530600" y="1181095"/>
                </a:lnTo>
                <a:cubicBezTo>
                  <a:pt x="3530600" y="1223182"/>
                  <a:pt x="3496482" y="1257300"/>
                  <a:pt x="3454395" y="1257300"/>
                </a:cubicBezTo>
                <a:lnTo>
                  <a:pt x="76205" y="1257300"/>
                </a:lnTo>
                <a:cubicBezTo>
                  <a:pt x="34118" y="1257300"/>
                  <a:pt x="0" y="1223182"/>
                  <a:pt x="0" y="11810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0800" dist="25400" dir="5400000" algn="bl" rotWithShape="0">
              <a:srgbClr val="000000">
                <a:alpha val="5098"/>
              </a:srgbClr>
            </a:outerShdw>
          </a:effectLst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 13"/>
              <p:cNvSpPr/>
              <p:nvPr/>
            </p:nvSpPr>
            <p:spPr>
              <a:xfrm>
                <a:off x="7548959" y="3920331"/>
                <a:ext cx="3378200" cy="3429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i="1" dirty="0">
                          <a:solidFill>
                            <a:srgbClr val="333333"/>
                          </a:solidFill>
                          <a:latin typeface="Cambria Math" panose="02040503050406030204" charset="0"/>
                        </a:rPr>
                        <m:t>𝐶</m:t>
                      </m:r>
                      <m:r>
                        <a:rPr lang="en-US" sz="2400" dirty="0">
                          <a:solidFill>
                            <a:srgbClr val="333333"/>
                          </a:solidFill>
                          <a:latin typeface="Cambria Math" panose="02040503050406030204" charset="0"/>
                        </a:rPr>
                        <m:t>=</m:t>
                      </m:r>
                      <m:r>
                        <a:rPr lang="en-US" sz="2400" i="1" dirty="0">
                          <a:solidFill>
                            <a:srgbClr val="333333"/>
                          </a:solidFill>
                          <a:latin typeface="Cambria Math" panose="02040503050406030204" charset="0"/>
                        </a:rPr>
                        <m:t>𝑊</m:t>
                      </m:r>
                      <m:sSub>
                        <m:sSubPr>
                          <m:ctrlPr>
                            <a:rPr lang="en-US" sz="1700" dirty="0">
                              <a:solidFill>
                                <a:srgbClr val="333333"/>
                              </a:solidFill>
                            </a:rPr>
                          </m:ctrlPr>
                        </m:sSubPr>
                        <m:e>
                          <m:r>
                            <a:rPr lang="en-US" sz="1700" i="1" dirty="0">
                              <a:solidFill>
                                <a:srgbClr val="333333"/>
                              </a:solidFill>
                              <a:latin typeface="Cambria Math" panose="02040503050406030204" charset="0"/>
                            </a:rPr>
                            <m:t>𝑙𝑜𝑔</m:t>
                          </m:r>
                          <m:r>
                            <a:rPr lang="en-US" sz="1700" dirty="0">
                              <a:solidFill>
                                <a:srgbClr val="333333"/>
                              </a:solidFill>
                              <a:latin typeface="Cambria Math" panose="02040503050406030204" charset="0"/>
                            </a:rPr>
                            <m:t>⁡</m:t>
                          </m:r>
                        </m:e>
                        <m:sub>
                          <m:r>
                            <a:rPr lang="en-US" sz="1700" dirty="0">
                              <a:solidFill>
                                <a:srgbClr val="333333"/>
                              </a:solidFill>
                              <a:latin typeface="Cambria Math" panose="02040503050406030204" charset="0"/>
                            </a:rPr>
                            <m:t>2</m:t>
                          </m:r>
                        </m:sub>
                      </m:sSub>
                      <m:r>
                        <a:rPr lang="en-US" sz="2400" dirty="0">
                          <a:solidFill>
                            <a:srgbClr val="333333"/>
                          </a:solidFill>
                          <a:latin typeface="Cambria Math" panose="02040503050406030204" charset="0"/>
                        </a:rPr>
                        <m:t>(</m:t>
                      </m:r>
                      <m:r>
                        <a:rPr lang="en-US" sz="2400" dirty="0">
                          <a:solidFill>
                            <a:srgbClr val="333333"/>
                          </a:solidFill>
                          <a:latin typeface="Cambria Math" panose="02040503050406030204" charset="0"/>
                        </a:rPr>
                        <m:t>1</m:t>
                      </m:r>
                      <m:r>
                        <a:rPr lang="en-US" sz="2400" dirty="0">
                          <a:solidFill>
                            <a:srgbClr val="333333"/>
                          </a:solidFill>
                          <a:latin typeface="Cambria Math" panose="02040503050406030204" charset="0"/>
                        </a:rPr>
                        <m:t>+</m:t>
                      </m:r>
                      <m:r>
                        <a:rPr lang="en-US" sz="2400" i="1" dirty="0">
                          <a:solidFill>
                            <a:srgbClr val="333333"/>
                          </a:solidFill>
                          <a:latin typeface="Cambria Math" panose="02040503050406030204" charset="0"/>
                        </a:rPr>
                        <m:t>𝑆</m:t>
                      </m:r>
                      <m:r>
                        <a:rPr lang="en-US" sz="2400" dirty="0">
                          <a:solidFill>
                            <a:srgbClr val="333333"/>
                          </a:solidFill>
                          <a:latin typeface="Cambria Math" panose="02040503050406030204" charset="0"/>
                        </a:rPr>
                        <m:t>/</m:t>
                      </m:r>
                      <m:r>
                        <a:rPr lang="en-US" sz="2400" i="1" dirty="0">
                          <a:solidFill>
                            <a:srgbClr val="333333"/>
                          </a:solidFill>
                          <a:latin typeface="Cambria Math" panose="02040503050406030204" charset="0"/>
                        </a:rPr>
                        <m:t>𝑁</m:t>
                      </m:r>
                      <m:r>
                        <a:rPr lang="en-US" sz="2400" dirty="0">
                          <a:solidFill>
                            <a:srgbClr val="333333"/>
                          </a:solidFill>
                          <a:latin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16" name="Text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8959" y="3920331"/>
                <a:ext cx="3378200" cy="342900"/>
              </a:xfrm>
              <a:prstGeom prst="rect">
                <a:avLst/>
              </a:prstGeom>
              <a:blipFill rotWithShape="1">
                <a:blip r:embed="rId3"/>
                <a:stretch>
                  <a:fillRect l="-2" t="-8657" r="2" b="-85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 14"/>
          <p:cNvSpPr/>
          <p:nvPr/>
        </p:nvSpPr>
        <p:spPr>
          <a:xfrm>
            <a:off x="6925310" y="4918710"/>
            <a:ext cx="462661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给出</a:t>
            </a: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信息</a:t>
            </a: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容量极限。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1657350" y="5680710"/>
            <a:ext cx="9061450" cy="995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工程实践只能在</a:t>
            </a:r>
            <a:r>
              <a:rPr lang="en-US" sz="2400" dirty="0">
                <a:solidFill>
                  <a:srgbClr val="4A90E2"/>
                </a:solidFill>
                <a:highlight>
                  <a:srgbClr val="ADD8E6">
                    <a:alpha val="100000"/>
                  </a:srgbClr>
                </a:highligh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两大天花板之间折中 </a:t>
            </a: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，寻求最佳性能。</a:t>
            </a:r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3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3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11" grpId="0"/>
      <p:bldP spid="6" grpId="0"/>
      <p:bldP spid="7" grpId="0"/>
      <p:bldP spid="13" grpId="0"/>
      <p:bldP spid="14" grpId="0"/>
      <p:bldP spid="9" grpId="0"/>
      <p:bldP spid="9" grpId="1"/>
      <p:bldP spid="16" grpId="0"/>
      <p:bldP spid="16" grpId="1"/>
      <p:bldP spid="10" grpId="0"/>
      <p:bldP spid="10" grpId="1"/>
      <p:bldP spid="17" grpId="0"/>
      <p:bldP spid="17" grpId="1"/>
      <p:bldP spid="18" grpId="0"/>
      <p:bldP spid="18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1:00-d2tarl5nfo2stf9djj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7:31:00-d2tarl5nfo2stf9djj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7:31:00-d2tarl5nfo2stf9djjv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7:30:59-d2tarktnfo2stf9djjs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3128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F2F7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660717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传输媒体大观园</a:t>
            </a:r>
            <a:endParaRPr lang="en-US" sz="4400" dirty="0"/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Text 4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5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Text 6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7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5" name="Text 8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9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1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7" grpId="0"/>
      <p:bldP spid="7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9700" y="142240"/>
            <a:ext cx="11912600" cy="163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有线媒体三剑客：特性速览</a:t>
            </a:r>
            <a:endParaRPr lang="en-US" sz="4800" dirty="0"/>
          </a:p>
        </p:txBody>
      </p:sp>
      <p:sp>
        <p:nvSpPr>
          <p:cNvPr id="4" name="Shape 1"/>
          <p:cNvSpPr/>
          <p:nvPr>
            <p:custDataLst>
              <p:tags r:id="rId2"/>
            </p:custDataLst>
          </p:nvPr>
        </p:nvSpPr>
        <p:spPr>
          <a:xfrm>
            <a:off x="254000" y="2082800"/>
            <a:ext cx="3721100" cy="3362325"/>
          </a:xfrm>
          <a:custGeom>
            <a:avLst/>
            <a:gdLst/>
            <a:ahLst/>
            <a:cxnLst/>
            <a:rect l="l" t="t" r="r" b="b"/>
            <a:pathLst>
              <a:path w="3721100" h="2844800">
                <a:moveTo>
                  <a:pt x="101588" y="0"/>
                </a:moveTo>
                <a:lnTo>
                  <a:pt x="3619512" y="0"/>
                </a:lnTo>
                <a:cubicBezTo>
                  <a:pt x="3675618" y="0"/>
                  <a:pt x="3721100" y="45482"/>
                  <a:pt x="3721100" y="101588"/>
                </a:cubicBezTo>
                <a:lnTo>
                  <a:pt x="3721100" y="2743212"/>
                </a:lnTo>
                <a:cubicBezTo>
                  <a:pt x="3721100" y="2799318"/>
                  <a:pt x="3675618" y="2844800"/>
                  <a:pt x="3619512" y="2844800"/>
                </a:cubicBezTo>
                <a:lnTo>
                  <a:pt x="101588" y="2844800"/>
                </a:lnTo>
                <a:cubicBezTo>
                  <a:pt x="45482" y="2844800"/>
                  <a:pt x="0" y="2799318"/>
                  <a:pt x="0" y="2743212"/>
                </a:cubicBezTo>
                <a:lnTo>
                  <a:pt x="0" y="101588"/>
                </a:lnTo>
                <a:cubicBezTo>
                  <a:pt x="0" y="45482"/>
                  <a:pt x="45482" y="0"/>
                  <a:pt x="101588" y="0"/>
                </a:cubicBezTo>
                <a:close/>
              </a:path>
            </a:pathLst>
          </a:custGeom>
          <a:solidFill>
            <a:srgbClr val="ADD8E6">
              <a:alpha val="30196"/>
            </a:srgb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Text 2"/>
          <p:cNvSpPr/>
          <p:nvPr>
            <p:custDataLst>
              <p:tags r:id="rId3"/>
            </p:custDataLst>
          </p:nvPr>
        </p:nvSpPr>
        <p:spPr>
          <a:xfrm>
            <a:off x="393700" y="2078355"/>
            <a:ext cx="3441700" cy="5632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双绞线</a:t>
            </a:r>
            <a:endParaRPr lang="en-US" sz="2400" dirty="0"/>
          </a:p>
        </p:txBody>
      </p:sp>
      <p:pic>
        <p:nvPicPr>
          <p:cNvPr id="6" name="Image 1" descr="https://kimi-web-img.moonshot.cn/img/holightoptic.com/af4f3ca6429a53e4cfc6a045ca99d275bb87000c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t="23037" b="23037"/>
          <a:stretch>
            <a:fillRect/>
          </a:stretch>
        </p:blipFill>
        <p:spPr>
          <a:xfrm>
            <a:off x="457200" y="2844800"/>
            <a:ext cx="3314700" cy="1219200"/>
          </a:xfrm>
          <a:prstGeom prst="roundRect">
            <a:avLst>
              <a:gd name="adj" fmla="val 6250"/>
            </a:avLst>
          </a:prstGeom>
        </p:spPr>
      </p:pic>
      <p:sp>
        <p:nvSpPr>
          <p:cNvPr id="7" name="Text 3"/>
          <p:cNvSpPr/>
          <p:nvPr>
            <p:custDataLst>
              <p:tags r:id="rId6"/>
            </p:custDataLst>
          </p:nvPr>
        </p:nvSpPr>
        <p:spPr>
          <a:xfrm>
            <a:off x="412750" y="4165600"/>
            <a:ext cx="34036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成本低，易部署，抗干扰一般。</a:t>
            </a:r>
            <a:endParaRPr lang="en-US" sz="2000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8" name="Text 4"/>
          <p:cNvSpPr/>
          <p:nvPr>
            <p:custDataLst>
              <p:tags r:id="rId7"/>
            </p:custDataLst>
          </p:nvPr>
        </p:nvSpPr>
        <p:spPr>
          <a:xfrm>
            <a:off x="419100" y="4718685"/>
            <a:ext cx="33909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应用: </a:t>
            </a:r>
            <a:r>
              <a:rPr lang="en-US" sz="2000" b="1" dirty="0">
                <a:solidFill>
                  <a:srgbClr val="333333"/>
                </a:solidFill>
                <a:highlight>
                  <a:srgbClr val="ADD8E6">
                    <a:alpha val="100000"/>
                  </a:srgbClr>
                </a:highligh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UTP/STP </a:t>
            </a: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(以太网)</a:t>
            </a:r>
            <a:endParaRPr lang="en-US" sz="2000" dirty="0"/>
          </a:p>
        </p:txBody>
      </p:sp>
      <p:sp>
        <p:nvSpPr>
          <p:cNvPr id="9" name="Shape 5"/>
          <p:cNvSpPr/>
          <p:nvPr>
            <p:custDataLst>
              <p:tags r:id="rId8"/>
            </p:custDataLst>
          </p:nvPr>
        </p:nvSpPr>
        <p:spPr>
          <a:xfrm>
            <a:off x="4233545" y="2082800"/>
            <a:ext cx="3721100" cy="3347085"/>
          </a:xfrm>
          <a:custGeom>
            <a:avLst/>
            <a:gdLst/>
            <a:ahLst/>
            <a:cxnLst/>
            <a:rect l="l" t="t" r="r" b="b"/>
            <a:pathLst>
              <a:path w="3721100" h="2844800">
                <a:moveTo>
                  <a:pt x="101588" y="0"/>
                </a:moveTo>
                <a:lnTo>
                  <a:pt x="3619512" y="0"/>
                </a:lnTo>
                <a:cubicBezTo>
                  <a:pt x="3675618" y="0"/>
                  <a:pt x="3721100" y="45482"/>
                  <a:pt x="3721100" y="101588"/>
                </a:cubicBezTo>
                <a:lnTo>
                  <a:pt x="3721100" y="2743212"/>
                </a:lnTo>
                <a:cubicBezTo>
                  <a:pt x="3721100" y="2799318"/>
                  <a:pt x="3675618" y="2844800"/>
                  <a:pt x="3619512" y="2844800"/>
                </a:cubicBezTo>
                <a:lnTo>
                  <a:pt x="101588" y="2844800"/>
                </a:lnTo>
                <a:cubicBezTo>
                  <a:pt x="45482" y="2844800"/>
                  <a:pt x="0" y="2799318"/>
                  <a:pt x="0" y="2743212"/>
                </a:cubicBezTo>
                <a:lnTo>
                  <a:pt x="0" y="101588"/>
                </a:lnTo>
                <a:cubicBezTo>
                  <a:pt x="0" y="45482"/>
                  <a:pt x="45482" y="0"/>
                  <a:pt x="101588" y="0"/>
                </a:cubicBezTo>
                <a:close/>
              </a:path>
            </a:pathLst>
          </a:custGeom>
          <a:solidFill>
            <a:srgbClr val="ADD8E6">
              <a:alpha val="50196"/>
            </a:srgbClr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0" name="Text 6"/>
          <p:cNvSpPr/>
          <p:nvPr>
            <p:custDataLst>
              <p:tags r:id="rId9"/>
            </p:custDataLst>
          </p:nvPr>
        </p:nvSpPr>
        <p:spPr>
          <a:xfrm>
            <a:off x="4373245" y="2082800"/>
            <a:ext cx="3441700" cy="55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同轴电缆</a:t>
            </a:r>
            <a:endParaRPr lang="en-US" sz="2400" dirty="0"/>
          </a:p>
        </p:txBody>
      </p:sp>
      <p:pic>
        <p:nvPicPr>
          <p:cNvPr id="11" name="Image 2" descr="https://kimi-web-img.moonshot.cn/img/holightoptic.com/af4f3ca6429a53e4cfc6a045ca99d275bb87000c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5"/>
          <a:srcRect t="23037" b="23037"/>
          <a:stretch>
            <a:fillRect/>
          </a:stretch>
        </p:blipFill>
        <p:spPr>
          <a:xfrm>
            <a:off x="4436467" y="2844800"/>
            <a:ext cx="3314700" cy="1219200"/>
          </a:xfrm>
          <a:prstGeom prst="roundRect">
            <a:avLst>
              <a:gd name="adj" fmla="val 6250"/>
            </a:avLst>
          </a:prstGeom>
        </p:spPr>
      </p:pic>
      <p:sp>
        <p:nvSpPr>
          <p:cNvPr id="12" name="Text 7"/>
          <p:cNvSpPr/>
          <p:nvPr>
            <p:custDataLst>
              <p:tags r:id="rId11"/>
            </p:custDataLst>
          </p:nvPr>
        </p:nvSpPr>
        <p:spPr>
          <a:xfrm>
            <a:off x="4261485" y="4165600"/>
            <a:ext cx="3644265" cy="476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带宽较高，抗干扰较好，成本适中。</a:t>
            </a:r>
            <a:endParaRPr lang="en-US" sz="2000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3" name="Text 8"/>
          <p:cNvSpPr/>
          <p:nvPr>
            <p:custDataLst>
              <p:tags r:id="rId12"/>
            </p:custDataLst>
          </p:nvPr>
        </p:nvSpPr>
        <p:spPr>
          <a:xfrm>
            <a:off x="4398645" y="4683125"/>
            <a:ext cx="3390900" cy="721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应用: </a:t>
            </a:r>
            <a:r>
              <a:rPr lang="en-US" sz="2000" b="1" dirty="0">
                <a:solidFill>
                  <a:srgbClr val="333333"/>
                </a:solidFill>
                <a:highlight>
                  <a:srgbClr val="ADD8E6">
                    <a:alpha val="100000"/>
                  </a:srgbClr>
                </a:highligh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基带/宽带 </a:t>
            </a: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(有线电视)</a:t>
            </a:r>
            <a:endParaRPr lang="en-US" sz="2000" dirty="0"/>
          </a:p>
        </p:txBody>
      </p:sp>
      <p:sp>
        <p:nvSpPr>
          <p:cNvPr id="14" name="Shape 9"/>
          <p:cNvSpPr/>
          <p:nvPr>
            <p:custDataLst>
              <p:tags r:id="rId13"/>
            </p:custDataLst>
          </p:nvPr>
        </p:nvSpPr>
        <p:spPr>
          <a:xfrm>
            <a:off x="8212455" y="2082800"/>
            <a:ext cx="3721100" cy="3347085"/>
          </a:xfrm>
          <a:custGeom>
            <a:avLst/>
            <a:gdLst/>
            <a:ahLst/>
            <a:cxnLst/>
            <a:rect l="l" t="t" r="r" b="b"/>
            <a:pathLst>
              <a:path w="3721100" h="2844800">
                <a:moveTo>
                  <a:pt x="101588" y="0"/>
                </a:moveTo>
                <a:lnTo>
                  <a:pt x="3619512" y="0"/>
                </a:lnTo>
                <a:cubicBezTo>
                  <a:pt x="3675618" y="0"/>
                  <a:pt x="3721100" y="45482"/>
                  <a:pt x="3721100" y="101588"/>
                </a:cubicBezTo>
                <a:lnTo>
                  <a:pt x="3721100" y="2743212"/>
                </a:lnTo>
                <a:cubicBezTo>
                  <a:pt x="3721100" y="2799318"/>
                  <a:pt x="3675618" y="2844800"/>
                  <a:pt x="3619512" y="2844800"/>
                </a:cubicBezTo>
                <a:lnTo>
                  <a:pt x="101588" y="2844800"/>
                </a:lnTo>
                <a:cubicBezTo>
                  <a:pt x="45482" y="2844800"/>
                  <a:pt x="0" y="2799318"/>
                  <a:pt x="0" y="2743212"/>
                </a:cubicBezTo>
                <a:lnTo>
                  <a:pt x="0" y="101588"/>
                </a:lnTo>
                <a:cubicBezTo>
                  <a:pt x="0" y="45482"/>
                  <a:pt x="45482" y="0"/>
                  <a:pt x="101588" y="0"/>
                </a:cubicBezTo>
                <a:close/>
              </a:path>
            </a:pathLst>
          </a:custGeom>
          <a:solidFill>
            <a:srgbClr val="ADD8E6">
              <a:alpha val="70196"/>
            </a:srgbClr>
          </a:solidFill>
          <a:effectLst>
            <a:outerShdw blurRad="317500" dist="254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5" name="Text 10"/>
          <p:cNvSpPr/>
          <p:nvPr>
            <p:custDataLst>
              <p:tags r:id="rId14"/>
            </p:custDataLst>
          </p:nvPr>
        </p:nvSpPr>
        <p:spPr>
          <a:xfrm>
            <a:off x="8352155" y="2088515"/>
            <a:ext cx="3441700" cy="5530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光纤</a:t>
            </a:r>
            <a:endParaRPr lang="en-US" sz="2400" dirty="0"/>
          </a:p>
        </p:txBody>
      </p:sp>
      <p:pic>
        <p:nvPicPr>
          <p:cNvPr id="16" name="Image 3" descr="https://kimi-web-img.moonshot.cn/img/img95.699pic.com/a3fb544246dc9078febf8dee6ddc213572f5bf25.jpg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rcRect t="20759" b="20759"/>
          <a:stretch>
            <a:fillRect/>
          </a:stretch>
        </p:blipFill>
        <p:spPr>
          <a:xfrm>
            <a:off x="8415734" y="2844800"/>
            <a:ext cx="3314700" cy="1219200"/>
          </a:xfrm>
          <a:prstGeom prst="roundRect">
            <a:avLst>
              <a:gd name="adj" fmla="val 6250"/>
            </a:avLst>
          </a:prstGeom>
        </p:spPr>
      </p:pic>
      <p:sp>
        <p:nvSpPr>
          <p:cNvPr id="17" name="Text 11"/>
          <p:cNvSpPr/>
          <p:nvPr>
            <p:custDataLst>
              <p:tags r:id="rId17"/>
            </p:custDataLst>
          </p:nvPr>
        </p:nvSpPr>
        <p:spPr>
          <a:xfrm>
            <a:off x="8232775" y="4165600"/>
            <a:ext cx="369443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带宽极高，距离远，抗干扰极强。</a:t>
            </a:r>
            <a:endParaRPr lang="en-US" sz="2000" dirty="0"/>
          </a:p>
        </p:txBody>
      </p:sp>
      <p:sp>
        <p:nvSpPr>
          <p:cNvPr id="18" name="Text 12"/>
          <p:cNvSpPr/>
          <p:nvPr>
            <p:custDataLst>
              <p:tags r:id="rId18"/>
            </p:custDataLst>
          </p:nvPr>
        </p:nvSpPr>
        <p:spPr>
          <a:xfrm>
            <a:off x="8377555" y="4667250"/>
            <a:ext cx="3390900" cy="7270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应用: </a:t>
            </a:r>
            <a:r>
              <a:rPr lang="en-US" sz="2000" b="1" dirty="0">
                <a:solidFill>
                  <a:srgbClr val="333333"/>
                </a:solidFill>
                <a:highlight>
                  <a:srgbClr val="ADD8E6">
                    <a:alpha val="100000"/>
                  </a:srgbClr>
                </a:highligh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单模/多模 </a:t>
            </a: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(主干网</a:t>
            </a: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)</a:t>
            </a:r>
            <a:endParaRPr lang="en-US" sz="2000" b="1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196850" y="5232400"/>
            <a:ext cx="11798300" cy="129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8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演进趋势：</a:t>
            </a:r>
            <a:r>
              <a:rPr lang="en-US" sz="2800" b="1" dirty="0">
                <a:solidFill>
                  <a:srgbClr val="FFFFFF"/>
                </a:solidFill>
                <a:highlight>
                  <a:srgbClr val="7484DF">
                    <a:alpha val="100000"/>
                  </a:srgbClr>
                </a:highligh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“铜退光进”</a:t>
            </a:r>
            <a:endParaRPr lang="en-US" sz="2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10" grpId="0"/>
      <p:bldP spid="10" grpId="1"/>
      <p:bldP spid="15" grpId="0"/>
      <p:bldP spid="15" grpId="1"/>
      <p:bldP spid="7" grpId="0"/>
      <p:bldP spid="7" grpId="1"/>
      <p:bldP spid="8" grpId="0"/>
      <p:bldP spid="8" grpId="1"/>
      <p:bldP spid="12" grpId="0"/>
      <p:bldP spid="12" grpId="1"/>
      <p:bldP spid="13" grpId="0"/>
      <p:bldP spid="13" grpId="1"/>
      <p:bldP spid="17" grpId="0"/>
      <p:bldP spid="17" grpId="1"/>
      <p:bldP spid="18" grpId="0"/>
      <p:bldP spid="18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9700" y="97155"/>
            <a:ext cx="11912600" cy="14014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无线媒体：四维时空版图</a:t>
            </a:r>
            <a:endParaRPr lang="en-US" sz="4800" b="1" dirty="0">
              <a:solidFill>
                <a:srgbClr val="4A90E2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203200" y="1092200"/>
            <a:ext cx="11785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频谱稀缺，依赖复用与编码技术。</a:t>
            </a:r>
            <a:endParaRPr lang="en-US" sz="2400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254000" y="2311400"/>
            <a:ext cx="11684000" cy="914400"/>
          </a:xfrm>
          <a:custGeom>
            <a:avLst/>
            <a:gdLst/>
            <a:ahLst/>
            <a:cxnLst/>
            <a:rect l="l" t="t" r="r" b="b"/>
            <a:pathLst>
              <a:path w="11684000" h="914400">
                <a:moveTo>
                  <a:pt x="101599" y="0"/>
                </a:moveTo>
                <a:lnTo>
                  <a:pt x="11582401" y="0"/>
                </a:lnTo>
                <a:cubicBezTo>
                  <a:pt x="11638513" y="0"/>
                  <a:pt x="11684000" y="45487"/>
                  <a:pt x="11684000" y="101599"/>
                </a:cubicBezTo>
                <a:lnTo>
                  <a:pt x="11684000" y="812801"/>
                </a:lnTo>
                <a:cubicBezTo>
                  <a:pt x="11684000" y="868913"/>
                  <a:pt x="11638513" y="914400"/>
                  <a:pt x="115824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ADD8E6">
              <a:alpha val="30196"/>
            </a:srgbClr>
          </a:solidFill>
          <a:effectLst>
            <a:outerShdw blurRad="38100" dist="127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25475" y="2578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72641" y="0"/>
                </a:moveTo>
                <a:cubicBezTo>
                  <a:pt x="287685" y="0"/>
                  <a:pt x="381000" y="93315"/>
                  <a:pt x="381000" y="208359"/>
                </a:cubicBezTo>
                <a:cubicBezTo>
                  <a:pt x="381000" y="218256"/>
                  <a:pt x="373038" y="226219"/>
                  <a:pt x="363141" y="226219"/>
                </a:cubicBezTo>
                <a:cubicBezTo>
                  <a:pt x="353244" y="226219"/>
                  <a:pt x="345281" y="218256"/>
                  <a:pt x="345281" y="208359"/>
                </a:cubicBezTo>
                <a:cubicBezTo>
                  <a:pt x="345281" y="113035"/>
                  <a:pt x="267965" y="35719"/>
                  <a:pt x="172641" y="35719"/>
                </a:cubicBezTo>
                <a:cubicBezTo>
                  <a:pt x="162744" y="35719"/>
                  <a:pt x="154781" y="27756"/>
                  <a:pt x="154781" y="17859"/>
                </a:cubicBezTo>
                <a:cubicBezTo>
                  <a:pt x="154781" y="7962"/>
                  <a:pt x="162744" y="0"/>
                  <a:pt x="172641" y="0"/>
                </a:cubicBezTo>
                <a:close/>
                <a:moveTo>
                  <a:pt x="154781" y="89297"/>
                </a:moveTo>
                <a:cubicBezTo>
                  <a:pt x="154781" y="79400"/>
                  <a:pt x="162744" y="71438"/>
                  <a:pt x="172641" y="71438"/>
                </a:cubicBezTo>
                <a:cubicBezTo>
                  <a:pt x="248245" y="71438"/>
                  <a:pt x="309563" y="132755"/>
                  <a:pt x="309563" y="208359"/>
                </a:cubicBezTo>
                <a:cubicBezTo>
                  <a:pt x="309563" y="218256"/>
                  <a:pt x="301600" y="226219"/>
                  <a:pt x="291703" y="226219"/>
                </a:cubicBezTo>
                <a:cubicBezTo>
                  <a:pt x="281806" y="226219"/>
                  <a:pt x="273844" y="218256"/>
                  <a:pt x="273844" y="208359"/>
                </a:cubicBezTo>
                <a:cubicBezTo>
                  <a:pt x="273844" y="152474"/>
                  <a:pt x="228526" y="107156"/>
                  <a:pt x="172641" y="107156"/>
                </a:cubicBezTo>
                <a:cubicBezTo>
                  <a:pt x="162744" y="107156"/>
                  <a:pt x="154781" y="99194"/>
                  <a:pt x="154781" y="89297"/>
                </a:cubicBezTo>
                <a:close/>
                <a:moveTo>
                  <a:pt x="19645" y="106189"/>
                </a:moveTo>
                <a:cubicBezTo>
                  <a:pt x="26194" y="92869"/>
                  <a:pt x="43755" y="91380"/>
                  <a:pt x="54248" y="101873"/>
                </a:cubicBezTo>
                <a:lnTo>
                  <a:pt x="149870" y="197495"/>
                </a:lnTo>
                <a:lnTo>
                  <a:pt x="173682" y="173682"/>
                </a:lnTo>
                <a:cubicBezTo>
                  <a:pt x="182984" y="164381"/>
                  <a:pt x="198090" y="164381"/>
                  <a:pt x="207392" y="173682"/>
                </a:cubicBezTo>
                <a:cubicBezTo>
                  <a:pt x="216694" y="182984"/>
                  <a:pt x="216694" y="198090"/>
                  <a:pt x="207392" y="207392"/>
                </a:cubicBezTo>
                <a:lnTo>
                  <a:pt x="183579" y="231204"/>
                </a:lnTo>
                <a:lnTo>
                  <a:pt x="279202" y="326827"/>
                </a:lnTo>
                <a:cubicBezTo>
                  <a:pt x="289694" y="337319"/>
                  <a:pt x="288131" y="354806"/>
                  <a:pt x="274886" y="361429"/>
                </a:cubicBezTo>
                <a:cubicBezTo>
                  <a:pt x="249436" y="374005"/>
                  <a:pt x="220861" y="381074"/>
                  <a:pt x="190574" y="381074"/>
                </a:cubicBezTo>
                <a:cubicBezTo>
                  <a:pt x="85353" y="381074"/>
                  <a:pt x="74" y="295796"/>
                  <a:pt x="74" y="190574"/>
                </a:cubicBezTo>
                <a:cubicBezTo>
                  <a:pt x="74" y="160288"/>
                  <a:pt x="7144" y="131638"/>
                  <a:pt x="19720" y="106263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7" name="Text 4"/>
          <p:cNvSpPr/>
          <p:nvPr/>
        </p:nvSpPr>
        <p:spPr>
          <a:xfrm>
            <a:off x="1422400" y="2352040"/>
            <a:ext cx="10477500" cy="46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卫星通信</a:t>
            </a:r>
            <a:endParaRPr lang="en-US" sz="2000" b="1" dirty="0">
              <a:solidFill>
                <a:srgbClr val="4A90E2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422400" y="2819400"/>
            <a:ext cx="10452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覆盖全球，适用于偏远地区，但延迟高。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660400" y="3378200"/>
            <a:ext cx="11277600" cy="914400"/>
          </a:xfrm>
          <a:custGeom>
            <a:avLst/>
            <a:gdLst/>
            <a:ahLst/>
            <a:cxnLst/>
            <a:rect l="l" t="t" r="r" b="b"/>
            <a:pathLst>
              <a:path w="11277600" h="914400">
                <a:moveTo>
                  <a:pt x="101599" y="0"/>
                </a:moveTo>
                <a:lnTo>
                  <a:pt x="11176001" y="0"/>
                </a:lnTo>
                <a:cubicBezTo>
                  <a:pt x="11232113" y="0"/>
                  <a:pt x="11277600" y="45487"/>
                  <a:pt x="11277600" y="101599"/>
                </a:cubicBezTo>
                <a:lnTo>
                  <a:pt x="11277600" y="812801"/>
                </a:lnTo>
                <a:cubicBezTo>
                  <a:pt x="11277600" y="868913"/>
                  <a:pt x="11232113" y="914400"/>
                  <a:pt x="111760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ADD8E6">
              <a:alpha val="40000"/>
            </a:srgbClr>
          </a:solidFill>
          <a:effectLst>
            <a:outerShdw blurRad="38100" dist="127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008063" y="3644900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65410" y="8558"/>
                </a:moveTo>
                <a:cubicBezTo>
                  <a:pt x="57001" y="3423"/>
                  <a:pt x="45988" y="6176"/>
                  <a:pt x="40853" y="14585"/>
                </a:cubicBezTo>
                <a:cubicBezTo>
                  <a:pt x="22399" y="45095"/>
                  <a:pt x="11832" y="80888"/>
                  <a:pt x="11832" y="119063"/>
                </a:cubicBezTo>
                <a:cubicBezTo>
                  <a:pt x="11832" y="157237"/>
                  <a:pt x="22399" y="193030"/>
                  <a:pt x="40853" y="223540"/>
                </a:cubicBezTo>
                <a:cubicBezTo>
                  <a:pt x="45988" y="231949"/>
                  <a:pt x="56927" y="234702"/>
                  <a:pt x="65410" y="229567"/>
                </a:cubicBezTo>
                <a:cubicBezTo>
                  <a:pt x="73893" y="224433"/>
                  <a:pt x="76572" y="213494"/>
                  <a:pt x="71438" y="205011"/>
                </a:cubicBezTo>
                <a:cubicBezTo>
                  <a:pt x="56331" y="180008"/>
                  <a:pt x="47625" y="150540"/>
                  <a:pt x="47625" y="119063"/>
                </a:cubicBezTo>
                <a:cubicBezTo>
                  <a:pt x="47625" y="87585"/>
                  <a:pt x="56331" y="58117"/>
                  <a:pt x="71512" y="33040"/>
                </a:cubicBezTo>
                <a:cubicBezTo>
                  <a:pt x="76646" y="24631"/>
                  <a:pt x="73893" y="13618"/>
                  <a:pt x="65484" y="8483"/>
                </a:cubicBezTo>
                <a:close/>
                <a:moveTo>
                  <a:pt x="363141" y="8558"/>
                </a:moveTo>
                <a:cubicBezTo>
                  <a:pt x="354732" y="13692"/>
                  <a:pt x="351979" y="24631"/>
                  <a:pt x="357113" y="33114"/>
                </a:cubicBezTo>
                <a:cubicBezTo>
                  <a:pt x="372294" y="58192"/>
                  <a:pt x="381000" y="87660"/>
                  <a:pt x="381000" y="119137"/>
                </a:cubicBezTo>
                <a:cubicBezTo>
                  <a:pt x="381000" y="150614"/>
                  <a:pt x="372294" y="180082"/>
                  <a:pt x="357113" y="205160"/>
                </a:cubicBezTo>
                <a:cubicBezTo>
                  <a:pt x="351979" y="213568"/>
                  <a:pt x="354732" y="224582"/>
                  <a:pt x="363141" y="229716"/>
                </a:cubicBezTo>
                <a:cubicBezTo>
                  <a:pt x="371549" y="234851"/>
                  <a:pt x="382563" y="232097"/>
                  <a:pt x="387697" y="223689"/>
                </a:cubicBezTo>
                <a:cubicBezTo>
                  <a:pt x="406152" y="193179"/>
                  <a:pt x="416719" y="157386"/>
                  <a:pt x="416719" y="119211"/>
                </a:cubicBezTo>
                <a:cubicBezTo>
                  <a:pt x="416719" y="81037"/>
                  <a:pt x="406152" y="45095"/>
                  <a:pt x="387697" y="14585"/>
                </a:cubicBezTo>
                <a:cubicBezTo>
                  <a:pt x="382563" y="6176"/>
                  <a:pt x="371624" y="3423"/>
                  <a:pt x="363141" y="8558"/>
                </a:cubicBezTo>
                <a:close/>
                <a:moveTo>
                  <a:pt x="238125" y="160288"/>
                </a:moveTo>
                <a:cubicBezTo>
                  <a:pt x="252338" y="152028"/>
                  <a:pt x="261938" y="136699"/>
                  <a:pt x="261938" y="119063"/>
                </a:cubicBezTo>
                <a:cubicBezTo>
                  <a:pt x="261938" y="92794"/>
                  <a:pt x="240581" y="71438"/>
                  <a:pt x="214313" y="71438"/>
                </a:cubicBezTo>
                <a:cubicBezTo>
                  <a:pt x="188044" y="71438"/>
                  <a:pt x="166688" y="92794"/>
                  <a:pt x="166688" y="119063"/>
                </a:cubicBezTo>
                <a:cubicBezTo>
                  <a:pt x="166688" y="136699"/>
                  <a:pt x="176287" y="152102"/>
                  <a:pt x="190500" y="160288"/>
                </a:cubicBezTo>
                <a:lnTo>
                  <a:pt x="190500" y="357188"/>
                </a:lnTo>
                <a:cubicBezTo>
                  <a:pt x="190500" y="370359"/>
                  <a:pt x="201141" y="381000"/>
                  <a:pt x="214313" y="381000"/>
                </a:cubicBezTo>
                <a:cubicBezTo>
                  <a:pt x="227484" y="381000"/>
                  <a:pt x="238125" y="370359"/>
                  <a:pt x="238125" y="357188"/>
                </a:cubicBezTo>
                <a:lnTo>
                  <a:pt x="238125" y="160288"/>
                </a:lnTo>
                <a:close/>
                <a:moveTo>
                  <a:pt x="134094" y="67717"/>
                </a:moveTo>
                <a:cubicBezTo>
                  <a:pt x="139452" y="59382"/>
                  <a:pt x="136996" y="48369"/>
                  <a:pt x="128736" y="43011"/>
                </a:cubicBezTo>
                <a:cubicBezTo>
                  <a:pt x="120476" y="37654"/>
                  <a:pt x="109389" y="40109"/>
                  <a:pt x="104031" y="48369"/>
                </a:cubicBezTo>
                <a:cubicBezTo>
                  <a:pt x="90934" y="68759"/>
                  <a:pt x="83344" y="93018"/>
                  <a:pt x="83344" y="119063"/>
                </a:cubicBezTo>
                <a:cubicBezTo>
                  <a:pt x="83344" y="145107"/>
                  <a:pt x="90934" y="169366"/>
                  <a:pt x="104031" y="189756"/>
                </a:cubicBezTo>
                <a:cubicBezTo>
                  <a:pt x="109389" y="198090"/>
                  <a:pt x="120402" y="200471"/>
                  <a:pt x="128736" y="195114"/>
                </a:cubicBezTo>
                <a:cubicBezTo>
                  <a:pt x="137071" y="189756"/>
                  <a:pt x="139452" y="178743"/>
                  <a:pt x="134094" y="170408"/>
                </a:cubicBezTo>
                <a:cubicBezTo>
                  <a:pt x="124569" y="155600"/>
                  <a:pt x="119063" y="137964"/>
                  <a:pt x="119063" y="119063"/>
                </a:cubicBezTo>
                <a:cubicBezTo>
                  <a:pt x="119063" y="100161"/>
                  <a:pt x="124569" y="82525"/>
                  <a:pt x="134094" y="67717"/>
                </a:cubicBezTo>
                <a:close/>
                <a:moveTo>
                  <a:pt x="324594" y="48369"/>
                </a:moveTo>
                <a:cubicBezTo>
                  <a:pt x="319236" y="40035"/>
                  <a:pt x="308223" y="37654"/>
                  <a:pt x="299889" y="43011"/>
                </a:cubicBezTo>
                <a:cubicBezTo>
                  <a:pt x="291554" y="48369"/>
                  <a:pt x="289173" y="59382"/>
                  <a:pt x="294531" y="67717"/>
                </a:cubicBezTo>
                <a:cubicBezTo>
                  <a:pt x="304056" y="82525"/>
                  <a:pt x="309563" y="100161"/>
                  <a:pt x="309563" y="119063"/>
                </a:cubicBezTo>
                <a:cubicBezTo>
                  <a:pt x="309563" y="137964"/>
                  <a:pt x="304056" y="155600"/>
                  <a:pt x="294531" y="170408"/>
                </a:cubicBezTo>
                <a:cubicBezTo>
                  <a:pt x="289173" y="178743"/>
                  <a:pt x="291629" y="189756"/>
                  <a:pt x="299889" y="195114"/>
                </a:cubicBezTo>
                <a:cubicBezTo>
                  <a:pt x="308149" y="200471"/>
                  <a:pt x="319236" y="198016"/>
                  <a:pt x="324594" y="189756"/>
                </a:cubicBezTo>
                <a:cubicBezTo>
                  <a:pt x="337691" y="169366"/>
                  <a:pt x="345281" y="145107"/>
                  <a:pt x="345281" y="119063"/>
                </a:cubicBezTo>
                <a:cubicBezTo>
                  <a:pt x="345281" y="93018"/>
                  <a:pt x="337691" y="68759"/>
                  <a:pt x="324594" y="48369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11" name="Text 8"/>
          <p:cNvSpPr/>
          <p:nvPr/>
        </p:nvSpPr>
        <p:spPr>
          <a:xfrm>
            <a:off x="1828800" y="3398520"/>
            <a:ext cx="10071100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微波 / 无线电波</a:t>
            </a:r>
            <a:endParaRPr lang="en-US" sz="2000" b="1" dirty="0">
              <a:solidFill>
                <a:srgbClr val="4A90E2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828800" y="3886200"/>
            <a:ext cx="10045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4G/5G/Wi-Fi主力，覆盖与容量平衡。</a:t>
            </a: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1066800" y="4445000"/>
            <a:ext cx="10871200" cy="914400"/>
          </a:xfrm>
          <a:custGeom>
            <a:avLst/>
            <a:gdLst/>
            <a:ahLst/>
            <a:cxnLst/>
            <a:rect l="l" t="t" r="r" b="b"/>
            <a:pathLst>
              <a:path w="10871200" h="914400">
                <a:moveTo>
                  <a:pt x="101599" y="0"/>
                </a:moveTo>
                <a:lnTo>
                  <a:pt x="10769601" y="0"/>
                </a:lnTo>
                <a:cubicBezTo>
                  <a:pt x="10825713" y="0"/>
                  <a:pt x="10871200" y="45487"/>
                  <a:pt x="10871200" y="101599"/>
                </a:cubicBezTo>
                <a:lnTo>
                  <a:pt x="10871200" y="812801"/>
                </a:lnTo>
                <a:cubicBezTo>
                  <a:pt x="10871200" y="868913"/>
                  <a:pt x="10825713" y="914400"/>
                  <a:pt x="107696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ADD8E6">
              <a:alpha val="50196"/>
            </a:srgbClr>
          </a:solidFill>
          <a:effectLst>
            <a:outerShdw blurRad="38100" dist="127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1414463" y="4711700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214313" y="71438"/>
                </a:moveTo>
                <a:cubicBezTo>
                  <a:pt x="146670" y="71438"/>
                  <a:pt x="85427" y="98227"/>
                  <a:pt x="40407" y="141833"/>
                </a:cubicBezTo>
                <a:cubicBezTo>
                  <a:pt x="30956" y="150986"/>
                  <a:pt x="15850" y="150763"/>
                  <a:pt x="6772" y="141312"/>
                </a:cubicBezTo>
                <a:cubicBezTo>
                  <a:pt x="-2307" y="131862"/>
                  <a:pt x="-2158" y="116756"/>
                  <a:pt x="7293" y="107677"/>
                </a:cubicBezTo>
                <a:cubicBezTo>
                  <a:pt x="60796" y="55736"/>
                  <a:pt x="133871" y="23812"/>
                  <a:pt x="214313" y="23812"/>
                </a:cubicBezTo>
                <a:cubicBezTo>
                  <a:pt x="294754" y="23812"/>
                  <a:pt x="367829" y="55736"/>
                  <a:pt x="421407" y="107677"/>
                </a:cubicBezTo>
                <a:cubicBezTo>
                  <a:pt x="430857" y="116830"/>
                  <a:pt x="431081" y="131936"/>
                  <a:pt x="421928" y="141312"/>
                </a:cubicBezTo>
                <a:cubicBezTo>
                  <a:pt x="412775" y="150688"/>
                  <a:pt x="397669" y="150986"/>
                  <a:pt x="388293" y="141833"/>
                </a:cubicBezTo>
                <a:cubicBezTo>
                  <a:pt x="343198" y="98227"/>
                  <a:pt x="281955" y="71438"/>
                  <a:pt x="214313" y="71438"/>
                </a:cubicBezTo>
                <a:close/>
                <a:moveTo>
                  <a:pt x="178594" y="321469"/>
                </a:moveTo>
                <a:cubicBezTo>
                  <a:pt x="178594" y="301755"/>
                  <a:pt x="194599" y="285750"/>
                  <a:pt x="214313" y="285750"/>
                </a:cubicBezTo>
                <a:cubicBezTo>
                  <a:pt x="234026" y="285750"/>
                  <a:pt x="250031" y="301755"/>
                  <a:pt x="250031" y="321469"/>
                </a:cubicBezTo>
                <a:cubicBezTo>
                  <a:pt x="250031" y="341182"/>
                  <a:pt x="234026" y="357188"/>
                  <a:pt x="214313" y="357188"/>
                </a:cubicBezTo>
                <a:cubicBezTo>
                  <a:pt x="194599" y="357188"/>
                  <a:pt x="178594" y="341182"/>
                  <a:pt x="178594" y="321469"/>
                </a:cubicBezTo>
                <a:close/>
                <a:moveTo>
                  <a:pt x="125016" y="242739"/>
                </a:moveTo>
                <a:cubicBezTo>
                  <a:pt x="116309" y="252636"/>
                  <a:pt x="101278" y="253529"/>
                  <a:pt x="91380" y="244822"/>
                </a:cubicBezTo>
                <a:cubicBezTo>
                  <a:pt x="81483" y="236116"/>
                  <a:pt x="80590" y="221084"/>
                  <a:pt x="89297" y="211187"/>
                </a:cubicBezTo>
                <a:cubicBezTo>
                  <a:pt x="119807" y="176659"/>
                  <a:pt x="164529" y="154781"/>
                  <a:pt x="214313" y="154781"/>
                </a:cubicBezTo>
                <a:cubicBezTo>
                  <a:pt x="264096" y="154781"/>
                  <a:pt x="308818" y="176659"/>
                  <a:pt x="339328" y="211187"/>
                </a:cubicBezTo>
                <a:cubicBezTo>
                  <a:pt x="348035" y="221084"/>
                  <a:pt x="347067" y="236116"/>
                  <a:pt x="337245" y="244822"/>
                </a:cubicBezTo>
                <a:cubicBezTo>
                  <a:pt x="327422" y="253529"/>
                  <a:pt x="312316" y="252561"/>
                  <a:pt x="303609" y="242739"/>
                </a:cubicBezTo>
                <a:cubicBezTo>
                  <a:pt x="281732" y="217959"/>
                  <a:pt x="249882" y="202406"/>
                  <a:pt x="214313" y="202406"/>
                </a:cubicBezTo>
                <a:cubicBezTo>
                  <a:pt x="178743" y="202406"/>
                  <a:pt x="146893" y="217959"/>
                  <a:pt x="125016" y="242739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15" name="Text 12"/>
          <p:cNvSpPr/>
          <p:nvPr/>
        </p:nvSpPr>
        <p:spPr>
          <a:xfrm>
            <a:off x="2235200" y="4495800"/>
            <a:ext cx="96647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红外线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2235200" y="4953000"/>
            <a:ext cx="96393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短距离、高速率，如遥控器、IrDA。</a:t>
            </a: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203200" y="5562600"/>
            <a:ext cx="11785600" cy="1127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大气与建筑对</a:t>
            </a:r>
            <a:r>
              <a:rPr lang="en-US" sz="2400" dirty="0">
                <a:solidFill>
                  <a:srgbClr val="4A90E2"/>
                </a:solidFill>
                <a:highlight>
                  <a:srgbClr val="ADD8E6">
                    <a:alpha val="100000"/>
                  </a:srgbClr>
                </a:highligh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高频信号 </a:t>
            </a: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衰减严重。</a:t>
            </a:r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17" grpId="0"/>
      <p:bldP spid="17" grpId="1"/>
      <p:bldP spid="7" grpId="0"/>
      <p:bldP spid="7" grpId="1"/>
      <p:bldP spid="11" grpId="0"/>
      <p:bldP spid="11" grpId="1"/>
      <p:bldP spid="12" grpId="0"/>
      <p:bldP spid="12" grpId="1"/>
      <p:bldP spid="8" grpId="0"/>
      <p:bldP spid="8" grpId="1"/>
      <p:bldP spid="15" grpId="0"/>
      <p:bldP spid="15" grpId="1"/>
      <p:bldP spid="16" grpId="0"/>
      <p:bldP spid="16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1:00-d2tarl5nfo2stf9djj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7:31:00-d2tarl5nfo2stf9djj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7:31:00-d2tarl5nfo2stf9djjv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7:30:59-d2tarktnfo2stf9djjs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3128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F2F7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660717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复用技术组合拳</a:t>
            </a:r>
            <a:endParaRPr lang="en-US" sz="4400" dirty="0"/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Text 4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5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Text 6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7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5" name="Text 8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9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1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7" grpId="0"/>
      <p:bldP spid="7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9700" y="20320"/>
            <a:ext cx="11912600" cy="1503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经典复用范式：频分 vs. 时分</a:t>
            </a:r>
            <a:endParaRPr lang="en-US" sz="4800" dirty="0"/>
          </a:p>
        </p:txBody>
      </p:sp>
      <p:sp>
        <p:nvSpPr>
          <p:cNvPr id="4" name="Shape 1"/>
          <p:cNvSpPr/>
          <p:nvPr>
            <p:custDataLst>
              <p:tags r:id="rId2"/>
            </p:custDataLst>
          </p:nvPr>
        </p:nvSpPr>
        <p:spPr>
          <a:xfrm>
            <a:off x="254000" y="1930400"/>
            <a:ext cx="5638800" cy="3200400"/>
          </a:xfrm>
          <a:custGeom>
            <a:avLst/>
            <a:gdLst/>
            <a:ahLst/>
            <a:cxnLst/>
            <a:rect l="l" t="t" r="r" b="b"/>
            <a:pathLst>
              <a:path w="5638800" h="3200400">
                <a:moveTo>
                  <a:pt x="152403" y="0"/>
                </a:moveTo>
                <a:lnTo>
                  <a:pt x="5486397" y="0"/>
                </a:lnTo>
                <a:cubicBezTo>
                  <a:pt x="5570567" y="0"/>
                  <a:pt x="5638800" y="68233"/>
                  <a:pt x="5638800" y="152403"/>
                </a:cubicBezTo>
                <a:lnTo>
                  <a:pt x="5638800" y="3047997"/>
                </a:lnTo>
                <a:cubicBezTo>
                  <a:pt x="5638800" y="3132167"/>
                  <a:pt x="5570567" y="3200400"/>
                  <a:pt x="5486397" y="3200400"/>
                </a:cubicBezTo>
                <a:lnTo>
                  <a:pt x="152403" y="3200400"/>
                </a:lnTo>
                <a:cubicBezTo>
                  <a:pt x="68233" y="3200400"/>
                  <a:pt x="0" y="3132167"/>
                  <a:pt x="0" y="30479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ADD8E6">
              <a:alpha val="30196"/>
            </a:srgbClr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Text 2"/>
          <p:cNvSpPr/>
          <p:nvPr>
            <p:custDataLst>
              <p:tags r:id="rId3"/>
            </p:custDataLst>
          </p:nvPr>
        </p:nvSpPr>
        <p:spPr>
          <a:xfrm>
            <a:off x="482600" y="2235200"/>
            <a:ext cx="51816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频分复用 (FDM)</a:t>
            </a:r>
            <a:endParaRPr lang="en-US" sz="2800" dirty="0"/>
          </a:p>
        </p:txBody>
      </p:sp>
      <p:pic>
        <p:nvPicPr>
          <p:cNvPr id="6" name="Image 1" descr="https://kimi-web-img.moonshot.cn/img/img-blog.csdnimg.cn/e3fda160413127a0b3f68ceda73d9996b8821811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t="28481" b="28481"/>
          <a:stretch>
            <a:fillRect/>
          </a:stretch>
        </p:blipFill>
        <p:spPr>
          <a:xfrm>
            <a:off x="558800" y="2844800"/>
            <a:ext cx="5029200" cy="1219200"/>
          </a:xfrm>
          <a:prstGeom prst="roundRect">
            <a:avLst>
              <a:gd name="adj" fmla="val 0"/>
            </a:avLst>
          </a:prstGeom>
        </p:spPr>
      </p:pic>
      <p:sp>
        <p:nvSpPr>
          <p:cNvPr id="7" name="Text 3"/>
          <p:cNvSpPr/>
          <p:nvPr>
            <p:custDataLst>
              <p:tags r:id="rId6"/>
            </p:custDataLst>
          </p:nvPr>
        </p:nvSpPr>
        <p:spPr>
          <a:xfrm>
            <a:off x="508000" y="4165600"/>
            <a:ext cx="5130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按</a:t>
            </a: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频率</a:t>
            </a: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划分信道，如同广播频段。</a:t>
            </a:r>
            <a:endParaRPr lang="en-US" sz="2400" dirty="0"/>
          </a:p>
        </p:txBody>
      </p:sp>
      <p:sp>
        <p:nvSpPr>
          <p:cNvPr id="8" name="Text 4"/>
          <p:cNvSpPr/>
          <p:nvPr>
            <p:custDataLst>
              <p:tags r:id="rId7"/>
            </p:custDataLst>
          </p:nvPr>
        </p:nvSpPr>
        <p:spPr>
          <a:xfrm>
            <a:off x="514350" y="4572000"/>
            <a:ext cx="5118100" cy="568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适用于</a:t>
            </a:r>
            <a:r>
              <a:rPr lang="en-US" sz="2000" dirty="0">
                <a:solidFill>
                  <a:srgbClr val="333333"/>
                </a:solidFill>
                <a:highlight>
                  <a:srgbClr val="ADD8E6">
                    <a:alpha val="100000"/>
                  </a:srgbClr>
                </a:highligh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模拟信号 </a:t>
            </a: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。</a:t>
            </a:r>
            <a:endParaRPr lang="en-US" sz="2000" dirty="0"/>
          </a:p>
        </p:txBody>
      </p:sp>
      <p:sp>
        <p:nvSpPr>
          <p:cNvPr id="9" name="Shape 5"/>
          <p:cNvSpPr/>
          <p:nvPr>
            <p:custDataLst>
              <p:tags r:id="rId8"/>
            </p:custDataLst>
          </p:nvPr>
        </p:nvSpPr>
        <p:spPr>
          <a:xfrm>
            <a:off x="6299200" y="1930400"/>
            <a:ext cx="5638800" cy="3200400"/>
          </a:xfrm>
          <a:custGeom>
            <a:avLst/>
            <a:gdLst/>
            <a:ahLst/>
            <a:cxnLst/>
            <a:rect l="l" t="t" r="r" b="b"/>
            <a:pathLst>
              <a:path w="5638800" h="3200400">
                <a:moveTo>
                  <a:pt x="152403" y="0"/>
                </a:moveTo>
                <a:lnTo>
                  <a:pt x="5486397" y="0"/>
                </a:lnTo>
                <a:cubicBezTo>
                  <a:pt x="5570567" y="0"/>
                  <a:pt x="5638800" y="68233"/>
                  <a:pt x="5638800" y="152403"/>
                </a:cubicBezTo>
                <a:lnTo>
                  <a:pt x="5638800" y="3047997"/>
                </a:lnTo>
                <a:cubicBezTo>
                  <a:pt x="5638800" y="3132167"/>
                  <a:pt x="5570567" y="3200400"/>
                  <a:pt x="5486397" y="3200400"/>
                </a:cubicBezTo>
                <a:lnTo>
                  <a:pt x="152403" y="3200400"/>
                </a:lnTo>
                <a:cubicBezTo>
                  <a:pt x="68233" y="3200400"/>
                  <a:pt x="0" y="3132167"/>
                  <a:pt x="0" y="30479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7484DF">
              <a:alpha val="30196"/>
            </a:srgbClr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0" name="Text 6"/>
          <p:cNvSpPr/>
          <p:nvPr>
            <p:custDataLst>
              <p:tags r:id="rId9"/>
            </p:custDataLst>
          </p:nvPr>
        </p:nvSpPr>
        <p:spPr>
          <a:xfrm>
            <a:off x="6527800" y="2235200"/>
            <a:ext cx="51816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800" b="1" dirty="0">
                <a:solidFill>
                  <a:srgbClr val="7484D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时分复用 (TDM)</a:t>
            </a:r>
            <a:endParaRPr lang="en-US" sz="2800" dirty="0"/>
          </a:p>
        </p:txBody>
      </p:sp>
      <p:pic>
        <p:nvPicPr>
          <p:cNvPr id="11" name="Image 2" descr="https://kimi-web-img.moonshot.cn/img/time.is/c486468863c7ab1211e73af2c3577bea4c5c5e2a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rcRect t="25758" b="25758"/>
          <a:stretch>
            <a:fillRect/>
          </a:stretch>
        </p:blipFill>
        <p:spPr>
          <a:xfrm>
            <a:off x="6604000" y="2844800"/>
            <a:ext cx="5029200" cy="1219200"/>
          </a:xfrm>
          <a:prstGeom prst="roundRect">
            <a:avLst>
              <a:gd name="adj" fmla="val 0"/>
            </a:avLst>
          </a:prstGeom>
        </p:spPr>
      </p:pic>
      <p:sp>
        <p:nvSpPr>
          <p:cNvPr id="12" name="Text 7"/>
          <p:cNvSpPr/>
          <p:nvPr>
            <p:custDataLst>
              <p:tags r:id="rId12"/>
            </p:custDataLst>
          </p:nvPr>
        </p:nvSpPr>
        <p:spPr>
          <a:xfrm>
            <a:off x="6553200" y="4165600"/>
            <a:ext cx="5130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按</a:t>
            </a: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时间</a:t>
            </a: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划分信道，轮流使用。</a:t>
            </a:r>
            <a:endParaRPr lang="en-US" sz="2400" dirty="0"/>
          </a:p>
        </p:txBody>
      </p:sp>
      <p:sp>
        <p:nvSpPr>
          <p:cNvPr id="13" name="Text 8"/>
          <p:cNvSpPr/>
          <p:nvPr>
            <p:custDataLst>
              <p:tags r:id="rId13"/>
            </p:custDataLst>
          </p:nvPr>
        </p:nvSpPr>
        <p:spPr>
          <a:xfrm>
            <a:off x="6559550" y="4572000"/>
            <a:ext cx="5118100" cy="528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适用于</a:t>
            </a:r>
            <a:r>
              <a:rPr lang="en-US" sz="2000" dirty="0">
                <a:solidFill>
                  <a:srgbClr val="FFFFFF"/>
                </a:solidFill>
                <a:highlight>
                  <a:srgbClr val="7484DF">
                    <a:alpha val="100000"/>
                  </a:srgbClr>
                </a:highligh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数字信号 </a:t>
            </a: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。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203200" y="5537200"/>
            <a:ext cx="11785600" cy="1259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让同一媒体跑多路信号，但固定分配可能造成</a:t>
            </a:r>
            <a:r>
              <a:rPr lang="en-US" sz="2400" dirty="0">
                <a:solidFill>
                  <a:srgbClr val="4A90E2"/>
                </a:solidFill>
                <a:highlight>
                  <a:srgbClr val="ADD8E6">
                    <a:alpha val="100000"/>
                  </a:srgbClr>
                </a:highligh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资源浪费 </a:t>
            </a: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。</a:t>
            </a:r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10" grpId="0"/>
      <p:bldP spid="10" grpId="1"/>
      <p:bldP spid="5" grpId="0"/>
      <p:bldP spid="5" grpId="1"/>
      <p:bldP spid="8" grpId="0"/>
      <p:bldP spid="8" grpId="1"/>
      <p:bldP spid="12" grpId="0"/>
      <p:bldP spid="12" grpId="1"/>
      <p:bldP spid="13" grpId="0"/>
      <p:bldP spid="13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9700" y="46355"/>
            <a:ext cx="11912600" cy="19094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高阶复用三连击：从静态到智能</a:t>
            </a:r>
            <a:endParaRPr lang="en-US" sz="4800" dirty="0"/>
          </a:p>
        </p:txBody>
      </p:sp>
      <p:sp>
        <p:nvSpPr>
          <p:cNvPr id="4" name="Shape 1"/>
          <p:cNvSpPr/>
          <p:nvPr/>
        </p:nvSpPr>
        <p:spPr>
          <a:xfrm>
            <a:off x="1358900" y="25654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ADD8E6">
              <a:alpha val="50196"/>
            </a:srgbClr>
          </a:solidFill>
        </p:spPr>
      </p:sp>
      <p:sp>
        <p:nvSpPr>
          <p:cNvPr id="5" name="Shape 2"/>
          <p:cNvSpPr/>
          <p:nvPr/>
        </p:nvSpPr>
        <p:spPr>
          <a:xfrm>
            <a:off x="1638300" y="2844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9479" y="32415"/>
                </a:moveTo>
                <a:cubicBezTo>
                  <a:pt x="129213" y="39201"/>
                  <a:pt x="131534" y="52596"/>
                  <a:pt x="124748" y="62240"/>
                </a:cubicBezTo>
                <a:lnTo>
                  <a:pt x="74741" y="133677"/>
                </a:lnTo>
                <a:cubicBezTo>
                  <a:pt x="71080" y="138857"/>
                  <a:pt x="65365" y="142161"/>
                  <a:pt x="59025" y="142696"/>
                </a:cubicBezTo>
                <a:cubicBezTo>
                  <a:pt x="52685" y="143232"/>
                  <a:pt x="46434" y="141089"/>
                  <a:pt x="41970" y="136624"/>
                </a:cubicBezTo>
                <a:lnTo>
                  <a:pt x="6251" y="100905"/>
                </a:lnTo>
                <a:cubicBezTo>
                  <a:pt x="-2054" y="92512"/>
                  <a:pt x="-2054" y="78938"/>
                  <a:pt x="6251" y="70545"/>
                </a:cubicBezTo>
                <a:cubicBezTo>
                  <a:pt x="14555" y="62151"/>
                  <a:pt x="28218" y="62240"/>
                  <a:pt x="36612" y="70545"/>
                </a:cubicBezTo>
                <a:lnTo>
                  <a:pt x="54293" y="88225"/>
                </a:lnTo>
                <a:lnTo>
                  <a:pt x="89654" y="37683"/>
                </a:lnTo>
                <a:cubicBezTo>
                  <a:pt x="96441" y="27950"/>
                  <a:pt x="109835" y="25628"/>
                  <a:pt x="119479" y="32415"/>
                </a:cubicBezTo>
                <a:close/>
                <a:moveTo>
                  <a:pt x="119479" y="175290"/>
                </a:moveTo>
                <a:cubicBezTo>
                  <a:pt x="129213" y="182076"/>
                  <a:pt x="131534" y="195471"/>
                  <a:pt x="124748" y="205115"/>
                </a:cubicBezTo>
                <a:lnTo>
                  <a:pt x="74741" y="276552"/>
                </a:lnTo>
                <a:cubicBezTo>
                  <a:pt x="71080" y="281732"/>
                  <a:pt x="65365" y="285036"/>
                  <a:pt x="59025" y="285571"/>
                </a:cubicBezTo>
                <a:cubicBezTo>
                  <a:pt x="52685" y="286107"/>
                  <a:pt x="46434" y="283964"/>
                  <a:pt x="41970" y="279499"/>
                </a:cubicBezTo>
                <a:lnTo>
                  <a:pt x="6251" y="243780"/>
                </a:lnTo>
                <a:cubicBezTo>
                  <a:pt x="-2143" y="235387"/>
                  <a:pt x="-2143" y="221813"/>
                  <a:pt x="6251" y="213509"/>
                </a:cubicBezTo>
                <a:cubicBezTo>
                  <a:pt x="14645" y="205204"/>
                  <a:pt x="28218" y="205115"/>
                  <a:pt x="36522" y="213509"/>
                </a:cubicBezTo>
                <a:lnTo>
                  <a:pt x="54203" y="231190"/>
                </a:lnTo>
                <a:lnTo>
                  <a:pt x="89565" y="180648"/>
                </a:lnTo>
                <a:cubicBezTo>
                  <a:pt x="96351" y="170914"/>
                  <a:pt x="109746" y="168592"/>
                  <a:pt x="119390" y="175379"/>
                </a:cubicBezTo>
                <a:close/>
                <a:moveTo>
                  <a:pt x="200025" y="85725"/>
                </a:moveTo>
                <a:cubicBezTo>
                  <a:pt x="200025" y="69919"/>
                  <a:pt x="212794" y="57150"/>
                  <a:pt x="228600" y="57150"/>
                </a:cubicBezTo>
                <a:lnTo>
                  <a:pt x="428625" y="57150"/>
                </a:lnTo>
                <a:cubicBezTo>
                  <a:pt x="444431" y="57150"/>
                  <a:pt x="457200" y="69919"/>
                  <a:pt x="457200" y="85725"/>
                </a:cubicBezTo>
                <a:cubicBezTo>
                  <a:pt x="457200" y="101531"/>
                  <a:pt x="444431" y="114300"/>
                  <a:pt x="428625" y="114300"/>
                </a:cubicBezTo>
                <a:lnTo>
                  <a:pt x="228600" y="114300"/>
                </a:lnTo>
                <a:cubicBezTo>
                  <a:pt x="212794" y="114300"/>
                  <a:pt x="200025" y="101531"/>
                  <a:pt x="200025" y="85725"/>
                </a:cubicBezTo>
                <a:close/>
                <a:moveTo>
                  <a:pt x="200025" y="228600"/>
                </a:moveTo>
                <a:cubicBezTo>
                  <a:pt x="200025" y="212794"/>
                  <a:pt x="212794" y="200025"/>
                  <a:pt x="228600" y="200025"/>
                </a:cubicBezTo>
                <a:lnTo>
                  <a:pt x="428625" y="200025"/>
                </a:lnTo>
                <a:cubicBezTo>
                  <a:pt x="444431" y="200025"/>
                  <a:pt x="457200" y="212794"/>
                  <a:pt x="457200" y="228600"/>
                </a:cubicBezTo>
                <a:cubicBezTo>
                  <a:pt x="457200" y="244406"/>
                  <a:pt x="444431" y="257175"/>
                  <a:pt x="428625" y="257175"/>
                </a:cubicBezTo>
                <a:lnTo>
                  <a:pt x="228600" y="257175"/>
                </a:lnTo>
                <a:cubicBezTo>
                  <a:pt x="212794" y="257175"/>
                  <a:pt x="200025" y="244406"/>
                  <a:pt x="200025" y="228600"/>
                </a:cubicBezTo>
                <a:close/>
                <a:moveTo>
                  <a:pt x="142875" y="371475"/>
                </a:moveTo>
                <a:cubicBezTo>
                  <a:pt x="142875" y="355669"/>
                  <a:pt x="155644" y="342900"/>
                  <a:pt x="171450" y="342900"/>
                </a:cubicBezTo>
                <a:lnTo>
                  <a:pt x="428625" y="342900"/>
                </a:lnTo>
                <a:cubicBezTo>
                  <a:pt x="444431" y="342900"/>
                  <a:pt x="457200" y="355669"/>
                  <a:pt x="457200" y="371475"/>
                </a:cubicBezTo>
                <a:cubicBezTo>
                  <a:pt x="457200" y="387281"/>
                  <a:pt x="444431" y="400050"/>
                  <a:pt x="428625" y="400050"/>
                </a:cubicBezTo>
                <a:lnTo>
                  <a:pt x="171450" y="400050"/>
                </a:lnTo>
                <a:cubicBezTo>
                  <a:pt x="155644" y="400050"/>
                  <a:pt x="142875" y="387281"/>
                  <a:pt x="142875" y="371475"/>
                </a:cubicBezTo>
                <a:close/>
                <a:moveTo>
                  <a:pt x="57150" y="335756"/>
                </a:moveTo>
                <a:cubicBezTo>
                  <a:pt x="76864" y="335756"/>
                  <a:pt x="92869" y="351761"/>
                  <a:pt x="92869" y="371475"/>
                </a:cubicBezTo>
                <a:cubicBezTo>
                  <a:pt x="92869" y="391189"/>
                  <a:pt x="76864" y="407194"/>
                  <a:pt x="57150" y="407194"/>
                </a:cubicBezTo>
                <a:cubicBezTo>
                  <a:pt x="37436" y="407194"/>
                  <a:pt x="21431" y="391189"/>
                  <a:pt x="21431" y="371475"/>
                </a:cubicBezTo>
                <a:cubicBezTo>
                  <a:pt x="21431" y="351761"/>
                  <a:pt x="37436" y="335756"/>
                  <a:pt x="57150" y="335756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6" name="Text 3"/>
          <p:cNvSpPr/>
          <p:nvPr>
            <p:custDataLst>
              <p:tags r:id="rId2"/>
            </p:custDataLst>
          </p:nvPr>
        </p:nvSpPr>
        <p:spPr>
          <a:xfrm>
            <a:off x="1416447" y="3733800"/>
            <a:ext cx="9017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STDM</a:t>
            </a:r>
            <a:endParaRPr lang="en-US" sz="2400" dirty="0"/>
          </a:p>
        </p:txBody>
      </p:sp>
      <p:sp>
        <p:nvSpPr>
          <p:cNvPr id="7" name="Text 4"/>
          <p:cNvSpPr/>
          <p:nvPr>
            <p:custDataLst>
              <p:tags r:id="rId3"/>
            </p:custDataLst>
          </p:nvPr>
        </p:nvSpPr>
        <p:spPr>
          <a:xfrm>
            <a:off x="666750" y="4191000"/>
            <a:ext cx="2400300" cy="802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动态分配时隙，提升利用率。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3479800" y="3479800"/>
            <a:ext cx="1003300" cy="50800"/>
          </a:xfrm>
          <a:custGeom>
            <a:avLst/>
            <a:gdLst/>
            <a:ahLst/>
            <a:cxnLst/>
            <a:rect l="l" t="t" r="r" b="b"/>
            <a:pathLst>
              <a:path w="1003300" h="50800">
                <a:moveTo>
                  <a:pt x="0" y="0"/>
                </a:moveTo>
                <a:lnTo>
                  <a:pt x="1003300" y="0"/>
                </a:lnTo>
                <a:lnTo>
                  <a:pt x="10033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ADD8E6"/>
              </a:gs>
              <a:gs pos="100000">
                <a:srgbClr val="7484DF"/>
              </a:gs>
            </a:gsLst>
            <a:lin ang="0" scaled="1"/>
          </a:gradFill>
        </p:spPr>
      </p:sp>
      <p:sp>
        <p:nvSpPr>
          <p:cNvPr id="9" name="Shape 6"/>
          <p:cNvSpPr/>
          <p:nvPr/>
        </p:nvSpPr>
        <p:spPr>
          <a:xfrm>
            <a:off x="5486400" y="24638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ADD8E6">
              <a:alpha val="70196"/>
            </a:srgbClr>
          </a:solidFill>
        </p:spPr>
      </p:sp>
      <p:sp>
        <p:nvSpPr>
          <p:cNvPr id="10" name="Shape 7"/>
          <p:cNvSpPr/>
          <p:nvPr/>
        </p:nvSpPr>
        <p:spPr>
          <a:xfrm>
            <a:off x="5791200" y="2768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8462" y="272058"/>
                </a:moveTo>
                <a:cubicBezTo>
                  <a:pt x="94298" y="161330"/>
                  <a:pt x="189667" y="76200"/>
                  <a:pt x="304800" y="76200"/>
                </a:cubicBezTo>
                <a:cubicBezTo>
                  <a:pt x="367903" y="76200"/>
                  <a:pt x="425053" y="101798"/>
                  <a:pt x="466487" y="143113"/>
                </a:cubicBezTo>
                <a:cubicBezTo>
                  <a:pt x="466725" y="143351"/>
                  <a:pt x="466963" y="143589"/>
                  <a:pt x="467201" y="143828"/>
                </a:cubicBezTo>
                <a:lnTo>
                  <a:pt x="476250" y="152400"/>
                </a:lnTo>
                <a:lnTo>
                  <a:pt x="419219" y="152400"/>
                </a:lnTo>
                <a:cubicBezTo>
                  <a:pt x="398145" y="152400"/>
                  <a:pt x="381119" y="169426"/>
                  <a:pt x="381119" y="190500"/>
                </a:cubicBezTo>
                <a:cubicBezTo>
                  <a:pt x="381119" y="211574"/>
                  <a:pt x="398145" y="228600"/>
                  <a:pt x="419219" y="228600"/>
                </a:cubicBezTo>
                <a:lnTo>
                  <a:pt x="571619" y="228600"/>
                </a:lnTo>
                <a:cubicBezTo>
                  <a:pt x="592693" y="228600"/>
                  <a:pt x="609719" y="211574"/>
                  <a:pt x="609719" y="190500"/>
                </a:cubicBezTo>
                <a:lnTo>
                  <a:pt x="609719" y="38100"/>
                </a:lnTo>
                <a:cubicBezTo>
                  <a:pt x="609719" y="17026"/>
                  <a:pt x="592693" y="0"/>
                  <a:pt x="571619" y="0"/>
                </a:cubicBezTo>
                <a:cubicBezTo>
                  <a:pt x="550545" y="0"/>
                  <a:pt x="533519" y="17026"/>
                  <a:pt x="533519" y="38100"/>
                </a:cubicBezTo>
                <a:lnTo>
                  <a:pt x="533519" y="101679"/>
                </a:lnTo>
                <a:lnTo>
                  <a:pt x="520065" y="88940"/>
                </a:lnTo>
                <a:cubicBezTo>
                  <a:pt x="464939" y="34052"/>
                  <a:pt x="388739" y="0"/>
                  <a:pt x="304800" y="0"/>
                </a:cubicBezTo>
                <a:cubicBezTo>
                  <a:pt x="151209" y="0"/>
                  <a:pt x="24170" y="113586"/>
                  <a:pt x="3096" y="261342"/>
                </a:cubicBezTo>
                <a:cubicBezTo>
                  <a:pt x="119" y="282178"/>
                  <a:pt x="14526" y="301466"/>
                  <a:pt x="35362" y="304443"/>
                </a:cubicBezTo>
                <a:cubicBezTo>
                  <a:pt x="56198" y="307419"/>
                  <a:pt x="75486" y="292894"/>
                  <a:pt x="78462" y="272177"/>
                </a:cubicBezTo>
                <a:close/>
                <a:moveTo>
                  <a:pt x="606504" y="348258"/>
                </a:moveTo>
                <a:cubicBezTo>
                  <a:pt x="609481" y="327422"/>
                  <a:pt x="594955" y="308134"/>
                  <a:pt x="574238" y="305157"/>
                </a:cubicBezTo>
                <a:cubicBezTo>
                  <a:pt x="553522" y="302181"/>
                  <a:pt x="534114" y="316706"/>
                  <a:pt x="531138" y="337423"/>
                </a:cubicBezTo>
                <a:cubicBezTo>
                  <a:pt x="515302" y="448151"/>
                  <a:pt x="419933" y="533281"/>
                  <a:pt x="304800" y="533281"/>
                </a:cubicBezTo>
                <a:cubicBezTo>
                  <a:pt x="241697" y="533281"/>
                  <a:pt x="184547" y="507683"/>
                  <a:pt x="143113" y="466368"/>
                </a:cubicBezTo>
                <a:cubicBezTo>
                  <a:pt x="142875" y="466130"/>
                  <a:pt x="142637" y="465892"/>
                  <a:pt x="142399" y="465653"/>
                </a:cubicBezTo>
                <a:lnTo>
                  <a:pt x="133350" y="457081"/>
                </a:lnTo>
                <a:lnTo>
                  <a:pt x="190381" y="457081"/>
                </a:lnTo>
                <a:cubicBezTo>
                  <a:pt x="211455" y="457081"/>
                  <a:pt x="228481" y="440055"/>
                  <a:pt x="228481" y="418981"/>
                </a:cubicBezTo>
                <a:cubicBezTo>
                  <a:pt x="228481" y="397907"/>
                  <a:pt x="211455" y="380881"/>
                  <a:pt x="190381" y="380881"/>
                </a:cubicBezTo>
                <a:lnTo>
                  <a:pt x="38100" y="381000"/>
                </a:lnTo>
                <a:cubicBezTo>
                  <a:pt x="27980" y="381000"/>
                  <a:pt x="18217" y="385048"/>
                  <a:pt x="11073" y="392311"/>
                </a:cubicBezTo>
                <a:cubicBezTo>
                  <a:pt x="3929" y="399574"/>
                  <a:pt x="-119" y="409218"/>
                  <a:pt x="0" y="419457"/>
                </a:cubicBezTo>
                <a:lnTo>
                  <a:pt x="1191" y="570667"/>
                </a:lnTo>
                <a:cubicBezTo>
                  <a:pt x="1310" y="591741"/>
                  <a:pt x="18574" y="608647"/>
                  <a:pt x="39648" y="608409"/>
                </a:cubicBezTo>
                <a:cubicBezTo>
                  <a:pt x="60722" y="608171"/>
                  <a:pt x="77629" y="591026"/>
                  <a:pt x="77391" y="569952"/>
                </a:cubicBezTo>
                <a:lnTo>
                  <a:pt x="76914" y="508635"/>
                </a:lnTo>
                <a:lnTo>
                  <a:pt x="89654" y="520660"/>
                </a:lnTo>
                <a:cubicBezTo>
                  <a:pt x="144780" y="575548"/>
                  <a:pt x="220861" y="609600"/>
                  <a:pt x="304800" y="609600"/>
                </a:cubicBezTo>
                <a:cubicBezTo>
                  <a:pt x="458391" y="609600"/>
                  <a:pt x="585430" y="496014"/>
                  <a:pt x="606504" y="348258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11" name="Text 8"/>
          <p:cNvSpPr/>
          <p:nvPr>
            <p:custDataLst>
              <p:tags r:id="rId4"/>
            </p:custDataLst>
          </p:nvPr>
        </p:nvSpPr>
        <p:spPr>
          <a:xfrm>
            <a:off x="5664597" y="3835400"/>
            <a:ext cx="8636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WDM</a:t>
            </a:r>
            <a:endParaRPr lang="en-US" sz="2400" dirty="0"/>
          </a:p>
        </p:txBody>
      </p:sp>
      <p:sp>
        <p:nvSpPr>
          <p:cNvPr id="12" name="Text 9"/>
          <p:cNvSpPr/>
          <p:nvPr>
            <p:custDataLst>
              <p:tags r:id="rId5"/>
            </p:custDataLst>
          </p:nvPr>
        </p:nvSpPr>
        <p:spPr>
          <a:xfrm>
            <a:off x="4764405" y="4292600"/>
            <a:ext cx="2667000" cy="6597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光的FDM，实现Tb级光纤扩容。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7708900" y="3479800"/>
            <a:ext cx="1003300" cy="50800"/>
          </a:xfrm>
          <a:custGeom>
            <a:avLst/>
            <a:gdLst/>
            <a:ahLst/>
            <a:cxnLst/>
            <a:rect l="l" t="t" r="r" b="b"/>
            <a:pathLst>
              <a:path w="1003300" h="50800">
                <a:moveTo>
                  <a:pt x="0" y="0"/>
                </a:moveTo>
                <a:lnTo>
                  <a:pt x="1003300" y="0"/>
                </a:lnTo>
                <a:lnTo>
                  <a:pt x="10033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7484DF"/>
              </a:gs>
              <a:gs pos="100000">
                <a:srgbClr val="ADD8E6"/>
              </a:gs>
            </a:gsLst>
            <a:lin ang="0" scaled="1"/>
          </a:gradFill>
        </p:spPr>
      </p:sp>
      <p:sp>
        <p:nvSpPr>
          <p:cNvPr id="14" name="Shape 11"/>
          <p:cNvSpPr/>
          <p:nvPr/>
        </p:nvSpPr>
        <p:spPr>
          <a:xfrm>
            <a:off x="9613900" y="2362200"/>
            <a:ext cx="1422400" cy="1422400"/>
          </a:xfrm>
          <a:custGeom>
            <a:avLst/>
            <a:gdLst/>
            <a:ahLst/>
            <a:cxnLst/>
            <a:rect l="l" t="t" r="r" b="b"/>
            <a:pathLst>
              <a:path w="1422400" h="1422400">
                <a:moveTo>
                  <a:pt x="711200" y="0"/>
                </a:moveTo>
                <a:lnTo>
                  <a:pt x="711200" y="0"/>
                </a:lnTo>
                <a:cubicBezTo>
                  <a:pt x="1103722" y="0"/>
                  <a:pt x="1422400" y="318678"/>
                  <a:pt x="1422400" y="711200"/>
                </a:cubicBezTo>
                <a:lnTo>
                  <a:pt x="1422400" y="711200"/>
                </a:lnTo>
                <a:cubicBezTo>
                  <a:pt x="1422400" y="1103722"/>
                  <a:pt x="1103722" y="1422400"/>
                  <a:pt x="711200" y="1422400"/>
                </a:cubicBezTo>
                <a:lnTo>
                  <a:pt x="711200" y="1422400"/>
                </a:lnTo>
                <a:cubicBezTo>
                  <a:pt x="318678" y="1422400"/>
                  <a:pt x="0" y="1103722"/>
                  <a:pt x="0" y="711200"/>
                </a:cubicBezTo>
                <a:lnTo>
                  <a:pt x="0" y="711200"/>
                </a:lnTo>
                <a:cubicBezTo>
                  <a:pt x="0" y="318678"/>
                  <a:pt x="318678" y="0"/>
                  <a:pt x="711200" y="0"/>
                </a:cubicBezTo>
                <a:close/>
              </a:path>
            </a:pathLst>
          </a:custGeom>
          <a:solidFill>
            <a:srgbClr val="7484DF">
              <a:alpha val="80000"/>
            </a:srgbClr>
          </a:solidFill>
        </p:spPr>
      </p:sp>
      <p:sp>
        <p:nvSpPr>
          <p:cNvPr id="15" name="Shape 12"/>
          <p:cNvSpPr/>
          <p:nvPr/>
        </p:nvSpPr>
        <p:spPr>
          <a:xfrm>
            <a:off x="9991725" y="2692400"/>
            <a:ext cx="666750" cy="762000"/>
          </a:xfrm>
          <a:custGeom>
            <a:avLst/>
            <a:gdLst/>
            <a:ahLst/>
            <a:cxnLst/>
            <a:rect l="l" t="t" r="r" b="b"/>
            <a:pathLst>
              <a:path w="666750" h="762000">
                <a:moveTo>
                  <a:pt x="95250" y="238125"/>
                </a:moveTo>
                <a:lnTo>
                  <a:pt x="190500" y="238125"/>
                </a:lnTo>
                <a:lnTo>
                  <a:pt x="190500" y="142875"/>
                </a:lnTo>
                <a:lnTo>
                  <a:pt x="95250" y="142875"/>
                </a:lnTo>
                <a:lnTo>
                  <a:pt x="95250" y="238125"/>
                </a:lnTo>
                <a:close/>
                <a:moveTo>
                  <a:pt x="0" y="119063"/>
                </a:moveTo>
                <a:cubicBezTo>
                  <a:pt x="0" y="79623"/>
                  <a:pt x="31998" y="47625"/>
                  <a:pt x="71438" y="47625"/>
                </a:cubicBezTo>
                <a:lnTo>
                  <a:pt x="214313" y="47625"/>
                </a:lnTo>
                <a:cubicBezTo>
                  <a:pt x="253752" y="47625"/>
                  <a:pt x="285750" y="79623"/>
                  <a:pt x="285750" y="119063"/>
                </a:cubicBezTo>
                <a:lnTo>
                  <a:pt x="285750" y="261938"/>
                </a:lnTo>
                <a:cubicBezTo>
                  <a:pt x="285750" y="301377"/>
                  <a:pt x="253752" y="333375"/>
                  <a:pt x="214313" y="333375"/>
                </a:cubicBezTo>
                <a:lnTo>
                  <a:pt x="71438" y="333375"/>
                </a:lnTo>
                <a:cubicBezTo>
                  <a:pt x="31998" y="333375"/>
                  <a:pt x="0" y="301377"/>
                  <a:pt x="0" y="261938"/>
                </a:cubicBezTo>
                <a:lnTo>
                  <a:pt x="0" y="119063"/>
                </a:lnTo>
                <a:close/>
                <a:moveTo>
                  <a:pt x="95250" y="619125"/>
                </a:moveTo>
                <a:lnTo>
                  <a:pt x="190500" y="619125"/>
                </a:lnTo>
                <a:lnTo>
                  <a:pt x="190500" y="523875"/>
                </a:lnTo>
                <a:lnTo>
                  <a:pt x="95250" y="523875"/>
                </a:lnTo>
                <a:lnTo>
                  <a:pt x="95250" y="619125"/>
                </a:lnTo>
                <a:close/>
                <a:moveTo>
                  <a:pt x="0" y="500063"/>
                </a:moveTo>
                <a:cubicBezTo>
                  <a:pt x="0" y="460623"/>
                  <a:pt x="31998" y="428625"/>
                  <a:pt x="71438" y="428625"/>
                </a:cubicBezTo>
                <a:lnTo>
                  <a:pt x="214313" y="428625"/>
                </a:lnTo>
                <a:cubicBezTo>
                  <a:pt x="253752" y="428625"/>
                  <a:pt x="285750" y="460623"/>
                  <a:pt x="285750" y="500063"/>
                </a:cubicBezTo>
                <a:lnTo>
                  <a:pt x="285750" y="642938"/>
                </a:lnTo>
                <a:cubicBezTo>
                  <a:pt x="285750" y="682377"/>
                  <a:pt x="253752" y="714375"/>
                  <a:pt x="214313" y="714375"/>
                </a:cubicBezTo>
                <a:lnTo>
                  <a:pt x="71438" y="714375"/>
                </a:lnTo>
                <a:cubicBezTo>
                  <a:pt x="31998" y="714375"/>
                  <a:pt x="0" y="682377"/>
                  <a:pt x="0" y="642938"/>
                </a:cubicBezTo>
                <a:lnTo>
                  <a:pt x="0" y="500063"/>
                </a:lnTo>
                <a:close/>
                <a:moveTo>
                  <a:pt x="476250" y="142875"/>
                </a:moveTo>
                <a:lnTo>
                  <a:pt x="476250" y="238125"/>
                </a:lnTo>
                <a:lnTo>
                  <a:pt x="571500" y="238125"/>
                </a:lnTo>
                <a:lnTo>
                  <a:pt x="571500" y="142875"/>
                </a:lnTo>
                <a:lnTo>
                  <a:pt x="476250" y="142875"/>
                </a:lnTo>
                <a:close/>
                <a:moveTo>
                  <a:pt x="452438" y="47625"/>
                </a:moveTo>
                <a:lnTo>
                  <a:pt x="595313" y="47625"/>
                </a:lnTo>
                <a:cubicBezTo>
                  <a:pt x="634752" y="47625"/>
                  <a:pt x="666750" y="79623"/>
                  <a:pt x="666750" y="119063"/>
                </a:cubicBezTo>
                <a:lnTo>
                  <a:pt x="666750" y="261938"/>
                </a:lnTo>
                <a:cubicBezTo>
                  <a:pt x="666750" y="301377"/>
                  <a:pt x="634752" y="333375"/>
                  <a:pt x="595313" y="333375"/>
                </a:cubicBezTo>
                <a:lnTo>
                  <a:pt x="452438" y="333375"/>
                </a:lnTo>
                <a:cubicBezTo>
                  <a:pt x="412998" y="333375"/>
                  <a:pt x="381000" y="301377"/>
                  <a:pt x="381000" y="261938"/>
                </a:cubicBezTo>
                <a:lnTo>
                  <a:pt x="381000" y="119063"/>
                </a:lnTo>
                <a:cubicBezTo>
                  <a:pt x="381000" y="79623"/>
                  <a:pt x="412998" y="47625"/>
                  <a:pt x="452438" y="47625"/>
                </a:cubicBezTo>
                <a:close/>
                <a:moveTo>
                  <a:pt x="428625" y="523875"/>
                </a:moveTo>
                <a:cubicBezTo>
                  <a:pt x="402340" y="523875"/>
                  <a:pt x="381000" y="502535"/>
                  <a:pt x="381000" y="476250"/>
                </a:cubicBezTo>
                <a:cubicBezTo>
                  <a:pt x="381000" y="449965"/>
                  <a:pt x="402340" y="428625"/>
                  <a:pt x="428625" y="428625"/>
                </a:cubicBezTo>
                <a:cubicBezTo>
                  <a:pt x="454910" y="428625"/>
                  <a:pt x="476250" y="449965"/>
                  <a:pt x="476250" y="476250"/>
                </a:cubicBezTo>
                <a:cubicBezTo>
                  <a:pt x="476250" y="502535"/>
                  <a:pt x="454910" y="523875"/>
                  <a:pt x="428625" y="523875"/>
                </a:cubicBezTo>
                <a:close/>
                <a:moveTo>
                  <a:pt x="428625" y="619125"/>
                </a:moveTo>
                <a:cubicBezTo>
                  <a:pt x="454968" y="619125"/>
                  <a:pt x="476250" y="640407"/>
                  <a:pt x="476250" y="666750"/>
                </a:cubicBezTo>
                <a:cubicBezTo>
                  <a:pt x="476250" y="693093"/>
                  <a:pt x="454968" y="714375"/>
                  <a:pt x="428625" y="714375"/>
                </a:cubicBezTo>
                <a:cubicBezTo>
                  <a:pt x="402282" y="714375"/>
                  <a:pt x="381000" y="693093"/>
                  <a:pt x="381000" y="666750"/>
                </a:cubicBezTo>
                <a:cubicBezTo>
                  <a:pt x="381000" y="640407"/>
                  <a:pt x="402282" y="619125"/>
                  <a:pt x="428625" y="619125"/>
                </a:cubicBezTo>
                <a:close/>
                <a:moveTo>
                  <a:pt x="571500" y="666750"/>
                </a:moveTo>
                <a:cubicBezTo>
                  <a:pt x="571500" y="640407"/>
                  <a:pt x="592782" y="619125"/>
                  <a:pt x="619125" y="619125"/>
                </a:cubicBezTo>
                <a:cubicBezTo>
                  <a:pt x="645468" y="619125"/>
                  <a:pt x="666750" y="640407"/>
                  <a:pt x="666750" y="666750"/>
                </a:cubicBezTo>
                <a:cubicBezTo>
                  <a:pt x="666750" y="693093"/>
                  <a:pt x="645468" y="714375"/>
                  <a:pt x="619125" y="714375"/>
                </a:cubicBezTo>
                <a:cubicBezTo>
                  <a:pt x="592782" y="714375"/>
                  <a:pt x="571500" y="693093"/>
                  <a:pt x="571500" y="666750"/>
                </a:cubicBezTo>
                <a:close/>
                <a:moveTo>
                  <a:pt x="619125" y="523875"/>
                </a:moveTo>
                <a:cubicBezTo>
                  <a:pt x="592840" y="523875"/>
                  <a:pt x="571500" y="502535"/>
                  <a:pt x="571500" y="476250"/>
                </a:cubicBezTo>
                <a:cubicBezTo>
                  <a:pt x="571500" y="449965"/>
                  <a:pt x="592840" y="428625"/>
                  <a:pt x="619125" y="428625"/>
                </a:cubicBezTo>
                <a:cubicBezTo>
                  <a:pt x="645410" y="428625"/>
                  <a:pt x="666750" y="449965"/>
                  <a:pt x="666750" y="476250"/>
                </a:cubicBezTo>
                <a:cubicBezTo>
                  <a:pt x="666750" y="502535"/>
                  <a:pt x="645410" y="523875"/>
                  <a:pt x="619125" y="523875"/>
                </a:cubicBezTo>
                <a:close/>
                <a:moveTo>
                  <a:pt x="571500" y="571500"/>
                </a:moveTo>
                <a:cubicBezTo>
                  <a:pt x="571500" y="597785"/>
                  <a:pt x="550160" y="619125"/>
                  <a:pt x="523875" y="619125"/>
                </a:cubicBezTo>
                <a:cubicBezTo>
                  <a:pt x="497590" y="619125"/>
                  <a:pt x="476250" y="597785"/>
                  <a:pt x="476250" y="571500"/>
                </a:cubicBezTo>
                <a:cubicBezTo>
                  <a:pt x="476250" y="545215"/>
                  <a:pt x="497590" y="523875"/>
                  <a:pt x="523875" y="523875"/>
                </a:cubicBezTo>
                <a:cubicBezTo>
                  <a:pt x="550160" y="523875"/>
                  <a:pt x="571500" y="545215"/>
                  <a:pt x="571500" y="57150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6" name="Text 13"/>
          <p:cNvSpPr/>
          <p:nvPr>
            <p:custDataLst>
              <p:tags r:id="rId6"/>
            </p:custDataLst>
          </p:nvPr>
        </p:nvSpPr>
        <p:spPr>
          <a:xfrm>
            <a:off x="9944894" y="3937000"/>
            <a:ext cx="762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7484D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CDM</a:t>
            </a:r>
            <a:endParaRPr lang="en-US" sz="2400" b="1" dirty="0">
              <a:solidFill>
                <a:srgbClr val="7484DF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7" name="Text 14"/>
          <p:cNvSpPr/>
          <p:nvPr>
            <p:custDataLst>
              <p:tags r:id="rId7"/>
            </p:custDataLst>
          </p:nvPr>
        </p:nvSpPr>
        <p:spPr>
          <a:xfrm>
            <a:off x="9124950" y="4394200"/>
            <a:ext cx="2400300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编码正交，多用户同频并发。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196850" y="5054600"/>
            <a:ext cx="11798300" cy="15944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演进路线：</a:t>
            </a:r>
            <a:r>
              <a:rPr lang="en-US" sz="2400" b="1" dirty="0">
                <a:solidFill>
                  <a:srgbClr val="333333"/>
                </a:solidFill>
                <a:highlight>
                  <a:srgbClr val="ADD8E6">
                    <a:alpha val="100000"/>
                  </a:srgbClr>
                </a:highligh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静态 → 动态 → 光电 → 编码</a:t>
            </a:r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6" grpId="0"/>
      <p:bldP spid="6" grpId="1"/>
      <p:bldP spid="11" grpId="0"/>
      <p:bldP spid="11" grpId="1"/>
      <p:bldP spid="16" grpId="0"/>
      <p:bldP spid="16" grpId="1"/>
      <p:bldP spid="7" grpId="0"/>
      <p:bldP spid="7" grpId="1"/>
      <p:bldP spid="12" grpId="0"/>
      <p:bldP spid="12" grpId="1"/>
      <p:bldP spid="17" grpId="0"/>
      <p:bldP spid="17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1:00-d2tarl5nfo2stf9djj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7:31:00-d2tarl5nfo2stf9djj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7:31:00-d2tarl5nfo2stf9djjv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7:30:59-d2tarktnfo2stf9djjs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3128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F2F7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660717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宽带接入最后一公里</a:t>
            </a:r>
            <a:endParaRPr lang="en-US" sz="4400" dirty="0"/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Text 4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5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Text 6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7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5" name="Text 8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9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1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7" grpId="0"/>
      <p:bldP spid="7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4000" y="188595"/>
            <a:ext cx="5664200" cy="2173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铜线逆袭：ADSL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254000" y="1640840"/>
            <a:ext cx="5588000" cy="904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800" b="1" dirty="0">
                <a:solidFill>
                  <a:srgbClr val="7484D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非对称数字用户线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279400" y="2266315"/>
            <a:ext cx="5651500" cy="1082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利用旧电话线开出高速下行通道，是</a:t>
            </a: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“铜线最后一舞”</a:t>
            </a: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。</a:t>
            </a:r>
            <a:endParaRPr lang="en-US" sz="2400" dirty="0"/>
          </a:p>
        </p:txBody>
      </p:sp>
      <p:sp>
        <p:nvSpPr>
          <p:cNvPr id="6" name="Shape 3"/>
          <p:cNvSpPr/>
          <p:nvPr>
            <p:custDataLst>
              <p:tags r:id="rId2"/>
            </p:custDataLst>
          </p:nvPr>
        </p:nvSpPr>
        <p:spPr>
          <a:xfrm>
            <a:off x="279400" y="3832725"/>
            <a:ext cx="278110" cy="27811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7" name="Text 4"/>
          <p:cNvSpPr/>
          <p:nvPr>
            <p:custDataLst>
              <p:tags r:id="rId3"/>
            </p:custDataLst>
          </p:nvPr>
        </p:nvSpPr>
        <p:spPr>
          <a:xfrm>
            <a:off x="731329" y="3763197"/>
            <a:ext cx="4866927" cy="41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DMT调制:</a:t>
            </a: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频分复用，语音数据共存。</a:t>
            </a:r>
            <a:endParaRPr lang="en-US" sz="2000" dirty="0"/>
          </a:p>
        </p:txBody>
      </p:sp>
      <p:sp>
        <p:nvSpPr>
          <p:cNvPr id="8" name="Shape 5"/>
          <p:cNvSpPr/>
          <p:nvPr>
            <p:custDataLst>
              <p:tags r:id="rId4"/>
            </p:custDataLst>
          </p:nvPr>
        </p:nvSpPr>
        <p:spPr>
          <a:xfrm>
            <a:off x="279400" y="4458472"/>
            <a:ext cx="278110" cy="27811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9" name="Text 6"/>
          <p:cNvSpPr/>
          <p:nvPr>
            <p:custDataLst>
              <p:tags r:id="rId5"/>
            </p:custDataLst>
          </p:nvPr>
        </p:nvSpPr>
        <p:spPr>
          <a:xfrm>
            <a:off x="731329" y="4388945"/>
            <a:ext cx="5092891" cy="41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非对称设计:</a:t>
            </a: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契合Web浏览与视频点播。</a:t>
            </a:r>
            <a:endParaRPr lang="en-US" sz="2000" dirty="0"/>
          </a:p>
        </p:txBody>
      </p:sp>
      <p:sp>
        <p:nvSpPr>
          <p:cNvPr id="10" name="Shape 7"/>
          <p:cNvSpPr/>
          <p:nvPr>
            <p:custDataLst>
              <p:tags r:id="rId6"/>
            </p:custDataLst>
          </p:nvPr>
        </p:nvSpPr>
        <p:spPr>
          <a:xfrm>
            <a:off x="279400" y="5084220"/>
            <a:ext cx="278110" cy="27811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0"/>
                </a:moveTo>
                <a:cubicBezTo>
                  <a:pt x="107434" y="0"/>
                  <a:pt x="112792" y="3215"/>
                  <a:pt x="115570" y="8334"/>
                </a:cubicBezTo>
                <a:lnTo>
                  <a:pt x="201295" y="167084"/>
                </a:lnTo>
                <a:cubicBezTo>
                  <a:pt x="203954" y="172006"/>
                  <a:pt x="203835" y="177959"/>
                  <a:pt x="200978" y="182761"/>
                </a:cubicBezTo>
                <a:cubicBezTo>
                  <a:pt x="198120" y="187563"/>
                  <a:pt x="192921" y="190500"/>
                  <a:pt x="187325" y="190500"/>
                </a:cubicBezTo>
                <a:lnTo>
                  <a:pt x="15875" y="190500"/>
                </a:lnTo>
                <a:cubicBezTo>
                  <a:pt x="10279" y="190500"/>
                  <a:pt x="5120" y="187563"/>
                  <a:pt x="2223" y="182761"/>
                </a:cubicBezTo>
                <a:cubicBezTo>
                  <a:pt x="-675" y="177959"/>
                  <a:pt x="-754" y="172006"/>
                  <a:pt x="1905" y="167084"/>
                </a:cubicBezTo>
                <a:lnTo>
                  <a:pt x="87630" y="8334"/>
                </a:lnTo>
                <a:cubicBezTo>
                  <a:pt x="90408" y="3215"/>
                  <a:pt x="95766" y="0"/>
                  <a:pt x="101600" y="0"/>
                </a:cubicBezTo>
                <a:close/>
                <a:moveTo>
                  <a:pt x="101600" y="66675"/>
                </a:moveTo>
                <a:cubicBezTo>
                  <a:pt x="96322" y="66675"/>
                  <a:pt x="92075" y="70922"/>
                  <a:pt x="92075" y="76200"/>
                </a:cubicBezTo>
                <a:lnTo>
                  <a:pt x="92075" y="120650"/>
                </a:lnTo>
                <a:cubicBezTo>
                  <a:pt x="92075" y="125928"/>
                  <a:pt x="96322" y="130175"/>
                  <a:pt x="101600" y="130175"/>
                </a:cubicBezTo>
                <a:cubicBezTo>
                  <a:pt x="106878" y="130175"/>
                  <a:pt x="111125" y="125928"/>
                  <a:pt x="111125" y="120650"/>
                </a:cubicBezTo>
                <a:lnTo>
                  <a:pt x="111125" y="76200"/>
                </a:lnTo>
                <a:cubicBezTo>
                  <a:pt x="111125" y="70922"/>
                  <a:pt x="106878" y="66675"/>
                  <a:pt x="101600" y="66675"/>
                </a:cubicBezTo>
                <a:close/>
                <a:moveTo>
                  <a:pt x="112197" y="152400"/>
                </a:moveTo>
                <a:cubicBezTo>
                  <a:pt x="112438" y="148467"/>
                  <a:pt x="110476" y="144724"/>
                  <a:pt x="107104" y="142685"/>
                </a:cubicBezTo>
                <a:cubicBezTo>
                  <a:pt x="103732" y="140645"/>
                  <a:pt x="99507" y="140645"/>
                  <a:pt x="96135" y="142685"/>
                </a:cubicBezTo>
                <a:cubicBezTo>
                  <a:pt x="92764" y="144724"/>
                  <a:pt x="90802" y="148467"/>
                  <a:pt x="91043" y="152400"/>
                </a:cubicBezTo>
                <a:cubicBezTo>
                  <a:pt x="90802" y="156333"/>
                  <a:pt x="92764" y="160076"/>
                  <a:pt x="96135" y="162115"/>
                </a:cubicBezTo>
                <a:cubicBezTo>
                  <a:pt x="99507" y="164155"/>
                  <a:pt x="103732" y="164155"/>
                  <a:pt x="107104" y="162115"/>
                </a:cubicBezTo>
                <a:cubicBezTo>
                  <a:pt x="110476" y="160076"/>
                  <a:pt x="112438" y="156333"/>
                  <a:pt x="112197" y="152400"/>
                </a:cubicBezTo>
                <a:close/>
              </a:path>
            </a:pathLst>
          </a:custGeom>
          <a:solidFill>
            <a:srgbClr val="7484DF"/>
          </a:solidFill>
        </p:spPr>
      </p:sp>
      <p:sp>
        <p:nvSpPr>
          <p:cNvPr id="11" name="Text 8"/>
          <p:cNvSpPr/>
          <p:nvPr>
            <p:custDataLst>
              <p:tags r:id="rId7"/>
            </p:custDataLst>
          </p:nvPr>
        </p:nvSpPr>
        <p:spPr>
          <a:xfrm>
            <a:off x="731329" y="5014693"/>
            <a:ext cx="4467143" cy="41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距离衰减:</a:t>
            </a: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速率随距离增加而下降。</a:t>
            </a:r>
            <a:endParaRPr lang="en-US" sz="2000" dirty="0"/>
          </a:p>
        </p:txBody>
      </p:sp>
      <p:pic>
        <p:nvPicPr>
          <p:cNvPr id="12" name="Image 1" descr="https://kimi-web-img.moonshot.cn/img/cbu01.alicdn.com/a162560604384bc06c01c2daaf85becb38ceb39c.jpg"/>
          <p:cNvPicPr>
            <a:picLocks noChangeAspect="1"/>
          </p:cNvPicPr>
          <p:nvPr/>
        </p:nvPicPr>
        <p:blipFill>
          <a:blip r:embed="rId8"/>
          <a:srcRect t="22581" b="22581"/>
          <a:stretch>
            <a:fillRect/>
          </a:stretch>
        </p:blipFill>
        <p:spPr>
          <a:xfrm>
            <a:off x="6096000" y="1047750"/>
            <a:ext cx="5842000" cy="4762500"/>
          </a:xfrm>
          <a:prstGeom prst="roundRect">
            <a:avLst>
              <a:gd name="adj" fmla="val 3200"/>
            </a:avLst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5" grpId="0"/>
      <p:bldP spid="5" grpId="1"/>
      <p:bldP spid="7" grpId="0"/>
      <p:bldP spid="7" grpId="1"/>
      <p:bldP spid="9" grpId="0"/>
      <p:bldP spid="9" grpId="1"/>
      <p:bldP spid="11" grpId="0"/>
      <p:bldP spid="11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9700" y="229235"/>
            <a:ext cx="11912600" cy="1574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光电混合：HFC双线作战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196850" y="1631315"/>
            <a:ext cx="11798300" cy="7308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8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混合光纤同轴网，兼顾覆盖与带宽。</a:t>
            </a:r>
            <a:endParaRPr lang="en-US" sz="2800" dirty="0"/>
          </a:p>
        </p:txBody>
      </p:sp>
      <p:sp>
        <p:nvSpPr>
          <p:cNvPr id="5" name="Shape 2"/>
          <p:cNvSpPr/>
          <p:nvPr>
            <p:custDataLst>
              <p:tags r:id="rId2"/>
            </p:custDataLst>
          </p:nvPr>
        </p:nvSpPr>
        <p:spPr>
          <a:xfrm>
            <a:off x="375920" y="2727960"/>
            <a:ext cx="11562080" cy="1782445"/>
          </a:xfrm>
          <a:custGeom>
            <a:avLst/>
            <a:gdLst/>
            <a:ahLst/>
            <a:cxnLst/>
            <a:rect l="l" t="t" r="r" b="b"/>
            <a:pathLst>
              <a:path w="11684000" h="1727200">
                <a:moveTo>
                  <a:pt x="101594" y="0"/>
                </a:moveTo>
                <a:lnTo>
                  <a:pt x="11582406" y="0"/>
                </a:lnTo>
                <a:cubicBezTo>
                  <a:pt x="11638515" y="0"/>
                  <a:pt x="11684000" y="45485"/>
                  <a:pt x="11684000" y="101594"/>
                </a:cubicBezTo>
                <a:lnTo>
                  <a:pt x="11684000" y="1625606"/>
                </a:lnTo>
                <a:cubicBezTo>
                  <a:pt x="11684000" y="1681715"/>
                  <a:pt x="11638515" y="1727200"/>
                  <a:pt x="11582406" y="1727200"/>
                </a:cubicBezTo>
                <a:lnTo>
                  <a:pt x="101594" y="1727200"/>
                </a:lnTo>
                <a:cubicBezTo>
                  <a:pt x="45485" y="1727200"/>
                  <a:pt x="0" y="1681715"/>
                  <a:pt x="0" y="1625606"/>
                </a:cubicBezTo>
                <a:lnTo>
                  <a:pt x="0" y="101594"/>
                </a:lnTo>
                <a:cubicBezTo>
                  <a:pt x="0" y="45523"/>
                  <a:pt x="45523" y="0"/>
                  <a:pt x="101594" y="0"/>
                </a:cubicBezTo>
                <a:close/>
              </a:path>
            </a:pathLst>
          </a:custGeom>
          <a:solidFill>
            <a:srgbClr val="ADD8E6">
              <a:alpha val="30196"/>
            </a:srgbClr>
          </a:solidFill>
          <a:effectLst>
            <a:outerShdw blurRad="50800" dist="25400" dir="5400000" algn="bl" rotWithShape="0">
              <a:srgbClr val="000000">
                <a:alpha val="5098"/>
              </a:srgbClr>
            </a:outerShdw>
          </a:effectLst>
        </p:spPr>
      </p:sp>
      <p:sp>
        <p:nvSpPr>
          <p:cNvPr id="6" name="Shape 3"/>
          <p:cNvSpPr/>
          <p:nvPr>
            <p:custDataLst>
              <p:tags r:id="rId3"/>
            </p:custDataLst>
          </p:nvPr>
        </p:nvSpPr>
        <p:spPr>
          <a:xfrm>
            <a:off x="1849457" y="3029579"/>
            <a:ext cx="395876" cy="452429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57150" y="28575"/>
                </a:moveTo>
                <a:cubicBezTo>
                  <a:pt x="25628" y="28575"/>
                  <a:pt x="0" y="54203"/>
                  <a:pt x="0" y="85725"/>
                </a:cubicBezTo>
                <a:lnTo>
                  <a:pt x="0" y="142875"/>
                </a:lnTo>
                <a:cubicBezTo>
                  <a:pt x="0" y="174397"/>
                  <a:pt x="25628" y="200025"/>
                  <a:pt x="57150" y="200025"/>
                </a:cubicBezTo>
                <a:lnTo>
                  <a:pt x="342900" y="200025"/>
                </a:lnTo>
                <a:cubicBezTo>
                  <a:pt x="374422" y="200025"/>
                  <a:pt x="400050" y="174397"/>
                  <a:pt x="400050" y="142875"/>
                </a:cubicBezTo>
                <a:lnTo>
                  <a:pt x="400050" y="85725"/>
                </a:lnTo>
                <a:cubicBezTo>
                  <a:pt x="400050" y="54203"/>
                  <a:pt x="374422" y="28575"/>
                  <a:pt x="342900" y="28575"/>
                </a:cubicBezTo>
                <a:lnTo>
                  <a:pt x="57150" y="28575"/>
                </a:lnTo>
                <a:close/>
                <a:moveTo>
                  <a:pt x="250031" y="92869"/>
                </a:moveTo>
                <a:cubicBezTo>
                  <a:pt x="261859" y="92869"/>
                  <a:pt x="271463" y="102472"/>
                  <a:pt x="271463" y="114300"/>
                </a:cubicBezTo>
                <a:cubicBezTo>
                  <a:pt x="271463" y="126128"/>
                  <a:pt x="261859" y="135731"/>
                  <a:pt x="250031" y="135731"/>
                </a:cubicBezTo>
                <a:cubicBezTo>
                  <a:pt x="238203" y="135731"/>
                  <a:pt x="228600" y="126128"/>
                  <a:pt x="228600" y="114300"/>
                </a:cubicBezTo>
                <a:cubicBezTo>
                  <a:pt x="228600" y="102472"/>
                  <a:pt x="238203" y="92869"/>
                  <a:pt x="250031" y="92869"/>
                </a:cubicBezTo>
                <a:close/>
                <a:moveTo>
                  <a:pt x="300038" y="114300"/>
                </a:moveTo>
                <a:cubicBezTo>
                  <a:pt x="300038" y="102472"/>
                  <a:pt x="309641" y="92869"/>
                  <a:pt x="321469" y="92869"/>
                </a:cubicBezTo>
                <a:cubicBezTo>
                  <a:pt x="333297" y="92869"/>
                  <a:pt x="342900" y="102472"/>
                  <a:pt x="342900" y="114300"/>
                </a:cubicBezTo>
                <a:cubicBezTo>
                  <a:pt x="342900" y="126128"/>
                  <a:pt x="333297" y="135731"/>
                  <a:pt x="321469" y="135731"/>
                </a:cubicBezTo>
                <a:cubicBezTo>
                  <a:pt x="309641" y="135731"/>
                  <a:pt x="300038" y="126128"/>
                  <a:pt x="300038" y="114300"/>
                </a:cubicBezTo>
                <a:close/>
                <a:moveTo>
                  <a:pt x="57150" y="257175"/>
                </a:moveTo>
                <a:cubicBezTo>
                  <a:pt x="25628" y="257175"/>
                  <a:pt x="0" y="282803"/>
                  <a:pt x="0" y="314325"/>
                </a:cubicBezTo>
                <a:lnTo>
                  <a:pt x="0" y="371475"/>
                </a:lnTo>
                <a:cubicBezTo>
                  <a:pt x="0" y="402997"/>
                  <a:pt x="25628" y="428625"/>
                  <a:pt x="57150" y="428625"/>
                </a:cubicBezTo>
                <a:lnTo>
                  <a:pt x="342900" y="428625"/>
                </a:lnTo>
                <a:cubicBezTo>
                  <a:pt x="374422" y="428625"/>
                  <a:pt x="400050" y="402997"/>
                  <a:pt x="400050" y="371475"/>
                </a:cubicBezTo>
                <a:lnTo>
                  <a:pt x="400050" y="314325"/>
                </a:lnTo>
                <a:cubicBezTo>
                  <a:pt x="400050" y="282803"/>
                  <a:pt x="374422" y="257175"/>
                  <a:pt x="342900" y="257175"/>
                </a:cubicBezTo>
                <a:lnTo>
                  <a:pt x="57150" y="257175"/>
                </a:lnTo>
                <a:close/>
                <a:moveTo>
                  <a:pt x="250031" y="321469"/>
                </a:moveTo>
                <a:cubicBezTo>
                  <a:pt x="261859" y="321469"/>
                  <a:pt x="271463" y="331072"/>
                  <a:pt x="271463" y="342900"/>
                </a:cubicBezTo>
                <a:cubicBezTo>
                  <a:pt x="271463" y="354728"/>
                  <a:pt x="261859" y="364331"/>
                  <a:pt x="250031" y="364331"/>
                </a:cubicBezTo>
                <a:cubicBezTo>
                  <a:pt x="238203" y="364331"/>
                  <a:pt x="228600" y="354728"/>
                  <a:pt x="228600" y="342900"/>
                </a:cubicBezTo>
                <a:cubicBezTo>
                  <a:pt x="228600" y="331072"/>
                  <a:pt x="238203" y="321469"/>
                  <a:pt x="250031" y="321469"/>
                </a:cubicBezTo>
                <a:close/>
                <a:moveTo>
                  <a:pt x="300038" y="342900"/>
                </a:moveTo>
                <a:cubicBezTo>
                  <a:pt x="300038" y="331072"/>
                  <a:pt x="309641" y="321469"/>
                  <a:pt x="321469" y="321469"/>
                </a:cubicBezTo>
                <a:cubicBezTo>
                  <a:pt x="333297" y="321469"/>
                  <a:pt x="342900" y="331072"/>
                  <a:pt x="342900" y="342900"/>
                </a:cubicBezTo>
                <a:cubicBezTo>
                  <a:pt x="342900" y="354728"/>
                  <a:pt x="333297" y="364331"/>
                  <a:pt x="321469" y="364331"/>
                </a:cubicBezTo>
                <a:cubicBezTo>
                  <a:pt x="309641" y="364331"/>
                  <a:pt x="300038" y="354728"/>
                  <a:pt x="300038" y="342900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7" name="Text 4"/>
          <p:cNvSpPr/>
          <p:nvPr>
            <p:custDataLst>
              <p:tags r:id="rId4"/>
            </p:custDataLst>
          </p:nvPr>
        </p:nvSpPr>
        <p:spPr>
          <a:xfrm>
            <a:off x="1473835" y="3582670"/>
            <a:ext cx="1168400" cy="3016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光纤干线</a:t>
            </a:r>
            <a:endParaRPr lang="en-US" dirty="0"/>
          </a:p>
        </p:txBody>
      </p:sp>
      <p:sp>
        <p:nvSpPr>
          <p:cNvPr id="8" name="Text 5"/>
          <p:cNvSpPr/>
          <p:nvPr>
            <p:custDataLst>
              <p:tags r:id="rId5"/>
            </p:custDataLst>
          </p:nvPr>
        </p:nvSpPr>
        <p:spPr>
          <a:xfrm>
            <a:off x="909955" y="3884295"/>
            <a:ext cx="2325370" cy="5848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高带宽，低损耗</a:t>
            </a:r>
            <a:endParaRPr lang="en-US" sz="2000" dirty="0"/>
          </a:p>
        </p:txBody>
      </p:sp>
      <p:sp>
        <p:nvSpPr>
          <p:cNvPr id="9" name="Shape 6"/>
          <p:cNvSpPr/>
          <p:nvPr>
            <p:custDataLst>
              <p:tags r:id="rId6"/>
            </p:custDataLst>
          </p:nvPr>
        </p:nvSpPr>
        <p:spPr>
          <a:xfrm>
            <a:off x="3417250" y="3557414"/>
            <a:ext cx="1068236" cy="50270"/>
          </a:xfrm>
          <a:custGeom>
            <a:avLst/>
            <a:gdLst/>
            <a:ahLst/>
            <a:cxnLst/>
            <a:rect l="l" t="t" r="r" b="b"/>
            <a:pathLst>
              <a:path w="1079500" h="50800">
                <a:moveTo>
                  <a:pt x="0" y="0"/>
                </a:moveTo>
                <a:lnTo>
                  <a:pt x="1079500" y="0"/>
                </a:lnTo>
                <a:lnTo>
                  <a:pt x="10795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A90E2"/>
              </a:gs>
              <a:gs pos="100000">
                <a:srgbClr val="7484DF"/>
              </a:gs>
            </a:gsLst>
            <a:lin ang="0" scaled="1"/>
          </a:gradFill>
        </p:spPr>
      </p:sp>
      <p:sp>
        <p:nvSpPr>
          <p:cNvPr id="10" name="Shape 7"/>
          <p:cNvSpPr/>
          <p:nvPr>
            <p:custDataLst>
              <p:tags r:id="rId7"/>
            </p:custDataLst>
          </p:nvPr>
        </p:nvSpPr>
        <p:spPr>
          <a:xfrm>
            <a:off x="4547930" y="3431739"/>
            <a:ext cx="188512" cy="301619"/>
          </a:xfrm>
          <a:custGeom>
            <a:avLst/>
            <a:gdLst/>
            <a:ahLst/>
            <a:cxnLst/>
            <a:rect l="l" t="t" r="r" b="b"/>
            <a:pathLst>
              <a:path w="190500" h="304800">
                <a:moveTo>
                  <a:pt x="185202" y="138946"/>
                </a:moveTo>
                <a:cubicBezTo>
                  <a:pt x="192643" y="146387"/>
                  <a:pt x="192643" y="158472"/>
                  <a:pt x="185202" y="165914"/>
                </a:cubicBezTo>
                <a:lnTo>
                  <a:pt x="70902" y="280214"/>
                </a:lnTo>
                <a:cubicBezTo>
                  <a:pt x="63460" y="287655"/>
                  <a:pt x="51375" y="287655"/>
                  <a:pt x="43934" y="280214"/>
                </a:cubicBezTo>
                <a:cubicBezTo>
                  <a:pt x="36493" y="272772"/>
                  <a:pt x="36493" y="260687"/>
                  <a:pt x="43934" y="253246"/>
                </a:cubicBezTo>
                <a:lnTo>
                  <a:pt x="144780" y="152400"/>
                </a:lnTo>
                <a:lnTo>
                  <a:pt x="43994" y="51554"/>
                </a:lnTo>
                <a:cubicBezTo>
                  <a:pt x="36552" y="44113"/>
                  <a:pt x="36552" y="32028"/>
                  <a:pt x="43994" y="24586"/>
                </a:cubicBezTo>
                <a:cubicBezTo>
                  <a:pt x="51435" y="17145"/>
                  <a:pt x="63520" y="17145"/>
                  <a:pt x="70961" y="24586"/>
                </a:cubicBezTo>
                <a:lnTo>
                  <a:pt x="185261" y="138886"/>
                </a:lnTo>
                <a:close/>
              </a:path>
            </a:pathLst>
          </a:custGeom>
          <a:solidFill>
            <a:srgbClr val="7484DF"/>
          </a:solidFill>
        </p:spPr>
      </p:sp>
      <p:sp>
        <p:nvSpPr>
          <p:cNvPr id="11" name="Shape 8"/>
          <p:cNvSpPr/>
          <p:nvPr>
            <p:custDataLst>
              <p:tags r:id="rId8"/>
            </p:custDataLst>
          </p:nvPr>
        </p:nvSpPr>
        <p:spPr>
          <a:xfrm>
            <a:off x="5930745" y="3029579"/>
            <a:ext cx="452429" cy="452429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11837" y="16877"/>
                </a:moveTo>
                <a:cubicBezTo>
                  <a:pt x="422106" y="21431"/>
                  <a:pt x="428625" y="31611"/>
                  <a:pt x="428625" y="42863"/>
                </a:cubicBezTo>
                <a:lnTo>
                  <a:pt x="428625" y="414338"/>
                </a:lnTo>
                <a:cubicBezTo>
                  <a:pt x="428625" y="425589"/>
                  <a:pt x="422106" y="435769"/>
                  <a:pt x="411837" y="440323"/>
                </a:cubicBezTo>
                <a:cubicBezTo>
                  <a:pt x="401568" y="444877"/>
                  <a:pt x="389692" y="443180"/>
                  <a:pt x="381208" y="435769"/>
                </a:cubicBezTo>
                <a:lnTo>
                  <a:pt x="339596" y="399425"/>
                </a:lnTo>
                <a:cubicBezTo>
                  <a:pt x="300663" y="365403"/>
                  <a:pt x="251460" y="345579"/>
                  <a:pt x="199936" y="343168"/>
                </a:cubicBezTo>
                <a:lnTo>
                  <a:pt x="199936" y="428625"/>
                </a:lnTo>
                <a:cubicBezTo>
                  <a:pt x="199936" y="444431"/>
                  <a:pt x="187166" y="457200"/>
                  <a:pt x="171361" y="457200"/>
                </a:cubicBezTo>
                <a:lnTo>
                  <a:pt x="142786" y="457200"/>
                </a:lnTo>
                <a:cubicBezTo>
                  <a:pt x="126980" y="457200"/>
                  <a:pt x="114211" y="444431"/>
                  <a:pt x="114211" y="428625"/>
                </a:cubicBezTo>
                <a:lnTo>
                  <a:pt x="114211" y="342900"/>
                </a:lnTo>
                <a:cubicBezTo>
                  <a:pt x="51167" y="342900"/>
                  <a:pt x="0" y="291733"/>
                  <a:pt x="0" y="228600"/>
                </a:cubicBezTo>
                <a:cubicBezTo>
                  <a:pt x="0" y="165467"/>
                  <a:pt x="51167" y="114300"/>
                  <a:pt x="114300" y="114300"/>
                </a:cubicBezTo>
                <a:lnTo>
                  <a:pt x="189756" y="114300"/>
                </a:lnTo>
                <a:cubicBezTo>
                  <a:pt x="244941" y="114121"/>
                  <a:pt x="298162" y="94030"/>
                  <a:pt x="339685" y="57775"/>
                </a:cubicBezTo>
                <a:lnTo>
                  <a:pt x="381298" y="21431"/>
                </a:lnTo>
                <a:cubicBezTo>
                  <a:pt x="389692" y="14020"/>
                  <a:pt x="401747" y="12323"/>
                  <a:pt x="411926" y="16877"/>
                </a:cubicBezTo>
                <a:close/>
                <a:moveTo>
                  <a:pt x="200025" y="285750"/>
                </a:moveTo>
                <a:lnTo>
                  <a:pt x="200025" y="285929"/>
                </a:lnTo>
                <a:cubicBezTo>
                  <a:pt x="262801" y="288340"/>
                  <a:pt x="323076" y="311378"/>
                  <a:pt x="371475" y="351473"/>
                </a:cubicBezTo>
                <a:lnTo>
                  <a:pt x="371475" y="105638"/>
                </a:lnTo>
                <a:cubicBezTo>
                  <a:pt x="323076" y="145733"/>
                  <a:pt x="262801" y="168771"/>
                  <a:pt x="200025" y="171182"/>
                </a:cubicBezTo>
                <a:lnTo>
                  <a:pt x="200025" y="285750"/>
                </a:lnTo>
                <a:close/>
              </a:path>
            </a:pathLst>
          </a:custGeom>
          <a:solidFill>
            <a:srgbClr val="7484DF"/>
          </a:solidFill>
        </p:spPr>
      </p:sp>
      <p:sp>
        <p:nvSpPr>
          <p:cNvPr id="12" name="Text 9"/>
          <p:cNvSpPr/>
          <p:nvPr>
            <p:custDataLst>
              <p:tags r:id="rId9"/>
            </p:custDataLst>
          </p:nvPr>
        </p:nvSpPr>
        <p:spPr>
          <a:xfrm>
            <a:off x="5471160" y="3582670"/>
            <a:ext cx="1371600" cy="3016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同轴支线</a:t>
            </a:r>
            <a:endParaRPr lang="en-US" b="1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3" name="Text 10"/>
          <p:cNvSpPr/>
          <p:nvPr>
            <p:custDataLst>
              <p:tags r:id="rId10"/>
            </p:custDataLst>
          </p:nvPr>
        </p:nvSpPr>
        <p:spPr>
          <a:xfrm>
            <a:off x="4921250" y="3884295"/>
            <a:ext cx="2459990" cy="5600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广播优势，易接入</a:t>
            </a:r>
            <a:endParaRPr lang="en-US" sz="2000" dirty="0"/>
          </a:p>
        </p:txBody>
      </p:sp>
      <p:sp>
        <p:nvSpPr>
          <p:cNvPr id="14" name="Shape 11"/>
          <p:cNvSpPr/>
          <p:nvPr>
            <p:custDataLst>
              <p:tags r:id="rId11"/>
            </p:custDataLst>
          </p:nvPr>
        </p:nvSpPr>
        <p:spPr>
          <a:xfrm>
            <a:off x="7526815" y="3557414"/>
            <a:ext cx="1068236" cy="50270"/>
          </a:xfrm>
          <a:custGeom>
            <a:avLst/>
            <a:gdLst/>
            <a:ahLst/>
            <a:cxnLst/>
            <a:rect l="l" t="t" r="r" b="b"/>
            <a:pathLst>
              <a:path w="1079500" h="50800">
                <a:moveTo>
                  <a:pt x="0" y="0"/>
                </a:moveTo>
                <a:lnTo>
                  <a:pt x="1079500" y="0"/>
                </a:lnTo>
                <a:lnTo>
                  <a:pt x="10795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7484DF"/>
              </a:gs>
              <a:gs pos="100000">
                <a:srgbClr val="99A1AF"/>
              </a:gs>
            </a:gsLst>
            <a:lin ang="0" scaled="1"/>
          </a:gradFill>
        </p:spPr>
      </p:sp>
      <p:sp>
        <p:nvSpPr>
          <p:cNvPr id="15" name="Shape 12"/>
          <p:cNvSpPr/>
          <p:nvPr>
            <p:custDataLst>
              <p:tags r:id="rId12"/>
            </p:custDataLst>
          </p:nvPr>
        </p:nvSpPr>
        <p:spPr>
          <a:xfrm>
            <a:off x="8657495" y="3431739"/>
            <a:ext cx="188512" cy="301619"/>
          </a:xfrm>
          <a:custGeom>
            <a:avLst/>
            <a:gdLst/>
            <a:ahLst/>
            <a:cxnLst/>
            <a:rect l="l" t="t" r="r" b="b"/>
            <a:pathLst>
              <a:path w="190500" h="304800">
                <a:moveTo>
                  <a:pt x="185202" y="138946"/>
                </a:moveTo>
                <a:cubicBezTo>
                  <a:pt x="192643" y="146387"/>
                  <a:pt x="192643" y="158472"/>
                  <a:pt x="185202" y="165914"/>
                </a:cubicBezTo>
                <a:lnTo>
                  <a:pt x="70902" y="280214"/>
                </a:lnTo>
                <a:cubicBezTo>
                  <a:pt x="63460" y="287655"/>
                  <a:pt x="51375" y="287655"/>
                  <a:pt x="43934" y="280214"/>
                </a:cubicBezTo>
                <a:cubicBezTo>
                  <a:pt x="36493" y="272772"/>
                  <a:pt x="36493" y="260687"/>
                  <a:pt x="43934" y="253246"/>
                </a:cubicBezTo>
                <a:lnTo>
                  <a:pt x="144780" y="152400"/>
                </a:lnTo>
                <a:lnTo>
                  <a:pt x="43994" y="51554"/>
                </a:lnTo>
                <a:cubicBezTo>
                  <a:pt x="36552" y="44113"/>
                  <a:pt x="36552" y="32028"/>
                  <a:pt x="43994" y="24586"/>
                </a:cubicBezTo>
                <a:cubicBezTo>
                  <a:pt x="51435" y="17145"/>
                  <a:pt x="63520" y="17145"/>
                  <a:pt x="70961" y="24586"/>
                </a:cubicBezTo>
                <a:lnTo>
                  <a:pt x="185261" y="138886"/>
                </a:lnTo>
                <a:close/>
              </a:path>
            </a:pathLst>
          </a:custGeom>
          <a:solidFill>
            <a:srgbClr val="99A1AF"/>
          </a:solidFill>
        </p:spPr>
      </p:sp>
      <p:sp>
        <p:nvSpPr>
          <p:cNvPr id="16" name="Shape 13"/>
          <p:cNvSpPr/>
          <p:nvPr>
            <p:custDataLst>
              <p:tags r:id="rId13"/>
            </p:custDataLst>
          </p:nvPr>
        </p:nvSpPr>
        <p:spPr>
          <a:xfrm>
            <a:off x="10040311" y="3029579"/>
            <a:ext cx="452429" cy="452429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48067" y="7680"/>
                </a:moveTo>
                <a:cubicBezTo>
                  <a:pt x="237083" y="-2500"/>
                  <a:pt x="220117" y="-2500"/>
                  <a:pt x="209223" y="7680"/>
                </a:cubicBezTo>
                <a:lnTo>
                  <a:pt x="9198" y="193417"/>
                </a:lnTo>
                <a:cubicBezTo>
                  <a:pt x="625" y="201454"/>
                  <a:pt x="-2232" y="213866"/>
                  <a:pt x="2054" y="224760"/>
                </a:cubicBezTo>
                <a:cubicBezTo>
                  <a:pt x="6340" y="235654"/>
                  <a:pt x="16788" y="242888"/>
                  <a:pt x="28575" y="242888"/>
                </a:cubicBezTo>
                <a:lnTo>
                  <a:pt x="42863" y="242888"/>
                </a:lnTo>
                <a:lnTo>
                  <a:pt x="42863" y="400050"/>
                </a:lnTo>
                <a:cubicBezTo>
                  <a:pt x="42863" y="431572"/>
                  <a:pt x="68491" y="457200"/>
                  <a:pt x="100013" y="457200"/>
                </a:cubicBezTo>
                <a:lnTo>
                  <a:pt x="357188" y="457200"/>
                </a:lnTo>
                <a:cubicBezTo>
                  <a:pt x="388709" y="457200"/>
                  <a:pt x="414338" y="431572"/>
                  <a:pt x="414338" y="400050"/>
                </a:cubicBezTo>
                <a:lnTo>
                  <a:pt x="414338" y="242888"/>
                </a:lnTo>
                <a:lnTo>
                  <a:pt x="428625" y="242888"/>
                </a:lnTo>
                <a:cubicBezTo>
                  <a:pt x="440412" y="242888"/>
                  <a:pt x="450949" y="235654"/>
                  <a:pt x="455235" y="224760"/>
                </a:cubicBezTo>
                <a:cubicBezTo>
                  <a:pt x="459522" y="213866"/>
                  <a:pt x="456664" y="201364"/>
                  <a:pt x="448092" y="193417"/>
                </a:cubicBezTo>
                <a:lnTo>
                  <a:pt x="248067" y="7680"/>
                </a:lnTo>
                <a:close/>
                <a:moveTo>
                  <a:pt x="214313" y="285750"/>
                </a:moveTo>
                <a:lnTo>
                  <a:pt x="242888" y="285750"/>
                </a:lnTo>
                <a:cubicBezTo>
                  <a:pt x="266551" y="285750"/>
                  <a:pt x="285750" y="304949"/>
                  <a:pt x="285750" y="328613"/>
                </a:cubicBezTo>
                <a:lnTo>
                  <a:pt x="285750" y="414338"/>
                </a:lnTo>
                <a:lnTo>
                  <a:pt x="171450" y="414338"/>
                </a:lnTo>
                <a:lnTo>
                  <a:pt x="171450" y="328613"/>
                </a:lnTo>
                <a:cubicBezTo>
                  <a:pt x="171450" y="304949"/>
                  <a:pt x="190649" y="285750"/>
                  <a:pt x="214313" y="285750"/>
                </a:cubicBezTo>
                <a:close/>
              </a:path>
            </a:pathLst>
          </a:custGeom>
          <a:solidFill>
            <a:srgbClr val="6A7282"/>
          </a:solidFill>
        </p:spPr>
      </p:sp>
      <p:sp>
        <p:nvSpPr>
          <p:cNvPr id="17" name="Text 14"/>
          <p:cNvSpPr/>
          <p:nvPr>
            <p:custDataLst>
              <p:tags r:id="rId14"/>
            </p:custDataLst>
          </p:nvPr>
        </p:nvSpPr>
        <p:spPr>
          <a:xfrm>
            <a:off x="9672320" y="3582670"/>
            <a:ext cx="1218565" cy="3016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用户家庭</a:t>
            </a:r>
            <a:endParaRPr lang="en-US" b="1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8" name="Text 15"/>
          <p:cNvSpPr/>
          <p:nvPr>
            <p:custDataLst>
              <p:tags r:id="rId15"/>
            </p:custDataLst>
          </p:nvPr>
        </p:nvSpPr>
        <p:spPr>
          <a:xfrm>
            <a:off x="9170035" y="3884295"/>
            <a:ext cx="2193290" cy="5187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共享带宽</a:t>
            </a:r>
            <a:endParaRPr lang="en-US" sz="2000" dirty="0"/>
          </a:p>
        </p:txBody>
      </p:sp>
      <p:sp>
        <p:nvSpPr>
          <p:cNvPr id="19" name="Shape 16"/>
          <p:cNvSpPr/>
          <p:nvPr>
            <p:custDataLst>
              <p:tags r:id="rId16"/>
            </p:custDataLst>
          </p:nvPr>
        </p:nvSpPr>
        <p:spPr>
          <a:xfrm>
            <a:off x="375920" y="4739005"/>
            <a:ext cx="5579110" cy="1452880"/>
          </a:xfrm>
          <a:custGeom>
            <a:avLst/>
            <a:gdLst/>
            <a:ahLst/>
            <a:cxnLst/>
            <a:rect l="l" t="t" r="r" b="b"/>
            <a:pathLst>
              <a:path w="5740400" h="863600">
                <a:moveTo>
                  <a:pt x="101603" y="0"/>
                </a:moveTo>
                <a:lnTo>
                  <a:pt x="5638797" y="0"/>
                </a:lnTo>
                <a:cubicBezTo>
                  <a:pt x="5694911" y="0"/>
                  <a:pt x="5740400" y="45489"/>
                  <a:pt x="5740400" y="101603"/>
                </a:cubicBezTo>
                <a:lnTo>
                  <a:pt x="5740400" y="761997"/>
                </a:lnTo>
                <a:cubicBezTo>
                  <a:pt x="5740400" y="818111"/>
                  <a:pt x="5694911" y="863600"/>
                  <a:pt x="5638797" y="863600"/>
                </a:cubicBezTo>
                <a:lnTo>
                  <a:pt x="101603" y="863600"/>
                </a:lnTo>
                <a:cubicBezTo>
                  <a:pt x="45527" y="863600"/>
                  <a:pt x="0" y="818073"/>
                  <a:pt x="0" y="7619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ADD8E6">
              <a:alpha val="20000"/>
            </a:srgbClr>
          </a:solidFill>
        </p:spPr>
      </p:sp>
      <p:sp>
        <p:nvSpPr>
          <p:cNvPr id="20" name="Text 17"/>
          <p:cNvSpPr/>
          <p:nvPr>
            <p:custDataLst>
              <p:tags r:id="rId17"/>
            </p:custDataLst>
          </p:nvPr>
        </p:nvSpPr>
        <p:spPr>
          <a:xfrm>
            <a:off x="476460" y="4889566"/>
            <a:ext cx="5479421" cy="301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下行广播</a:t>
            </a:r>
            <a:endParaRPr lang="en-US" sz="2400" dirty="0"/>
          </a:p>
        </p:txBody>
      </p:sp>
      <p:sp>
        <p:nvSpPr>
          <p:cNvPr id="21" name="Text 18"/>
          <p:cNvSpPr/>
          <p:nvPr>
            <p:custDataLst>
              <p:tags r:id="rId18"/>
            </p:custDataLst>
          </p:nvPr>
        </p:nvSpPr>
        <p:spPr>
          <a:xfrm>
            <a:off x="482600" y="5191125"/>
            <a:ext cx="5466715" cy="11550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高效推送，带宽大</a:t>
            </a:r>
            <a:endParaRPr lang="en-US" sz="2400" dirty="0"/>
          </a:p>
        </p:txBody>
      </p:sp>
      <p:sp>
        <p:nvSpPr>
          <p:cNvPr id="22" name="Shape 19"/>
          <p:cNvSpPr/>
          <p:nvPr>
            <p:custDataLst>
              <p:tags r:id="rId19"/>
            </p:custDataLst>
          </p:nvPr>
        </p:nvSpPr>
        <p:spPr>
          <a:xfrm>
            <a:off x="6196965" y="4739005"/>
            <a:ext cx="5741035" cy="1452880"/>
          </a:xfrm>
          <a:custGeom>
            <a:avLst/>
            <a:gdLst/>
            <a:ahLst/>
            <a:cxnLst/>
            <a:rect l="l" t="t" r="r" b="b"/>
            <a:pathLst>
              <a:path w="5740400" h="863600">
                <a:moveTo>
                  <a:pt x="101603" y="0"/>
                </a:moveTo>
                <a:lnTo>
                  <a:pt x="5638797" y="0"/>
                </a:lnTo>
                <a:cubicBezTo>
                  <a:pt x="5694911" y="0"/>
                  <a:pt x="5740400" y="45489"/>
                  <a:pt x="5740400" y="101603"/>
                </a:cubicBezTo>
                <a:lnTo>
                  <a:pt x="5740400" y="761997"/>
                </a:lnTo>
                <a:cubicBezTo>
                  <a:pt x="5740400" y="818111"/>
                  <a:pt x="5694911" y="863600"/>
                  <a:pt x="5638797" y="863600"/>
                </a:cubicBezTo>
                <a:lnTo>
                  <a:pt x="101603" y="863600"/>
                </a:lnTo>
                <a:cubicBezTo>
                  <a:pt x="45527" y="863600"/>
                  <a:pt x="0" y="818073"/>
                  <a:pt x="0" y="7619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7484DF">
              <a:alpha val="20000"/>
            </a:srgbClr>
          </a:solidFill>
        </p:spPr>
      </p:sp>
      <p:sp>
        <p:nvSpPr>
          <p:cNvPr id="23" name="Text 20"/>
          <p:cNvSpPr/>
          <p:nvPr>
            <p:custDataLst>
              <p:tags r:id="rId20"/>
            </p:custDataLst>
          </p:nvPr>
        </p:nvSpPr>
        <p:spPr>
          <a:xfrm>
            <a:off x="6358040" y="4889566"/>
            <a:ext cx="5479421" cy="301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7484D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上行共享</a:t>
            </a:r>
            <a:endParaRPr lang="en-US" sz="2400" dirty="0"/>
          </a:p>
        </p:txBody>
      </p:sp>
      <p:sp>
        <p:nvSpPr>
          <p:cNvPr id="24" name="Text 21"/>
          <p:cNvSpPr/>
          <p:nvPr>
            <p:custDataLst>
              <p:tags r:id="rId21"/>
            </p:custDataLst>
          </p:nvPr>
        </p:nvSpPr>
        <p:spPr>
          <a:xfrm>
            <a:off x="6364605" y="5191125"/>
            <a:ext cx="5466715" cy="1146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信道竞争，效率低</a:t>
            </a:r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7" grpId="0"/>
      <p:bldP spid="7" grpId="1"/>
      <p:bldP spid="8" grpId="0"/>
      <p:bldP spid="8" grpId="1"/>
      <p:bldP spid="12" grpId="0"/>
      <p:bldP spid="12" grpId="1"/>
      <p:bldP spid="17" grpId="0"/>
      <p:bldP spid="17" grpId="1"/>
      <p:bldP spid="13" grpId="0"/>
      <p:bldP spid="13" grpId="1"/>
      <p:bldP spid="18" grpId="0"/>
      <p:bldP spid="18" grpId="1"/>
      <p:bldP spid="20" grpId="0"/>
      <p:bldP spid="20" grpId="1"/>
      <p:bldP spid="21" grpId="0"/>
      <p:bldP spid="21" grpId="1"/>
      <p:bldP spid="23" grpId="0"/>
      <p:bldP spid="23" grpId="1"/>
      <p:bldP spid="24" grpId="0"/>
      <p:bldP spid="24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9700" y="46355"/>
            <a:ext cx="11912600" cy="15538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FTTx：光纤直达层级</a:t>
            </a:r>
            <a:endParaRPr lang="en-US" sz="4800" dirty="0"/>
          </a:p>
        </p:txBody>
      </p:sp>
      <p:sp>
        <p:nvSpPr>
          <p:cNvPr id="4" name="Shape 1"/>
          <p:cNvSpPr/>
          <p:nvPr/>
        </p:nvSpPr>
        <p:spPr>
          <a:xfrm>
            <a:off x="254000" y="1905000"/>
            <a:ext cx="11684000" cy="1066800"/>
          </a:xfrm>
          <a:custGeom>
            <a:avLst/>
            <a:gdLst/>
            <a:ahLst/>
            <a:cxnLst/>
            <a:rect l="l" t="t" r="r" b="b"/>
            <a:pathLst>
              <a:path w="11684000" h="1066800">
                <a:moveTo>
                  <a:pt x="101602" y="0"/>
                </a:moveTo>
                <a:lnTo>
                  <a:pt x="11582398" y="0"/>
                </a:lnTo>
                <a:cubicBezTo>
                  <a:pt x="11638511" y="0"/>
                  <a:pt x="11684000" y="45489"/>
                  <a:pt x="11684000" y="101602"/>
                </a:cubicBezTo>
                <a:lnTo>
                  <a:pt x="11684000" y="1066800"/>
                </a:lnTo>
                <a:lnTo>
                  <a:pt x="0" y="1066800"/>
                </a:ln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ADD8E6">
              <a:alpha val="80000"/>
            </a:srgbClr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692150" y="22098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57150" y="0"/>
                </a:moveTo>
                <a:cubicBezTo>
                  <a:pt x="25628" y="0"/>
                  <a:pt x="0" y="25628"/>
                  <a:pt x="0" y="57150"/>
                </a:cubicBezTo>
                <a:lnTo>
                  <a:pt x="0" y="400050"/>
                </a:lnTo>
                <a:cubicBezTo>
                  <a:pt x="0" y="431572"/>
                  <a:pt x="25628" y="457200"/>
                  <a:pt x="57150" y="457200"/>
                </a:cubicBezTo>
                <a:lnTo>
                  <a:pt x="285750" y="457200"/>
                </a:lnTo>
                <a:cubicBezTo>
                  <a:pt x="317272" y="457200"/>
                  <a:pt x="342900" y="431572"/>
                  <a:pt x="342900" y="400050"/>
                </a:cubicBezTo>
                <a:lnTo>
                  <a:pt x="342900" y="57150"/>
                </a:lnTo>
                <a:cubicBezTo>
                  <a:pt x="342900" y="25628"/>
                  <a:pt x="317272" y="0"/>
                  <a:pt x="285750" y="0"/>
                </a:cubicBezTo>
                <a:lnTo>
                  <a:pt x="57150" y="0"/>
                </a:lnTo>
                <a:close/>
                <a:moveTo>
                  <a:pt x="157163" y="314325"/>
                </a:moveTo>
                <a:lnTo>
                  <a:pt x="185738" y="314325"/>
                </a:lnTo>
                <a:cubicBezTo>
                  <a:pt x="201543" y="314325"/>
                  <a:pt x="214313" y="327094"/>
                  <a:pt x="214313" y="342900"/>
                </a:cubicBezTo>
                <a:lnTo>
                  <a:pt x="214313" y="414338"/>
                </a:lnTo>
                <a:lnTo>
                  <a:pt x="128588" y="414338"/>
                </a:lnTo>
                <a:lnTo>
                  <a:pt x="128588" y="342900"/>
                </a:lnTo>
                <a:cubicBezTo>
                  <a:pt x="128588" y="327094"/>
                  <a:pt x="141357" y="314325"/>
                  <a:pt x="157163" y="314325"/>
                </a:cubicBezTo>
                <a:close/>
                <a:moveTo>
                  <a:pt x="85725" y="100013"/>
                </a:moveTo>
                <a:cubicBezTo>
                  <a:pt x="85725" y="92154"/>
                  <a:pt x="92154" y="85725"/>
                  <a:pt x="100013" y="85725"/>
                </a:cubicBezTo>
                <a:lnTo>
                  <a:pt x="128588" y="85725"/>
                </a:lnTo>
                <a:cubicBezTo>
                  <a:pt x="136446" y="85725"/>
                  <a:pt x="142875" y="92154"/>
                  <a:pt x="142875" y="100013"/>
                </a:cubicBezTo>
                <a:lnTo>
                  <a:pt x="142875" y="128588"/>
                </a:lnTo>
                <a:cubicBezTo>
                  <a:pt x="142875" y="136446"/>
                  <a:pt x="136446" y="142875"/>
                  <a:pt x="128588" y="142875"/>
                </a:cubicBezTo>
                <a:lnTo>
                  <a:pt x="100013" y="142875"/>
                </a:lnTo>
                <a:cubicBezTo>
                  <a:pt x="92154" y="142875"/>
                  <a:pt x="85725" y="136446"/>
                  <a:pt x="85725" y="128588"/>
                </a:cubicBezTo>
                <a:lnTo>
                  <a:pt x="85725" y="100013"/>
                </a:lnTo>
                <a:close/>
                <a:moveTo>
                  <a:pt x="214313" y="85725"/>
                </a:moveTo>
                <a:lnTo>
                  <a:pt x="242888" y="85725"/>
                </a:lnTo>
                <a:cubicBezTo>
                  <a:pt x="250746" y="85725"/>
                  <a:pt x="257175" y="92154"/>
                  <a:pt x="257175" y="100013"/>
                </a:cubicBezTo>
                <a:lnTo>
                  <a:pt x="257175" y="128588"/>
                </a:lnTo>
                <a:cubicBezTo>
                  <a:pt x="257175" y="136446"/>
                  <a:pt x="250746" y="142875"/>
                  <a:pt x="242888" y="142875"/>
                </a:cubicBezTo>
                <a:lnTo>
                  <a:pt x="214313" y="142875"/>
                </a:lnTo>
                <a:cubicBezTo>
                  <a:pt x="206454" y="142875"/>
                  <a:pt x="200025" y="136446"/>
                  <a:pt x="200025" y="128588"/>
                </a:cubicBezTo>
                <a:lnTo>
                  <a:pt x="200025" y="100013"/>
                </a:lnTo>
                <a:cubicBezTo>
                  <a:pt x="200025" y="92154"/>
                  <a:pt x="206454" y="85725"/>
                  <a:pt x="214313" y="85725"/>
                </a:cubicBezTo>
                <a:close/>
                <a:moveTo>
                  <a:pt x="85725" y="214313"/>
                </a:moveTo>
                <a:cubicBezTo>
                  <a:pt x="85725" y="206454"/>
                  <a:pt x="92154" y="200025"/>
                  <a:pt x="100013" y="200025"/>
                </a:cubicBezTo>
                <a:lnTo>
                  <a:pt x="128588" y="200025"/>
                </a:lnTo>
                <a:cubicBezTo>
                  <a:pt x="136446" y="200025"/>
                  <a:pt x="142875" y="206454"/>
                  <a:pt x="142875" y="214313"/>
                </a:cubicBezTo>
                <a:lnTo>
                  <a:pt x="142875" y="242888"/>
                </a:lnTo>
                <a:cubicBezTo>
                  <a:pt x="142875" y="250746"/>
                  <a:pt x="136446" y="257175"/>
                  <a:pt x="128588" y="257175"/>
                </a:cubicBezTo>
                <a:lnTo>
                  <a:pt x="100013" y="257175"/>
                </a:lnTo>
                <a:cubicBezTo>
                  <a:pt x="92154" y="257175"/>
                  <a:pt x="85725" y="250746"/>
                  <a:pt x="85725" y="242888"/>
                </a:cubicBezTo>
                <a:lnTo>
                  <a:pt x="85725" y="214313"/>
                </a:lnTo>
                <a:close/>
                <a:moveTo>
                  <a:pt x="214313" y="200025"/>
                </a:moveTo>
                <a:lnTo>
                  <a:pt x="242888" y="200025"/>
                </a:lnTo>
                <a:cubicBezTo>
                  <a:pt x="250746" y="200025"/>
                  <a:pt x="257175" y="206454"/>
                  <a:pt x="257175" y="214313"/>
                </a:cubicBezTo>
                <a:lnTo>
                  <a:pt x="257175" y="242888"/>
                </a:lnTo>
                <a:cubicBezTo>
                  <a:pt x="257175" y="250746"/>
                  <a:pt x="250746" y="257175"/>
                  <a:pt x="242888" y="257175"/>
                </a:cubicBezTo>
                <a:lnTo>
                  <a:pt x="214313" y="257175"/>
                </a:lnTo>
                <a:cubicBezTo>
                  <a:pt x="206454" y="257175"/>
                  <a:pt x="200025" y="250746"/>
                  <a:pt x="200025" y="242888"/>
                </a:cubicBezTo>
                <a:lnTo>
                  <a:pt x="200025" y="214313"/>
                </a:lnTo>
                <a:cubicBezTo>
                  <a:pt x="200025" y="206454"/>
                  <a:pt x="206454" y="200025"/>
                  <a:pt x="214313" y="200025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6" name="Text 3"/>
          <p:cNvSpPr/>
          <p:nvPr>
            <p:custDataLst>
              <p:tags r:id="rId2"/>
            </p:custDataLst>
          </p:nvPr>
        </p:nvSpPr>
        <p:spPr>
          <a:xfrm>
            <a:off x="1473200" y="2108200"/>
            <a:ext cx="104140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FTTH (光纤到户)</a:t>
            </a:r>
            <a:endParaRPr lang="en-US" sz="1600" dirty="0"/>
          </a:p>
        </p:txBody>
      </p:sp>
      <p:sp>
        <p:nvSpPr>
          <p:cNvPr id="7" name="Text 4"/>
          <p:cNvSpPr/>
          <p:nvPr>
            <p:custDataLst>
              <p:tags r:id="rId3"/>
            </p:custDataLst>
          </p:nvPr>
        </p:nvSpPr>
        <p:spPr>
          <a:xfrm>
            <a:off x="1473200" y="2514600"/>
            <a:ext cx="10350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终极独享，带宽最高，投资最大。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740767" y="2971800"/>
            <a:ext cx="10706100" cy="1066800"/>
          </a:xfrm>
          <a:custGeom>
            <a:avLst/>
            <a:gdLst/>
            <a:ahLst/>
            <a:cxnLst/>
            <a:rect l="l" t="t" r="r" b="b"/>
            <a:pathLst>
              <a:path w="10706100" h="1066800">
                <a:moveTo>
                  <a:pt x="0" y="0"/>
                </a:moveTo>
                <a:lnTo>
                  <a:pt x="10706100" y="0"/>
                </a:lnTo>
                <a:lnTo>
                  <a:pt x="10706100" y="1066800"/>
                </a:ln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solidFill>
            <a:srgbClr val="ADD8E6">
              <a:alpha val="60000"/>
            </a:srgbClr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121767" y="3276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99936" y="28575"/>
                </a:moveTo>
                <a:lnTo>
                  <a:pt x="131891" y="28575"/>
                </a:lnTo>
                <a:cubicBezTo>
                  <a:pt x="105638" y="28575"/>
                  <a:pt x="82689" y="46524"/>
                  <a:pt x="76438" y="71973"/>
                </a:cubicBezTo>
                <a:lnTo>
                  <a:pt x="1250" y="375493"/>
                </a:lnTo>
                <a:cubicBezTo>
                  <a:pt x="-5447" y="402461"/>
                  <a:pt x="15002" y="428625"/>
                  <a:pt x="42863" y="428625"/>
                </a:cubicBezTo>
                <a:lnTo>
                  <a:pt x="199936" y="428625"/>
                </a:lnTo>
                <a:lnTo>
                  <a:pt x="199936" y="371475"/>
                </a:lnTo>
                <a:cubicBezTo>
                  <a:pt x="199936" y="355669"/>
                  <a:pt x="212705" y="342900"/>
                  <a:pt x="228511" y="342900"/>
                </a:cubicBezTo>
                <a:cubicBezTo>
                  <a:pt x="244316" y="342900"/>
                  <a:pt x="257086" y="355669"/>
                  <a:pt x="257086" y="371475"/>
                </a:cubicBezTo>
                <a:lnTo>
                  <a:pt x="257086" y="428625"/>
                </a:lnTo>
                <a:lnTo>
                  <a:pt x="414338" y="428625"/>
                </a:lnTo>
                <a:cubicBezTo>
                  <a:pt x="442198" y="428625"/>
                  <a:pt x="462647" y="402461"/>
                  <a:pt x="455950" y="375493"/>
                </a:cubicBezTo>
                <a:lnTo>
                  <a:pt x="380851" y="71973"/>
                </a:lnTo>
                <a:cubicBezTo>
                  <a:pt x="374511" y="46524"/>
                  <a:pt x="351651" y="28575"/>
                  <a:pt x="325309" y="28575"/>
                </a:cubicBezTo>
                <a:lnTo>
                  <a:pt x="257086" y="28575"/>
                </a:lnTo>
                <a:lnTo>
                  <a:pt x="257086" y="85725"/>
                </a:lnTo>
                <a:cubicBezTo>
                  <a:pt x="257086" y="101531"/>
                  <a:pt x="244316" y="114300"/>
                  <a:pt x="228511" y="114300"/>
                </a:cubicBezTo>
                <a:cubicBezTo>
                  <a:pt x="212705" y="114300"/>
                  <a:pt x="199936" y="101531"/>
                  <a:pt x="199936" y="85725"/>
                </a:cubicBezTo>
                <a:lnTo>
                  <a:pt x="199936" y="28575"/>
                </a:lnTo>
                <a:close/>
                <a:moveTo>
                  <a:pt x="257086" y="200025"/>
                </a:moveTo>
                <a:lnTo>
                  <a:pt x="257086" y="257175"/>
                </a:lnTo>
                <a:cubicBezTo>
                  <a:pt x="257086" y="272981"/>
                  <a:pt x="244316" y="285750"/>
                  <a:pt x="228511" y="285750"/>
                </a:cubicBezTo>
                <a:cubicBezTo>
                  <a:pt x="212705" y="285750"/>
                  <a:pt x="199936" y="272981"/>
                  <a:pt x="199936" y="257175"/>
                </a:cubicBezTo>
                <a:lnTo>
                  <a:pt x="199936" y="200025"/>
                </a:lnTo>
                <a:cubicBezTo>
                  <a:pt x="199936" y="184219"/>
                  <a:pt x="212705" y="171450"/>
                  <a:pt x="228511" y="171450"/>
                </a:cubicBezTo>
                <a:cubicBezTo>
                  <a:pt x="244316" y="171450"/>
                  <a:pt x="257086" y="184219"/>
                  <a:pt x="257086" y="200025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0" name="Text 7"/>
          <p:cNvSpPr/>
          <p:nvPr>
            <p:custDataLst>
              <p:tags r:id="rId4"/>
            </p:custDataLst>
          </p:nvPr>
        </p:nvSpPr>
        <p:spPr>
          <a:xfrm>
            <a:off x="1959967" y="3175000"/>
            <a:ext cx="94361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FTTC (光纤到路边)</a:t>
            </a:r>
            <a:endParaRPr lang="en-US" sz="1600" dirty="0"/>
          </a:p>
        </p:txBody>
      </p:sp>
      <p:sp>
        <p:nvSpPr>
          <p:cNvPr id="11" name="Text 8"/>
          <p:cNvSpPr/>
          <p:nvPr>
            <p:custDataLst>
              <p:tags r:id="rId5"/>
            </p:custDataLst>
          </p:nvPr>
        </p:nvSpPr>
        <p:spPr>
          <a:xfrm>
            <a:off x="1959967" y="3581400"/>
            <a:ext cx="93726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光纤接近用户，最后段用铜线。</a:t>
            </a: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1227733" y="4038600"/>
            <a:ext cx="9740900" cy="1066800"/>
          </a:xfrm>
          <a:custGeom>
            <a:avLst/>
            <a:gdLst/>
            <a:ahLst/>
            <a:cxnLst/>
            <a:rect l="l" t="t" r="r" b="b"/>
            <a:pathLst>
              <a:path w="9740900" h="1066800">
                <a:moveTo>
                  <a:pt x="0" y="0"/>
                </a:moveTo>
                <a:lnTo>
                  <a:pt x="9740900" y="0"/>
                </a:lnTo>
                <a:lnTo>
                  <a:pt x="9740900" y="965198"/>
                </a:lnTo>
                <a:cubicBezTo>
                  <a:pt x="9740900" y="1021311"/>
                  <a:pt x="9695411" y="1066800"/>
                  <a:pt x="9639298" y="1066800"/>
                </a:cubicBezTo>
                <a:lnTo>
                  <a:pt x="101602" y="1066800"/>
                </a:lnTo>
                <a:cubicBezTo>
                  <a:pt x="45489" y="1066800"/>
                  <a:pt x="0" y="1021311"/>
                  <a:pt x="0" y="965198"/>
                </a:cubicBezTo>
                <a:lnTo>
                  <a:pt x="0" y="0"/>
                </a:lnTo>
                <a:close/>
              </a:path>
            </a:pathLst>
          </a:custGeom>
          <a:solidFill>
            <a:srgbClr val="ADD8E6">
              <a:alpha val="40000"/>
            </a:srgbClr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Shape 10"/>
          <p:cNvSpPr/>
          <p:nvPr>
            <p:custDataLst>
              <p:tags r:id="rId6"/>
            </p:custDataLst>
          </p:nvPr>
        </p:nvSpPr>
        <p:spPr>
          <a:xfrm>
            <a:off x="1551583" y="43434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57150" y="57150"/>
                </a:moveTo>
                <a:cubicBezTo>
                  <a:pt x="57150" y="25628"/>
                  <a:pt x="82778" y="0"/>
                  <a:pt x="114300" y="0"/>
                </a:cubicBezTo>
                <a:lnTo>
                  <a:pt x="342900" y="0"/>
                </a:lnTo>
                <a:cubicBezTo>
                  <a:pt x="374422" y="0"/>
                  <a:pt x="400050" y="25628"/>
                  <a:pt x="400050" y="57150"/>
                </a:cubicBezTo>
                <a:lnTo>
                  <a:pt x="400050" y="165467"/>
                </a:lnTo>
                <a:cubicBezTo>
                  <a:pt x="358170" y="182434"/>
                  <a:pt x="328613" y="223510"/>
                  <a:pt x="328613" y="271463"/>
                </a:cubicBezTo>
                <a:cubicBezTo>
                  <a:pt x="328613" y="296198"/>
                  <a:pt x="336471" y="319147"/>
                  <a:pt x="349865" y="337899"/>
                </a:cubicBezTo>
                <a:cubicBezTo>
                  <a:pt x="303877" y="356652"/>
                  <a:pt x="271463" y="401836"/>
                  <a:pt x="271463" y="454610"/>
                </a:cubicBezTo>
                <a:cubicBezTo>
                  <a:pt x="271463" y="455503"/>
                  <a:pt x="271463" y="456307"/>
                  <a:pt x="271463" y="457200"/>
                </a:cubicBezTo>
                <a:lnTo>
                  <a:pt x="114300" y="457200"/>
                </a:lnTo>
                <a:cubicBezTo>
                  <a:pt x="82778" y="457200"/>
                  <a:pt x="57150" y="431572"/>
                  <a:pt x="57150" y="400050"/>
                </a:cubicBezTo>
                <a:lnTo>
                  <a:pt x="57150" y="57150"/>
                </a:lnTo>
                <a:close/>
                <a:moveTo>
                  <a:pt x="185738" y="357188"/>
                </a:moveTo>
                <a:lnTo>
                  <a:pt x="185738" y="414338"/>
                </a:lnTo>
                <a:lnTo>
                  <a:pt x="233422" y="414338"/>
                </a:lnTo>
                <a:cubicBezTo>
                  <a:pt x="239851" y="388084"/>
                  <a:pt x="252442" y="364242"/>
                  <a:pt x="269498" y="344418"/>
                </a:cubicBezTo>
                <a:cubicBezTo>
                  <a:pt x="264051" y="327005"/>
                  <a:pt x="247799" y="314325"/>
                  <a:pt x="228600" y="314325"/>
                </a:cubicBezTo>
                <a:cubicBezTo>
                  <a:pt x="204936" y="314325"/>
                  <a:pt x="185737" y="333524"/>
                  <a:pt x="185737" y="357188"/>
                </a:cubicBezTo>
                <a:close/>
                <a:moveTo>
                  <a:pt x="302716" y="200293"/>
                </a:moveTo>
                <a:cubicBezTo>
                  <a:pt x="301823" y="200114"/>
                  <a:pt x="300930" y="200025"/>
                  <a:pt x="300038" y="200025"/>
                </a:cubicBezTo>
                <a:lnTo>
                  <a:pt x="271463" y="200025"/>
                </a:lnTo>
                <a:cubicBezTo>
                  <a:pt x="263604" y="200025"/>
                  <a:pt x="257175" y="206454"/>
                  <a:pt x="257175" y="214313"/>
                </a:cubicBezTo>
                <a:lnTo>
                  <a:pt x="257175" y="242888"/>
                </a:lnTo>
                <a:cubicBezTo>
                  <a:pt x="257175" y="250746"/>
                  <a:pt x="263604" y="257175"/>
                  <a:pt x="271463" y="257175"/>
                </a:cubicBezTo>
                <a:lnTo>
                  <a:pt x="286375" y="257175"/>
                </a:lnTo>
                <a:cubicBezTo>
                  <a:pt x="288250" y="236815"/>
                  <a:pt x="293876" y="217616"/>
                  <a:pt x="302716" y="200293"/>
                </a:cubicBezTo>
                <a:close/>
                <a:moveTo>
                  <a:pt x="157163" y="85725"/>
                </a:moveTo>
                <a:cubicBezTo>
                  <a:pt x="149304" y="85725"/>
                  <a:pt x="142875" y="92154"/>
                  <a:pt x="142875" y="100013"/>
                </a:cubicBezTo>
                <a:lnTo>
                  <a:pt x="142875" y="128588"/>
                </a:lnTo>
                <a:cubicBezTo>
                  <a:pt x="142875" y="136446"/>
                  <a:pt x="149304" y="142875"/>
                  <a:pt x="157163" y="142875"/>
                </a:cubicBezTo>
                <a:lnTo>
                  <a:pt x="185738" y="142875"/>
                </a:lnTo>
                <a:cubicBezTo>
                  <a:pt x="193596" y="142875"/>
                  <a:pt x="200025" y="136446"/>
                  <a:pt x="200025" y="128588"/>
                </a:cubicBezTo>
                <a:lnTo>
                  <a:pt x="200025" y="100013"/>
                </a:lnTo>
                <a:cubicBezTo>
                  <a:pt x="200025" y="92154"/>
                  <a:pt x="193596" y="85725"/>
                  <a:pt x="185738" y="85725"/>
                </a:cubicBezTo>
                <a:lnTo>
                  <a:pt x="157163" y="85725"/>
                </a:lnTo>
                <a:close/>
                <a:moveTo>
                  <a:pt x="257175" y="100013"/>
                </a:moveTo>
                <a:lnTo>
                  <a:pt x="257175" y="128588"/>
                </a:lnTo>
                <a:cubicBezTo>
                  <a:pt x="257175" y="136446"/>
                  <a:pt x="263604" y="142875"/>
                  <a:pt x="271463" y="142875"/>
                </a:cubicBezTo>
                <a:lnTo>
                  <a:pt x="300038" y="142875"/>
                </a:lnTo>
                <a:cubicBezTo>
                  <a:pt x="307896" y="142875"/>
                  <a:pt x="314325" y="136446"/>
                  <a:pt x="314325" y="128588"/>
                </a:cubicBezTo>
                <a:lnTo>
                  <a:pt x="314325" y="100013"/>
                </a:lnTo>
                <a:cubicBezTo>
                  <a:pt x="314325" y="92154"/>
                  <a:pt x="307896" y="85725"/>
                  <a:pt x="300038" y="85725"/>
                </a:cubicBezTo>
                <a:lnTo>
                  <a:pt x="271463" y="85725"/>
                </a:lnTo>
                <a:cubicBezTo>
                  <a:pt x="263604" y="85725"/>
                  <a:pt x="257175" y="92154"/>
                  <a:pt x="257175" y="100013"/>
                </a:cubicBezTo>
                <a:close/>
                <a:moveTo>
                  <a:pt x="157163" y="200025"/>
                </a:moveTo>
                <a:cubicBezTo>
                  <a:pt x="149304" y="200025"/>
                  <a:pt x="142875" y="206454"/>
                  <a:pt x="142875" y="214313"/>
                </a:cubicBezTo>
                <a:lnTo>
                  <a:pt x="142875" y="242888"/>
                </a:lnTo>
                <a:cubicBezTo>
                  <a:pt x="142875" y="250746"/>
                  <a:pt x="149304" y="257175"/>
                  <a:pt x="157163" y="257175"/>
                </a:cubicBezTo>
                <a:lnTo>
                  <a:pt x="185738" y="257175"/>
                </a:lnTo>
                <a:cubicBezTo>
                  <a:pt x="193596" y="257175"/>
                  <a:pt x="200025" y="250746"/>
                  <a:pt x="200025" y="242888"/>
                </a:cubicBezTo>
                <a:lnTo>
                  <a:pt x="200025" y="214313"/>
                </a:lnTo>
                <a:cubicBezTo>
                  <a:pt x="200025" y="206454"/>
                  <a:pt x="193596" y="200025"/>
                  <a:pt x="185738" y="200025"/>
                </a:cubicBezTo>
                <a:lnTo>
                  <a:pt x="157163" y="200025"/>
                </a:lnTo>
                <a:close/>
                <a:moveTo>
                  <a:pt x="371475" y="271463"/>
                </a:moveTo>
                <a:cubicBezTo>
                  <a:pt x="371475" y="232035"/>
                  <a:pt x="403485" y="200025"/>
                  <a:pt x="442913" y="200025"/>
                </a:cubicBezTo>
                <a:cubicBezTo>
                  <a:pt x="482340" y="200025"/>
                  <a:pt x="514350" y="232035"/>
                  <a:pt x="514350" y="271463"/>
                </a:cubicBezTo>
                <a:cubicBezTo>
                  <a:pt x="514350" y="310890"/>
                  <a:pt x="482340" y="342900"/>
                  <a:pt x="442913" y="342900"/>
                </a:cubicBezTo>
                <a:cubicBezTo>
                  <a:pt x="403485" y="342900"/>
                  <a:pt x="371475" y="310890"/>
                  <a:pt x="371475" y="271463"/>
                </a:cubicBezTo>
                <a:close/>
                <a:moveTo>
                  <a:pt x="314325" y="457200"/>
                </a:moveTo>
                <a:cubicBezTo>
                  <a:pt x="314325" y="409873"/>
                  <a:pt x="352723" y="371475"/>
                  <a:pt x="400050" y="371475"/>
                </a:cubicBezTo>
                <a:lnTo>
                  <a:pt x="485775" y="371475"/>
                </a:lnTo>
                <a:cubicBezTo>
                  <a:pt x="533102" y="371475"/>
                  <a:pt x="571500" y="409873"/>
                  <a:pt x="571500" y="457200"/>
                </a:cubicBezTo>
                <a:cubicBezTo>
                  <a:pt x="571500" y="473006"/>
                  <a:pt x="558731" y="485775"/>
                  <a:pt x="542925" y="485775"/>
                </a:cubicBezTo>
                <a:lnTo>
                  <a:pt x="342900" y="485775"/>
                </a:lnTo>
                <a:cubicBezTo>
                  <a:pt x="327094" y="485775"/>
                  <a:pt x="314325" y="473006"/>
                  <a:pt x="314325" y="457200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14" name="Text 11"/>
          <p:cNvSpPr/>
          <p:nvPr>
            <p:custDataLst>
              <p:tags r:id="rId7"/>
            </p:custDataLst>
          </p:nvPr>
        </p:nvSpPr>
        <p:spPr>
          <a:xfrm>
            <a:off x="2446933" y="4241800"/>
            <a:ext cx="84709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FTTB (光纤到大楼)</a:t>
            </a:r>
            <a:endParaRPr lang="en-US" sz="1600" dirty="0"/>
          </a:p>
        </p:txBody>
      </p:sp>
      <p:sp>
        <p:nvSpPr>
          <p:cNvPr id="15" name="Text 12"/>
          <p:cNvSpPr/>
          <p:nvPr>
            <p:custDataLst>
              <p:tags r:id="rId8"/>
            </p:custDataLst>
          </p:nvPr>
        </p:nvSpPr>
        <p:spPr>
          <a:xfrm>
            <a:off x="2446933" y="4648200"/>
            <a:ext cx="84074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覆盖多用户，成本与性能平衡。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196850" y="5410200"/>
            <a:ext cx="11798300" cy="1137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8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演进路线：</a:t>
            </a:r>
            <a:r>
              <a:rPr lang="en-US" sz="2800" b="1" dirty="0">
                <a:solidFill>
                  <a:srgbClr val="FFFFFF"/>
                </a:solidFill>
                <a:highlight>
                  <a:srgbClr val="7484DF">
                    <a:alpha val="100000"/>
                  </a:srgbClr>
                </a:highligh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“光进铜退”</a:t>
            </a:r>
            <a:endParaRPr lang="en-US" sz="2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6" grpId="1"/>
      <p:bldP spid="6" grpId="0"/>
      <p:bldP spid="6" grpId="1"/>
      <p:bldP spid="7" grpId="0"/>
      <p:bldP spid="7" grpId="1"/>
      <p:bldP spid="10" grpId="0"/>
      <p:bldP spid="10" grpId="1"/>
      <p:bldP spid="11" grpId="0"/>
      <p:bldP spid="11" grpId="1"/>
      <p:bldP spid="14" grpId="0"/>
      <p:bldP spid="14" grpId="1"/>
      <p:bldP spid="15" grpId="0"/>
      <p:bldP spid="15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9700" y="35560"/>
            <a:ext cx="11912600" cy="159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无线接入：自由时空的交响曲</a:t>
            </a:r>
            <a:endParaRPr lang="en-US" sz="4800" dirty="0"/>
          </a:p>
        </p:txBody>
      </p:sp>
      <p:sp>
        <p:nvSpPr>
          <p:cNvPr id="4" name="Shape 1"/>
          <p:cNvSpPr/>
          <p:nvPr/>
        </p:nvSpPr>
        <p:spPr>
          <a:xfrm>
            <a:off x="4384675" y="1590040"/>
            <a:ext cx="3336925" cy="3185160"/>
          </a:xfrm>
          <a:custGeom>
            <a:avLst/>
            <a:gdLst/>
            <a:ahLst/>
            <a:cxnLst/>
            <a:rect l="l" t="t" r="r" b="b"/>
            <a:pathLst>
              <a:path w="2438400" h="2438400">
                <a:moveTo>
                  <a:pt x="1219200" y="0"/>
                </a:moveTo>
                <a:lnTo>
                  <a:pt x="1219200" y="0"/>
                </a:lnTo>
                <a:cubicBezTo>
                  <a:pt x="1892095" y="0"/>
                  <a:pt x="2438400" y="546305"/>
                  <a:pt x="2438400" y="1219200"/>
                </a:cubicBezTo>
                <a:lnTo>
                  <a:pt x="2438400" y="1219200"/>
                </a:lnTo>
                <a:cubicBezTo>
                  <a:pt x="2438400" y="1892095"/>
                  <a:pt x="1892095" y="2438400"/>
                  <a:pt x="1219200" y="2438400"/>
                </a:cubicBezTo>
                <a:lnTo>
                  <a:pt x="1219200" y="2438400"/>
                </a:lnTo>
                <a:cubicBezTo>
                  <a:pt x="546305" y="2438400"/>
                  <a:pt x="0" y="1892095"/>
                  <a:pt x="0" y="1219200"/>
                </a:cubicBezTo>
                <a:lnTo>
                  <a:pt x="0" y="1219200"/>
                </a:lnTo>
                <a:cubicBezTo>
                  <a:pt x="0" y="546305"/>
                  <a:pt x="546305" y="0"/>
                  <a:pt x="1219200" y="0"/>
                </a:cubicBezTo>
                <a:close/>
              </a:path>
            </a:pathLst>
          </a:custGeom>
          <a:solidFill>
            <a:srgbClr val="ADD8E6">
              <a:alpha val="30196"/>
            </a:srgbClr>
          </a:solidFill>
        </p:spPr>
      </p:sp>
      <p:sp>
        <p:nvSpPr>
          <p:cNvPr id="5" name="Shape 2"/>
          <p:cNvSpPr/>
          <p:nvPr/>
        </p:nvSpPr>
        <p:spPr>
          <a:xfrm>
            <a:off x="5634990" y="1994535"/>
            <a:ext cx="986155" cy="1015365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77701" y="6251"/>
                </a:moveTo>
                <a:cubicBezTo>
                  <a:pt x="186095" y="-2143"/>
                  <a:pt x="199668" y="-2143"/>
                  <a:pt x="207972" y="6251"/>
                </a:cubicBezTo>
                <a:lnTo>
                  <a:pt x="287804" y="86082"/>
                </a:lnTo>
                <a:lnTo>
                  <a:pt x="336917" y="36969"/>
                </a:lnTo>
                <a:cubicBezTo>
                  <a:pt x="348079" y="25807"/>
                  <a:pt x="366206" y="25807"/>
                  <a:pt x="377369" y="36969"/>
                </a:cubicBezTo>
                <a:lnTo>
                  <a:pt x="420231" y="79831"/>
                </a:lnTo>
                <a:cubicBezTo>
                  <a:pt x="431393" y="90994"/>
                  <a:pt x="431393" y="109121"/>
                  <a:pt x="420231" y="120283"/>
                </a:cubicBezTo>
                <a:lnTo>
                  <a:pt x="371118" y="169396"/>
                </a:lnTo>
                <a:lnTo>
                  <a:pt x="450949" y="249228"/>
                </a:lnTo>
                <a:cubicBezTo>
                  <a:pt x="459343" y="257621"/>
                  <a:pt x="459343" y="271195"/>
                  <a:pt x="450949" y="279499"/>
                </a:cubicBezTo>
                <a:lnTo>
                  <a:pt x="365224" y="365224"/>
                </a:lnTo>
                <a:cubicBezTo>
                  <a:pt x="356830" y="373618"/>
                  <a:pt x="343257" y="373618"/>
                  <a:pt x="334953" y="365224"/>
                </a:cubicBezTo>
                <a:lnTo>
                  <a:pt x="255121" y="285393"/>
                </a:lnTo>
                <a:lnTo>
                  <a:pt x="241280" y="299234"/>
                </a:lnTo>
                <a:cubicBezTo>
                  <a:pt x="251460" y="321201"/>
                  <a:pt x="257175" y="345668"/>
                  <a:pt x="257175" y="371475"/>
                </a:cubicBezTo>
                <a:cubicBezTo>
                  <a:pt x="257175" y="399782"/>
                  <a:pt x="250299" y="426393"/>
                  <a:pt x="238244" y="449878"/>
                </a:cubicBezTo>
                <a:cubicBezTo>
                  <a:pt x="234047" y="457914"/>
                  <a:pt x="223331" y="459075"/>
                  <a:pt x="216991" y="452646"/>
                </a:cubicBezTo>
                <a:lnTo>
                  <a:pt x="130999" y="366653"/>
                </a:lnTo>
                <a:lnTo>
                  <a:pt x="77420" y="420231"/>
                </a:lnTo>
                <a:cubicBezTo>
                  <a:pt x="66258" y="431393"/>
                  <a:pt x="48131" y="431393"/>
                  <a:pt x="36969" y="420231"/>
                </a:cubicBezTo>
                <a:cubicBezTo>
                  <a:pt x="25807" y="409069"/>
                  <a:pt x="25807" y="390942"/>
                  <a:pt x="36969" y="379780"/>
                </a:cubicBezTo>
                <a:lnTo>
                  <a:pt x="90547" y="326201"/>
                </a:lnTo>
                <a:lnTo>
                  <a:pt x="4554" y="240209"/>
                </a:lnTo>
                <a:cubicBezTo>
                  <a:pt x="-1875" y="233779"/>
                  <a:pt x="-714" y="223064"/>
                  <a:pt x="7322" y="218956"/>
                </a:cubicBezTo>
                <a:cubicBezTo>
                  <a:pt x="30807" y="206812"/>
                  <a:pt x="57507" y="200025"/>
                  <a:pt x="85725" y="200025"/>
                </a:cubicBezTo>
                <a:cubicBezTo>
                  <a:pt x="111532" y="200025"/>
                  <a:pt x="135999" y="205740"/>
                  <a:pt x="157966" y="215920"/>
                </a:cubicBezTo>
                <a:lnTo>
                  <a:pt x="171807" y="202079"/>
                </a:lnTo>
                <a:lnTo>
                  <a:pt x="91976" y="122337"/>
                </a:lnTo>
                <a:cubicBezTo>
                  <a:pt x="83582" y="113943"/>
                  <a:pt x="83582" y="100370"/>
                  <a:pt x="91976" y="92065"/>
                </a:cubicBezTo>
                <a:lnTo>
                  <a:pt x="177701" y="6251"/>
                </a:lnTo>
                <a:close/>
                <a:moveTo>
                  <a:pt x="192881" y="51703"/>
                </a:moveTo>
                <a:lnTo>
                  <a:pt x="137428" y="107156"/>
                </a:lnTo>
                <a:lnTo>
                  <a:pt x="202079" y="171807"/>
                </a:lnTo>
                <a:lnTo>
                  <a:pt x="257532" y="116354"/>
                </a:lnTo>
                <a:lnTo>
                  <a:pt x="192881" y="51703"/>
                </a:lnTo>
                <a:close/>
                <a:moveTo>
                  <a:pt x="350044" y="319772"/>
                </a:moveTo>
                <a:lnTo>
                  <a:pt x="405497" y="264319"/>
                </a:lnTo>
                <a:lnTo>
                  <a:pt x="340846" y="199668"/>
                </a:lnTo>
                <a:lnTo>
                  <a:pt x="285393" y="255121"/>
                </a:lnTo>
                <a:lnTo>
                  <a:pt x="350044" y="319772"/>
                </a:lnTo>
                <a:close/>
              </a:path>
            </a:pathLst>
          </a:custGeom>
          <a:solidFill>
            <a:srgbClr val="4A90E2"/>
          </a:solidFill>
        </p:spPr>
      </p:sp>
      <p:sp>
        <p:nvSpPr>
          <p:cNvPr id="6" name="Text 3"/>
          <p:cNvSpPr/>
          <p:nvPr/>
        </p:nvSpPr>
        <p:spPr>
          <a:xfrm>
            <a:off x="5740400" y="2957830"/>
            <a:ext cx="711200" cy="5619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卫星</a:t>
            </a:r>
            <a:endParaRPr lang="en-US" sz="2000" b="1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520055" y="3511550"/>
            <a:ext cx="1215390" cy="3892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全球覆盖</a:t>
            </a:r>
            <a:endParaRPr lang="en-US" sz="2000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2825115" y="1625600"/>
            <a:ext cx="2357120" cy="2336800"/>
          </a:xfrm>
          <a:custGeom>
            <a:avLst/>
            <a:gdLst/>
            <a:ahLst/>
            <a:cxnLst/>
            <a:rect l="l" t="t" r="r" b="b"/>
            <a:pathLst>
              <a:path w="1828800" h="1828800">
                <a:moveTo>
                  <a:pt x="914400" y="0"/>
                </a:moveTo>
                <a:lnTo>
                  <a:pt x="914400" y="0"/>
                </a:lnTo>
                <a:cubicBezTo>
                  <a:pt x="1419071" y="0"/>
                  <a:pt x="1828800" y="409729"/>
                  <a:pt x="1828800" y="914400"/>
                </a:cubicBezTo>
                <a:lnTo>
                  <a:pt x="1828800" y="914400"/>
                </a:lnTo>
                <a:cubicBezTo>
                  <a:pt x="1828800" y="1419071"/>
                  <a:pt x="1419071" y="1828800"/>
                  <a:pt x="914400" y="1828800"/>
                </a:cubicBezTo>
                <a:lnTo>
                  <a:pt x="914400" y="1828800"/>
                </a:lnTo>
                <a:cubicBezTo>
                  <a:pt x="409729" y="1828800"/>
                  <a:pt x="0" y="1419071"/>
                  <a:pt x="0" y="914400"/>
                </a:cubicBezTo>
                <a:lnTo>
                  <a:pt x="0" y="914400"/>
                </a:lnTo>
                <a:cubicBezTo>
                  <a:pt x="0" y="409729"/>
                  <a:pt x="409729" y="0"/>
                  <a:pt x="914400" y="0"/>
                </a:cubicBezTo>
                <a:close/>
              </a:path>
            </a:pathLst>
          </a:custGeom>
          <a:solidFill>
            <a:srgbClr val="ADD8E6">
              <a:alpha val="40000"/>
            </a:srgbClr>
          </a:solidFill>
        </p:spPr>
      </p:sp>
      <p:sp>
        <p:nvSpPr>
          <p:cNvPr id="9" name="Shape 6"/>
          <p:cNvSpPr/>
          <p:nvPr/>
        </p:nvSpPr>
        <p:spPr>
          <a:xfrm>
            <a:off x="3520440" y="2271395"/>
            <a:ext cx="697230" cy="46228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63141" y="41672"/>
                </a:moveTo>
                <a:cubicBezTo>
                  <a:pt x="363141" y="31775"/>
                  <a:pt x="355178" y="23812"/>
                  <a:pt x="345281" y="23812"/>
                </a:cubicBezTo>
                <a:cubicBezTo>
                  <a:pt x="335384" y="23812"/>
                  <a:pt x="327422" y="31775"/>
                  <a:pt x="327422" y="41672"/>
                </a:cubicBezTo>
                <a:lnTo>
                  <a:pt x="327422" y="339328"/>
                </a:lnTo>
                <a:cubicBezTo>
                  <a:pt x="327422" y="349225"/>
                  <a:pt x="335384" y="357188"/>
                  <a:pt x="345281" y="357188"/>
                </a:cubicBezTo>
                <a:cubicBezTo>
                  <a:pt x="355178" y="357188"/>
                  <a:pt x="363141" y="349225"/>
                  <a:pt x="363141" y="339328"/>
                </a:cubicBezTo>
                <a:lnTo>
                  <a:pt x="363141" y="41672"/>
                </a:lnTo>
                <a:close/>
                <a:moveTo>
                  <a:pt x="267891" y="95250"/>
                </a:moveTo>
                <a:cubicBezTo>
                  <a:pt x="257994" y="95250"/>
                  <a:pt x="250031" y="103212"/>
                  <a:pt x="250031" y="113109"/>
                </a:cubicBezTo>
                <a:lnTo>
                  <a:pt x="250031" y="339328"/>
                </a:lnTo>
                <a:cubicBezTo>
                  <a:pt x="250031" y="349225"/>
                  <a:pt x="257994" y="357188"/>
                  <a:pt x="267891" y="357188"/>
                </a:cubicBezTo>
                <a:cubicBezTo>
                  <a:pt x="277788" y="357188"/>
                  <a:pt x="285750" y="349225"/>
                  <a:pt x="285750" y="339328"/>
                </a:cubicBezTo>
                <a:lnTo>
                  <a:pt x="285750" y="113109"/>
                </a:lnTo>
                <a:cubicBezTo>
                  <a:pt x="285750" y="103212"/>
                  <a:pt x="277788" y="95250"/>
                  <a:pt x="267891" y="95250"/>
                </a:cubicBezTo>
                <a:close/>
                <a:moveTo>
                  <a:pt x="208359" y="184547"/>
                </a:moveTo>
                <a:cubicBezTo>
                  <a:pt x="208359" y="174650"/>
                  <a:pt x="200397" y="166688"/>
                  <a:pt x="190500" y="166688"/>
                </a:cubicBezTo>
                <a:cubicBezTo>
                  <a:pt x="180603" y="166688"/>
                  <a:pt x="172641" y="174650"/>
                  <a:pt x="172641" y="184547"/>
                </a:cubicBezTo>
                <a:lnTo>
                  <a:pt x="172641" y="339328"/>
                </a:lnTo>
                <a:cubicBezTo>
                  <a:pt x="172641" y="349225"/>
                  <a:pt x="180603" y="357188"/>
                  <a:pt x="190500" y="357188"/>
                </a:cubicBezTo>
                <a:cubicBezTo>
                  <a:pt x="200397" y="357188"/>
                  <a:pt x="208359" y="349225"/>
                  <a:pt x="208359" y="339328"/>
                </a:cubicBezTo>
                <a:lnTo>
                  <a:pt x="208359" y="184547"/>
                </a:lnTo>
                <a:close/>
                <a:moveTo>
                  <a:pt x="113109" y="238125"/>
                </a:moveTo>
                <a:cubicBezTo>
                  <a:pt x="103212" y="238125"/>
                  <a:pt x="95250" y="246087"/>
                  <a:pt x="95250" y="255984"/>
                </a:cubicBezTo>
                <a:lnTo>
                  <a:pt x="95250" y="339328"/>
                </a:lnTo>
                <a:cubicBezTo>
                  <a:pt x="95250" y="349225"/>
                  <a:pt x="103212" y="357188"/>
                  <a:pt x="113109" y="357188"/>
                </a:cubicBezTo>
                <a:cubicBezTo>
                  <a:pt x="123006" y="357188"/>
                  <a:pt x="130969" y="349225"/>
                  <a:pt x="130969" y="339328"/>
                </a:cubicBezTo>
                <a:lnTo>
                  <a:pt x="130969" y="255984"/>
                </a:lnTo>
                <a:cubicBezTo>
                  <a:pt x="130969" y="246087"/>
                  <a:pt x="123006" y="238125"/>
                  <a:pt x="113109" y="238125"/>
                </a:cubicBezTo>
                <a:close/>
                <a:moveTo>
                  <a:pt x="35719" y="285750"/>
                </a:moveTo>
                <a:cubicBezTo>
                  <a:pt x="25822" y="285750"/>
                  <a:pt x="17859" y="293712"/>
                  <a:pt x="17859" y="303609"/>
                </a:cubicBezTo>
                <a:lnTo>
                  <a:pt x="17859" y="339328"/>
                </a:lnTo>
                <a:cubicBezTo>
                  <a:pt x="17859" y="349225"/>
                  <a:pt x="25822" y="357188"/>
                  <a:pt x="35719" y="357188"/>
                </a:cubicBezTo>
                <a:cubicBezTo>
                  <a:pt x="45616" y="357188"/>
                  <a:pt x="53578" y="349225"/>
                  <a:pt x="53578" y="339328"/>
                </a:cubicBezTo>
                <a:lnTo>
                  <a:pt x="53578" y="303609"/>
                </a:lnTo>
                <a:cubicBezTo>
                  <a:pt x="53578" y="293712"/>
                  <a:pt x="45616" y="285750"/>
                  <a:pt x="35719" y="285750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10" name="Text 7"/>
          <p:cNvSpPr/>
          <p:nvPr/>
        </p:nvSpPr>
        <p:spPr>
          <a:xfrm>
            <a:off x="2872740" y="2870200"/>
            <a:ext cx="2132330" cy="444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4G/5G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3027045" y="3314700"/>
            <a:ext cx="1718310" cy="4908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移动宽带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6966585" y="1625600"/>
            <a:ext cx="2350135" cy="2326005"/>
          </a:xfrm>
          <a:custGeom>
            <a:avLst/>
            <a:gdLst/>
            <a:ahLst/>
            <a:cxnLst/>
            <a:rect l="l" t="t" r="r" b="b"/>
            <a:pathLst>
              <a:path w="1422400" h="1422400">
                <a:moveTo>
                  <a:pt x="711200" y="0"/>
                </a:moveTo>
                <a:lnTo>
                  <a:pt x="711200" y="0"/>
                </a:lnTo>
                <a:cubicBezTo>
                  <a:pt x="1103722" y="0"/>
                  <a:pt x="1422400" y="318678"/>
                  <a:pt x="1422400" y="711200"/>
                </a:cubicBezTo>
                <a:lnTo>
                  <a:pt x="1422400" y="711200"/>
                </a:lnTo>
                <a:cubicBezTo>
                  <a:pt x="1422400" y="1103722"/>
                  <a:pt x="1103722" y="1422400"/>
                  <a:pt x="711200" y="1422400"/>
                </a:cubicBezTo>
                <a:lnTo>
                  <a:pt x="711200" y="1422400"/>
                </a:lnTo>
                <a:cubicBezTo>
                  <a:pt x="318678" y="1422400"/>
                  <a:pt x="0" y="1103722"/>
                  <a:pt x="0" y="711200"/>
                </a:cubicBezTo>
                <a:lnTo>
                  <a:pt x="0" y="711200"/>
                </a:lnTo>
                <a:cubicBezTo>
                  <a:pt x="0" y="318678"/>
                  <a:pt x="318678" y="0"/>
                  <a:pt x="711200" y="0"/>
                </a:cubicBezTo>
                <a:close/>
              </a:path>
            </a:pathLst>
          </a:custGeom>
          <a:solidFill>
            <a:srgbClr val="ADD8E6">
              <a:alpha val="50196"/>
            </a:srgbClr>
          </a:solidFill>
        </p:spPr>
      </p:sp>
      <p:sp>
        <p:nvSpPr>
          <p:cNvPr id="13" name="Shape 10"/>
          <p:cNvSpPr/>
          <p:nvPr/>
        </p:nvSpPr>
        <p:spPr>
          <a:xfrm>
            <a:off x="7888605" y="2271395"/>
            <a:ext cx="629920" cy="43561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214313" y="71438"/>
                </a:moveTo>
                <a:cubicBezTo>
                  <a:pt x="146670" y="71438"/>
                  <a:pt x="85427" y="98227"/>
                  <a:pt x="40407" y="141833"/>
                </a:cubicBezTo>
                <a:cubicBezTo>
                  <a:pt x="30956" y="150986"/>
                  <a:pt x="15850" y="150763"/>
                  <a:pt x="6772" y="141312"/>
                </a:cubicBezTo>
                <a:cubicBezTo>
                  <a:pt x="-2307" y="131862"/>
                  <a:pt x="-2158" y="116756"/>
                  <a:pt x="7293" y="107677"/>
                </a:cubicBezTo>
                <a:cubicBezTo>
                  <a:pt x="60796" y="55736"/>
                  <a:pt x="133871" y="23812"/>
                  <a:pt x="214313" y="23812"/>
                </a:cubicBezTo>
                <a:cubicBezTo>
                  <a:pt x="294754" y="23812"/>
                  <a:pt x="367829" y="55736"/>
                  <a:pt x="421407" y="107677"/>
                </a:cubicBezTo>
                <a:cubicBezTo>
                  <a:pt x="430857" y="116830"/>
                  <a:pt x="431081" y="131936"/>
                  <a:pt x="421928" y="141312"/>
                </a:cubicBezTo>
                <a:cubicBezTo>
                  <a:pt x="412775" y="150688"/>
                  <a:pt x="397669" y="150986"/>
                  <a:pt x="388293" y="141833"/>
                </a:cubicBezTo>
                <a:cubicBezTo>
                  <a:pt x="343198" y="98227"/>
                  <a:pt x="281955" y="71438"/>
                  <a:pt x="214313" y="71438"/>
                </a:cubicBezTo>
                <a:close/>
                <a:moveTo>
                  <a:pt x="178594" y="321469"/>
                </a:moveTo>
                <a:cubicBezTo>
                  <a:pt x="178594" y="301755"/>
                  <a:pt x="194599" y="285750"/>
                  <a:pt x="214313" y="285750"/>
                </a:cubicBezTo>
                <a:cubicBezTo>
                  <a:pt x="234026" y="285750"/>
                  <a:pt x="250031" y="301755"/>
                  <a:pt x="250031" y="321469"/>
                </a:cubicBezTo>
                <a:cubicBezTo>
                  <a:pt x="250031" y="341182"/>
                  <a:pt x="234026" y="357188"/>
                  <a:pt x="214313" y="357188"/>
                </a:cubicBezTo>
                <a:cubicBezTo>
                  <a:pt x="194599" y="357188"/>
                  <a:pt x="178594" y="341182"/>
                  <a:pt x="178594" y="321469"/>
                </a:cubicBezTo>
                <a:close/>
                <a:moveTo>
                  <a:pt x="125016" y="242739"/>
                </a:moveTo>
                <a:cubicBezTo>
                  <a:pt x="116309" y="252636"/>
                  <a:pt x="101278" y="253529"/>
                  <a:pt x="91380" y="244822"/>
                </a:cubicBezTo>
                <a:cubicBezTo>
                  <a:pt x="81483" y="236116"/>
                  <a:pt x="80590" y="221084"/>
                  <a:pt x="89297" y="211187"/>
                </a:cubicBezTo>
                <a:cubicBezTo>
                  <a:pt x="119807" y="176659"/>
                  <a:pt x="164529" y="154781"/>
                  <a:pt x="214313" y="154781"/>
                </a:cubicBezTo>
                <a:cubicBezTo>
                  <a:pt x="264096" y="154781"/>
                  <a:pt x="308818" y="176659"/>
                  <a:pt x="339328" y="211187"/>
                </a:cubicBezTo>
                <a:cubicBezTo>
                  <a:pt x="348035" y="221084"/>
                  <a:pt x="347067" y="236116"/>
                  <a:pt x="337245" y="244822"/>
                </a:cubicBezTo>
                <a:cubicBezTo>
                  <a:pt x="327422" y="253529"/>
                  <a:pt x="312316" y="252561"/>
                  <a:pt x="303609" y="242739"/>
                </a:cubicBezTo>
                <a:cubicBezTo>
                  <a:pt x="281732" y="217959"/>
                  <a:pt x="249882" y="202406"/>
                  <a:pt x="214313" y="202406"/>
                </a:cubicBezTo>
                <a:cubicBezTo>
                  <a:pt x="178743" y="202406"/>
                  <a:pt x="146893" y="217959"/>
                  <a:pt x="125016" y="242739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14" name="Text 11"/>
          <p:cNvSpPr/>
          <p:nvPr/>
        </p:nvSpPr>
        <p:spPr>
          <a:xfrm>
            <a:off x="7010400" y="2882900"/>
            <a:ext cx="221361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Wi-Fi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7023100" y="3187700"/>
            <a:ext cx="2277110" cy="6318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局域高速</a:t>
            </a:r>
            <a:endParaRPr lang="en-US" sz="2000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5520690" y="4402455"/>
            <a:ext cx="1217295" cy="1185545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7484DF">
              <a:alpha val="80000"/>
            </a:srgbClr>
          </a:solidFill>
        </p:spPr>
      </p:sp>
      <p:sp>
        <p:nvSpPr>
          <p:cNvPr id="17" name="Shape 14"/>
          <p:cNvSpPr/>
          <p:nvPr/>
        </p:nvSpPr>
        <p:spPr>
          <a:xfrm>
            <a:off x="5943600" y="4140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9231" y="136029"/>
                </a:moveTo>
                <a:cubicBezTo>
                  <a:pt x="47149" y="80665"/>
                  <a:pt x="94833" y="38100"/>
                  <a:pt x="152400" y="38100"/>
                </a:cubicBezTo>
                <a:cubicBezTo>
                  <a:pt x="183952" y="38100"/>
                  <a:pt x="212527" y="50899"/>
                  <a:pt x="233243" y="71557"/>
                </a:cubicBezTo>
                <a:cubicBezTo>
                  <a:pt x="233363" y="71676"/>
                  <a:pt x="233482" y="71795"/>
                  <a:pt x="233601" y="71914"/>
                </a:cubicBezTo>
                <a:lnTo>
                  <a:pt x="238125" y="76200"/>
                </a:lnTo>
                <a:lnTo>
                  <a:pt x="209610" y="76200"/>
                </a:lnTo>
                <a:cubicBezTo>
                  <a:pt x="199073" y="76200"/>
                  <a:pt x="190560" y="84713"/>
                  <a:pt x="190560" y="95250"/>
                </a:cubicBezTo>
                <a:cubicBezTo>
                  <a:pt x="190560" y="105787"/>
                  <a:pt x="199073" y="114300"/>
                  <a:pt x="209610" y="114300"/>
                </a:cubicBezTo>
                <a:lnTo>
                  <a:pt x="285810" y="114300"/>
                </a:lnTo>
                <a:cubicBezTo>
                  <a:pt x="296347" y="114300"/>
                  <a:pt x="304860" y="105787"/>
                  <a:pt x="304860" y="95250"/>
                </a:cubicBezTo>
                <a:lnTo>
                  <a:pt x="304860" y="19050"/>
                </a:lnTo>
                <a:cubicBezTo>
                  <a:pt x="304860" y="8513"/>
                  <a:pt x="296347" y="0"/>
                  <a:pt x="285810" y="0"/>
                </a:cubicBezTo>
                <a:cubicBezTo>
                  <a:pt x="275273" y="0"/>
                  <a:pt x="266760" y="8513"/>
                  <a:pt x="266760" y="19050"/>
                </a:cubicBezTo>
                <a:lnTo>
                  <a:pt x="266760" y="50840"/>
                </a:lnTo>
                <a:lnTo>
                  <a:pt x="260033" y="44470"/>
                </a:lnTo>
                <a:cubicBezTo>
                  <a:pt x="232470" y="17026"/>
                  <a:pt x="194370" y="0"/>
                  <a:pt x="152400" y="0"/>
                </a:cubicBezTo>
                <a:cubicBezTo>
                  <a:pt x="75605" y="0"/>
                  <a:pt x="12085" y="56793"/>
                  <a:pt x="1548" y="130671"/>
                </a:cubicBezTo>
                <a:cubicBezTo>
                  <a:pt x="60" y="141089"/>
                  <a:pt x="7263" y="150733"/>
                  <a:pt x="17681" y="152221"/>
                </a:cubicBezTo>
                <a:cubicBezTo>
                  <a:pt x="28099" y="153710"/>
                  <a:pt x="37743" y="146447"/>
                  <a:pt x="39231" y="136088"/>
                </a:cubicBezTo>
                <a:close/>
                <a:moveTo>
                  <a:pt x="303252" y="174129"/>
                </a:moveTo>
                <a:cubicBezTo>
                  <a:pt x="304740" y="163711"/>
                  <a:pt x="297478" y="154067"/>
                  <a:pt x="287119" y="152579"/>
                </a:cubicBezTo>
                <a:cubicBezTo>
                  <a:pt x="276761" y="151090"/>
                  <a:pt x="267057" y="158353"/>
                  <a:pt x="265569" y="168712"/>
                </a:cubicBezTo>
                <a:cubicBezTo>
                  <a:pt x="257651" y="224076"/>
                  <a:pt x="209967" y="266640"/>
                  <a:pt x="152400" y="266640"/>
                </a:cubicBezTo>
                <a:cubicBezTo>
                  <a:pt x="120848" y="266640"/>
                  <a:pt x="92273" y="253841"/>
                  <a:pt x="71557" y="233184"/>
                </a:cubicBezTo>
                <a:cubicBezTo>
                  <a:pt x="71437" y="233065"/>
                  <a:pt x="71318" y="232946"/>
                  <a:pt x="71199" y="232827"/>
                </a:cubicBezTo>
                <a:lnTo>
                  <a:pt x="66675" y="228540"/>
                </a:lnTo>
                <a:lnTo>
                  <a:pt x="95190" y="228540"/>
                </a:lnTo>
                <a:cubicBezTo>
                  <a:pt x="105727" y="228540"/>
                  <a:pt x="114240" y="220028"/>
                  <a:pt x="114240" y="209490"/>
                </a:cubicBezTo>
                <a:cubicBezTo>
                  <a:pt x="114240" y="198953"/>
                  <a:pt x="105727" y="190440"/>
                  <a:pt x="95190" y="190440"/>
                </a:cubicBezTo>
                <a:lnTo>
                  <a:pt x="19050" y="190500"/>
                </a:lnTo>
                <a:cubicBezTo>
                  <a:pt x="13990" y="190500"/>
                  <a:pt x="9108" y="192524"/>
                  <a:pt x="5536" y="196155"/>
                </a:cubicBezTo>
                <a:cubicBezTo>
                  <a:pt x="1965" y="199787"/>
                  <a:pt x="-60" y="204609"/>
                  <a:pt x="0" y="209729"/>
                </a:cubicBezTo>
                <a:lnTo>
                  <a:pt x="595" y="285333"/>
                </a:lnTo>
                <a:cubicBezTo>
                  <a:pt x="655" y="295870"/>
                  <a:pt x="9287" y="304324"/>
                  <a:pt x="19824" y="304205"/>
                </a:cubicBezTo>
                <a:cubicBezTo>
                  <a:pt x="30361" y="304086"/>
                  <a:pt x="38814" y="295513"/>
                  <a:pt x="38695" y="284976"/>
                </a:cubicBezTo>
                <a:lnTo>
                  <a:pt x="38457" y="254318"/>
                </a:lnTo>
                <a:lnTo>
                  <a:pt x="44827" y="260330"/>
                </a:lnTo>
                <a:cubicBezTo>
                  <a:pt x="72390" y="287774"/>
                  <a:pt x="110430" y="304800"/>
                  <a:pt x="152400" y="304800"/>
                </a:cubicBezTo>
                <a:cubicBezTo>
                  <a:pt x="229195" y="304800"/>
                  <a:pt x="292715" y="248007"/>
                  <a:pt x="303252" y="174129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8" name="Text 15"/>
          <p:cNvSpPr/>
          <p:nvPr/>
        </p:nvSpPr>
        <p:spPr>
          <a:xfrm>
            <a:off x="5740400" y="4495800"/>
            <a:ext cx="836930" cy="3092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蓝牙</a:t>
            </a:r>
            <a:endParaRPr lang="en-US" sz="2000" b="1" dirty="0">
              <a:solidFill>
                <a:srgbClr val="FFFFFF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5523865" y="4796155"/>
            <a:ext cx="1210945" cy="7562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个域连接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96850" y="5384800"/>
            <a:ext cx="11798300" cy="1082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5G毫米波与低轨卫星互补，实现</a:t>
            </a:r>
            <a:r>
              <a:rPr lang="en-US" sz="2400" dirty="0">
                <a:solidFill>
                  <a:srgbClr val="4A90E2"/>
                </a:solidFill>
                <a:highlight>
                  <a:srgbClr val="ADD8E6">
                    <a:alpha val="100000"/>
                  </a:srgbClr>
                </a:highligh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“空天地海” </a:t>
            </a: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无缝覆盖。</a:t>
            </a:r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  <p:bldP spid="11" grpId="0"/>
      <p:bldP spid="11" grpId="1"/>
      <p:bldP spid="14" grpId="0"/>
      <p:bldP spid="14" grpId="1"/>
      <p:bldP spid="15" grpId="0"/>
      <p:bldP spid="15" grpId="1"/>
      <p:bldP spid="6" grpId="0"/>
      <p:bldP spid="6" grpId="1"/>
      <p:bldP spid="18" grpId="0"/>
      <p:bldP spid="18" grpId="1"/>
      <p:bldP spid="19" grpId="0"/>
      <p:bldP spid="19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1:00-d2tarl5nfo2stf9djj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7:31:00-d2tarl5nfo2stf9djj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7:31:00-d2tarl5nfo2stf9djjv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7:30:59-d2tarktnfo2stf9djjs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3128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F2F7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660717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回顾与前瞻</a:t>
            </a:r>
            <a:endParaRPr lang="en-US" sz="4400" dirty="0"/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Text 4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5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Text 6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7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5" name="Text 8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9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1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32280" y="31115"/>
            <a:ext cx="8326120" cy="16960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物理层知识地图速览</a:t>
            </a:r>
            <a:endParaRPr lang="en-US" sz="4800" b="1" dirty="0">
              <a:solidFill>
                <a:srgbClr val="4A90E2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042535" y="1696085"/>
            <a:ext cx="2079625" cy="1351915"/>
          </a:xfrm>
          <a:custGeom>
            <a:avLst/>
            <a:gdLst/>
            <a:ahLst/>
            <a:cxnLst/>
            <a:rect l="l" t="t" r="r" b="b"/>
            <a:pathLst>
              <a:path w="1879600" h="914400">
                <a:moveTo>
                  <a:pt x="101599" y="0"/>
                </a:moveTo>
                <a:lnTo>
                  <a:pt x="1778001" y="0"/>
                </a:lnTo>
                <a:cubicBezTo>
                  <a:pt x="1834113" y="0"/>
                  <a:pt x="1879600" y="45487"/>
                  <a:pt x="1879600" y="101599"/>
                </a:cubicBezTo>
                <a:lnTo>
                  <a:pt x="1879600" y="812801"/>
                </a:lnTo>
                <a:cubicBezTo>
                  <a:pt x="1879600" y="868913"/>
                  <a:pt x="1834113" y="914400"/>
                  <a:pt x="17780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4A90E2"/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223510" y="1727835"/>
            <a:ext cx="1786890" cy="9137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比特流传输</a:t>
            </a:r>
            <a:endParaRPr lang="en-US" sz="2400" b="1" dirty="0">
              <a:solidFill>
                <a:srgbClr val="FFFFFF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144770" y="2499360"/>
            <a:ext cx="1864995" cy="39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物理层核心使命</a:t>
            </a:r>
            <a:endParaRPr lang="en-US" sz="2000" dirty="0">
              <a:solidFill>
                <a:srgbClr val="FFFFFF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089650" y="3149600"/>
            <a:ext cx="12700" cy="406400"/>
          </a:xfrm>
          <a:custGeom>
            <a:avLst/>
            <a:gdLst/>
            <a:ahLst/>
            <a:cxnLst/>
            <a:rect l="l" t="t" r="r" b="b"/>
            <a:pathLst>
              <a:path w="12700" h="406400">
                <a:moveTo>
                  <a:pt x="0" y="0"/>
                </a:moveTo>
                <a:lnTo>
                  <a:pt x="12700" y="0"/>
                </a:lnTo>
                <a:lnTo>
                  <a:pt x="127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ADD8E6"/>
          </a:solidFill>
        </p:spPr>
      </p:sp>
      <p:sp>
        <p:nvSpPr>
          <p:cNvPr id="8" name="Shape 5"/>
          <p:cNvSpPr/>
          <p:nvPr>
            <p:custDataLst>
              <p:tags r:id="rId2"/>
            </p:custDataLst>
          </p:nvPr>
        </p:nvSpPr>
        <p:spPr>
          <a:xfrm>
            <a:off x="1416050" y="3657600"/>
            <a:ext cx="12700" cy="406400"/>
          </a:xfrm>
          <a:custGeom>
            <a:avLst/>
            <a:gdLst/>
            <a:ahLst/>
            <a:cxnLst/>
            <a:rect l="l" t="t" r="r" b="b"/>
            <a:pathLst>
              <a:path w="12700" h="406400">
                <a:moveTo>
                  <a:pt x="0" y="0"/>
                </a:moveTo>
                <a:lnTo>
                  <a:pt x="12700" y="0"/>
                </a:lnTo>
                <a:lnTo>
                  <a:pt x="127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ADD8E6"/>
          </a:solidFill>
        </p:spPr>
      </p:sp>
      <p:sp>
        <p:nvSpPr>
          <p:cNvPr id="9" name="Shape 6"/>
          <p:cNvSpPr/>
          <p:nvPr>
            <p:custDataLst>
              <p:tags r:id="rId3"/>
            </p:custDataLst>
          </p:nvPr>
        </p:nvSpPr>
        <p:spPr>
          <a:xfrm>
            <a:off x="3752850" y="3657600"/>
            <a:ext cx="12700" cy="406400"/>
          </a:xfrm>
          <a:custGeom>
            <a:avLst/>
            <a:gdLst/>
            <a:ahLst/>
            <a:cxnLst/>
            <a:rect l="l" t="t" r="r" b="b"/>
            <a:pathLst>
              <a:path w="12700" h="406400">
                <a:moveTo>
                  <a:pt x="0" y="0"/>
                </a:moveTo>
                <a:lnTo>
                  <a:pt x="12700" y="0"/>
                </a:lnTo>
                <a:lnTo>
                  <a:pt x="127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ADD8E6"/>
          </a:solidFill>
        </p:spPr>
      </p:sp>
      <p:sp>
        <p:nvSpPr>
          <p:cNvPr id="10" name="Shape 7"/>
          <p:cNvSpPr/>
          <p:nvPr>
            <p:custDataLst>
              <p:tags r:id="rId4"/>
            </p:custDataLst>
          </p:nvPr>
        </p:nvSpPr>
        <p:spPr>
          <a:xfrm>
            <a:off x="6089650" y="3657600"/>
            <a:ext cx="12700" cy="406400"/>
          </a:xfrm>
          <a:custGeom>
            <a:avLst/>
            <a:gdLst/>
            <a:ahLst/>
            <a:cxnLst/>
            <a:rect l="l" t="t" r="r" b="b"/>
            <a:pathLst>
              <a:path w="12700" h="406400">
                <a:moveTo>
                  <a:pt x="0" y="0"/>
                </a:moveTo>
                <a:lnTo>
                  <a:pt x="12700" y="0"/>
                </a:lnTo>
                <a:lnTo>
                  <a:pt x="127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ADD8E6"/>
          </a:solidFill>
        </p:spPr>
      </p:sp>
      <p:sp>
        <p:nvSpPr>
          <p:cNvPr id="11" name="Shape 8"/>
          <p:cNvSpPr/>
          <p:nvPr>
            <p:custDataLst>
              <p:tags r:id="rId5"/>
            </p:custDataLst>
          </p:nvPr>
        </p:nvSpPr>
        <p:spPr>
          <a:xfrm>
            <a:off x="8426450" y="3657600"/>
            <a:ext cx="12700" cy="406400"/>
          </a:xfrm>
          <a:custGeom>
            <a:avLst/>
            <a:gdLst/>
            <a:ahLst/>
            <a:cxnLst/>
            <a:rect l="l" t="t" r="r" b="b"/>
            <a:pathLst>
              <a:path w="12700" h="406400">
                <a:moveTo>
                  <a:pt x="0" y="0"/>
                </a:moveTo>
                <a:lnTo>
                  <a:pt x="12700" y="0"/>
                </a:lnTo>
                <a:lnTo>
                  <a:pt x="127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ADD8E6"/>
          </a:solidFill>
        </p:spPr>
      </p:sp>
      <p:sp>
        <p:nvSpPr>
          <p:cNvPr id="12" name="Shape 9"/>
          <p:cNvSpPr/>
          <p:nvPr>
            <p:custDataLst>
              <p:tags r:id="rId6"/>
            </p:custDataLst>
          </p:nvPr>
        </p:nvSpPr>
        <p:spPr>
          <a:xfrm>
            <a:off x="10763250" y="3657600"/>
            <a:ext cx="12700" cy="406400"/>
          </a:xfrm>
          <a:custGeom>
            <a:avLst/>
            <a:gdLst/>
            <a:ahLst/>
            <a:cxnLst/>
            <a:rect l="l" t="t" r="r" b="b"/>
            <a:pathLst>
              <a:path w="12700" h="406400">
                <a:moveTo>
                  <a:pt x="0" y="0"/>
                </a:moveTo>
                <a:lnTo>
                  <a:pt x="12700" y="0"/>
                </a:lnTo>
                <a:lnTo>
                  <a:pt x="12700" y="406400"/>
                </a:lnTo>
                <a:lnTo>
                  <a:pt x="0" y="406400"/>
                </a:lnTo>
                <a:lnTo>
                  <a:pt x="0" y="0"/>
                </a:lnTo>
                <a:close/>
              </a:path>
            </a:pathLst>
          </a:custGeom>
          <a:solidFill>
            <a:srgbClr val="ADD8E6"/>
          </a:solidFill>
        </p:spPr>
      </p:sp>
      <p:sp>
        <p:nvSpPr>
          <p:cNvPr id="13" name="Shape 10"/>
          <p:cNvSpPr/>
          <p:nvPr>
            <p:custDataLst>
              <p:tags r:id="rId7"/>
            </p:custDataLst>
          </p:nvPr>
        </p:nvSpPr>
        <p:spPr>
          <a:xfrm>
            <a:off x="304800" y="4165600"/>
            <a:ext cx="2235200" cy="1168400"/>
          </a:xfrm>
          <a:custGeom>
            <a:avLst/>
            <a:gdLst/>
            <a:ahLst/>
            <a:cxnLst/>
            <a:rect l="l" t="t" r="r" b="b"/>
            <a:pathLst>
              <a:path w="2235200" h="762000">
                <a:moveTo>
                  <a:pt x="101597" y="0"/>
                </a:moveTo>
                <a:lnTo>
                  <a:pt x="2133603" y="0"/>
                </a:lnTo>
                <a:cubicBezTo>
                  <a:pt x="2189713" y="0"/>
                  <a:pt x="2235200" y="45487"/>
                  <a:pt x="2235200" y="101597"/>
                </a:cubicBezTo>
                <a:lnTo>
                  <a:pt x="2235200" y="660403"/>
                </a:lnTo>
                <a:cubicBezTo>
                  <a:pt x="2235200" y="716513"/>
                  <a:pt x="2189713" y="762000"/>
                  <a:pt x="2133603" y="762000"/>
                </a:cubicBezTo>
                <a:lnTo>
                  <a:pt x="101597" y="762000"/>
                </a:lnTo>
                <a:cubicBezTo>
                  <a:pt x="45487" y="762000"/>
                  <a:pt x="0" y="716513"/>
                  <a:pt x="0" y="6604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ADD8E6">
              <a:alpha val="50196"/>
            </a:srgbClr>
          </a:solidFill>
        </p:spPr>
      </p:sp>
      <p:sp>
        <p:nvSpPr>
          <p:cNvPr id="14" name="Text 11"/>
          <p:cNvSpPr/>
          <p:nvPr>
            <p:custDataLst>
              <p:tags r:id="rId8"/>
            </p:custDataLst>
          </p:nvPr>
        </p:nvSpPr>
        <p:spPr>
          <a:xfrm>
            <a:off x="355600" y="4267200"/>
            <a:ext cx="2133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通信系统</a:t>
            </a:r>
            <a:endParaRPr lang="en-US" sz="2400" dirty="0"/>
          </a:p>
        </p:txBody>
      </p:sp>
      <p:sp>
        <p:nvSpPr>
          <p:cNvPr id="15" name="Text 12"/>
          <p:cNvSpPr/>
          <p:nvPr>
            <p:custDataLst>
              <p:tags r:id="rId9"/>
            </p:custDataLst>
          </p:nvPr>
        </p:nvSpPr>
        <p:spPr>
          <a:xfrm>
            <a:off x="368300" y="4622800"/>
            <a:ext cx="2108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源系统、传输系统、目的系统</a:t>
            </a:r>
            <a:endParaRPr lang="en-US" sz="2000" dirty="0"/>
          </a:p>
        </p:txBody>
      </p:sp>
      <p:sp>
        <p:nvSpPr>
          <p:cNvPr id="16" name="Shape 13"/>
          <p:cNvSpPr/>
          <p:nvPr>
            <p:custDataLst>
              <p:tags r:id="rId10"/>
            </p:custDataLst>
          </p:nvPr>
        </p:nvSpPr>
        <p:spPr>
          <a:xfrm>
            <a:off x="2641600" y="4165600"/>
            <a:ext cx="2235200" cy="1168400"/>
          </a:xfrm>
          <a:custGeom>
            <a:avLst/>
            <a:gdLst/>
            <a:ahLst/>
            <a:cxnLst/>
            <a:rect l="l" t="t" r="r" b="b"/>
            <a:pathLst>
              <a:path w="2235200" h="762000">
                <a:moveTo>
                  <a:pt x="101597" y="0"/>
                </a:moveTo>
                <a:lnTo>
                  <a:pt x="2133603" y="0"/>
                </a:lnTo>
                <a:cubicBezTo>
                  <a:pt x="2189713" y="0"/>
                  <a:pt x="2235200" y="45487"/>
                  <a:pt x="2235200" y="101597"/>
                </a:cubicBezTo>
                <a:lnTo>
                  <a:pt x="2235200" y="660403"/>
                </a:lnTo>
                <a:cubicBezTo>
                  <a:pt x="2235200" y="716513"/>
                  <a:pt x="2189713" y="762000"/>
                  <a:pt x="2133603" y="762000"/>
                </a:cubicBezTo>
                <a:lnTo>
                  <a:pt x="101597" y="762000"/>
                </a:lnTo>
                <a:cubicBezTo>
                  <a:pt x="45487" y="762000"/>
                  <a:pt x="0" y="716513"/>
                  <a:pt x="0" y="6604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ADD8E6">
              <a:alpha val="50196"/>
            </a:srgbClr>
          </a:solidFill>
        </p:spPr>
      </p:sp>
      <p:sp>
        <p:nvSpPr>
          <p:cNvPr id="17" name="Text 14"/>
          <p:cNvSpPr/>
          <p:nvPr>
            <p:custDataLst>
              <p:tags r:id="rId11"/>
            </p:custDataLst>
          </p:nvPr>
        </p:nvSpPr>
        <p:spPr>
          <a:xfrm>
            <a:off x="2692400" y="4267200"/>
            <a:ext cx="2133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信号处理</a:t>
            </a:r>
            <a:endParaRPr lang="en-US" sz="2400" b="1" dirty="0">
              <a:solidFill>
                <a:srgbClr val="4A90E2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8" name="Text 15"/>
          <p:cNvSpPr/>
          <p:nvPr>
            <p:custDataLst>
              <p:tags r:id="rId12"/>
            </p:custDataLst>
          </p:nvPr>
        </p:nvSpPr>
        <p:spPr>
          <a:xfrm>
            <a:off x="2705100" y="4622800"/>
            <a:ext cx="2108200" cy="650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编码、调制、奈氏、香农</a:t>
            </a:r>
            <a:endParaRPr lang="en-US" sz="2000" dirty="0"/>
          </a:p>
        </p:txBody>
      </p:sp>
      <p:sp>
        <p:nvSpPr>
          <p:cNvPr id="19" name="Shape 16"/>
          <p:cNvSpPr/>
          <p:nvPr>
            <p:custDataLst>
              <p:tags r:id="rId13"/>
            </p:custDataLst>
          </p:nvPr>
        </p:nvSpPr>
        <p:spPr>
          <a:xfrm>
            <a:off x="4978400" y="4165600"/>
            <a:ext cx="2235200" cy="1168400"/>
          </a:xfrm>
          <a:custGeom>
            <a:avLst/>
            <a:gdLst/>
            <a:ahLst/>
            <a:cxnLst/>
            <a:rect l="l" t="t" r="r" b="b"/>
            <a:pathLst>
              <a:path w="2235200" h="762000">
                <a:moveTo>
                  <a:pt x="101597" y="0"/>
                </a:moveTo>
                <a:lnTo>
                  <a:pt x="2133603" y="0"/>
                </a:lnTo>
                <a:cubicBezTo>
                  <a:pt x="2189713" y="0"/>
                  <a:pt x="2235200" y="45487"/>
                  <a:pt x="2235200" y="101597"/>
                </a:cubicBezTo>
                <a:lnTo>
                  <a:pt x="2235200" y="660403"/>
                </a:lnTo>
                <a:cubicBezTo>
                  <a:pt x="2235200" y="716513"/>
                  <a:pt x="2189713" y="762000"/>
                  <a:pt x="2133603" y="762000"/>
                </a:cubicBezTo>
                <a:lnTo>
                  <a:pt x="101597" y="762000"/>
                </a:lnTo>
                <a:cubicBezTo>
                  <a:pt x="45487" y="762000"/>
                  <a:pt x="0" y="716513"/>
                  <a:pt x="0" y="6604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ADD8E6">
              <a:alpha val="50196"/>
            </a:srgbClr>
          </a:solidFill>
        </p:spPr>
      </p:sp>
      <p:sp>
        <p:nvSpPr>
          <p:cNvPr id="20" name="Text 17"/>
          <p:cNvSpPr/>
          <p:nvPr>
            <p:custDataLst>
              <p:tags r:id="rId14"/>
            </p:custDataLst>
          </p:nvPr>
        </p:nvSpPr>
        <p:spPr>
          <a:xfrm>
            <a:off x="5029200" y="4267200"/>
            <a:ext cx="2133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传输媒体</a:t>
            </a:r>
            <a:endParaRPr lang="en-US" sz="2400" dirty="0"/>
          </a:p>
        </p:txBody>
      </p:sp>
      <p:sp>
        <p:nvSpPr>
          <p:cNvPr id="21" name="Text 18"/>
          <p:cNvSpPr/>
          <p:nvPr>
            <p:custDataLst>
              <p:tags r:id="rId15"/>
            </p:custDataLst>
          </p:nvPr>
        </p:nvSpPr>
        <p:spPr>
          <a:xfrm>
            <a:off x="5083175" y="4622800"/>
            <a:ext cx="2094230" cy="6800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有线(双绞线/光纤)、无线</a:t>
            </a:r>
            <a:endParaRPr lang="en-US" sz="2000" dirty="0"/>
          </a:p>
        </p:txBody>
      </p:sp>
      <p:sp>
        <p:nvSpPr>
          <p:cNvPr id="22" name="Shape 19"/>
          <p:cNvSpPr/>
          <p:nvPr>
            <p:custDataLst>
              <p:tags r:id="rId16"/>
            </p:custDataLst>
          </p:nvPr>
        </p:nvSpPr>
        <p:spPr>
          <a:xfrm>
            <a:off x="7315200" y="4165600"/>
            <a:ext cx="2235200" cy="1168400"/>
          </a:xfrm>
          <a:custGeom>
            <a:avLst/>
            <a:gdLst/>
            <a:ahLst/>
            <a:cxnLst/>
            <a:rect l="l" t="t" r="r" b="b"/>
            <a:pathLst>
              <a:path w="2235200" h="762000">
                <a:moveTo>
                  <a:pt x="101597" y="0"/>
                </a:moveTo>
                <a:lnTo>
                  <a:pt x="2133603" y="0"/>
                </a:lnTo>
                <a:cubicBezTo>
                  <a:pt x="2189713" y="0"/>
                  <a:pt x="2235200" y="45487"/>
                  <a:pt x="2235200" y="101597"/>
                </a:cubicBezTo>
                <a:lnTo>
                  <a:pt x="2235200" y="660403"/>
                </a:lnTo>
                <a:cubicBezTo>
                  <a:pt x="2235200" y="716513"/>
                  <a:pt x="2189713" y="762000"/>
                  <a:pt x="2133603" y="762000"/>
                </a:cubicBezTo>
                <a:lnTo>
                  <a:pt x="101597" y="762000"/>
                </a:lnTo>
                <a:cubicBezTo>
                  <a:pt x="45487" y="762000"/>
                  <a:pt x="0" y="716513"/>
                  <a:pt x="0" y="6604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ADD8E6">
              <a:alpha val="50196"/>
            </a:srgbClr>
          </a:solidFill>
        </p:spPr>
      </p:sp>
      <p:sp>
        <p:nvSpPr>
          <p:cNvPr id="23" name="Text 20"/>
          <p:cNvSpPr/>
          <p:nvPr>
            <p:custDataLst>
              <p:tags r:id="rId17"/>
            </p:custDataLst>
          </p:nvPr>
        </p:nvSpPr>
        <p:spPr>
          <a:xfrm>
            <a:off x="7366000" y="4267200"/>
            <a:ext cx="2133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复用技术</a:t>
            </a:r>
            <a:endParaRPr lang="en-US" sz="2400" dirty="0"/>
          </a:p>
        </p:txBody>
      </p:sp>
      <p:sp>
        <p:nvSpPr>
          <p:cNvPr id="24" name="Text 21"/>
          <p:cNvSpPr/>
          <p:nvPr>
            <p:custDataLst>
              <p:tags r:id="rId18"/>
            </p:custDataLst>
          </p:nvPr>
        </p:nvSpPr>
        <p:spPr>
          <a:xfrm>
            <a:off x="7378700" y="4622800"/>
            <a:ext cx="2108200" cy="6445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FDM、TDM、WDM、CDM</a:t>
            </a:r>
            <a:endParaRPr lang="en-US" sz="2000" dirty="0"/>
          </a:p>
        </p:txBody>
      </p:sp>
      <p:sp>
        <p:nvSpPr>
          <p:cNvPr id="25" name="Shape 22"/>
          <p:cNvSpPr/>
          <p:nvPr>
            <p:custDataLst>
              <p:tags r:id="rId19"/>
            </p:custDataLst>
          </p:nvPr>
        </p:nvSpPr>
        <p:spPr>
          <a:xfrm>
            <a:off x="9652000" y="4165600"/>
            <a:ext cx="2235200" cy="1169035"/>
          </a:xfrm>
          <a:custGeom>
            <a:avLst/>
            <a:gdLst/>
            <a:ahLst/>
            <a:cxnLst/>
            <a:rect l="l" t="t" r="r" b="b"/>
            <a:pathLst>
              <a:path w="2235200" h="762000">
                <a:moveTo>
                  <a:pt x="101597" y="0"/>
                </a:moveTo>
                <a:lnTo>
                  <a:pt x="2133603" y="0"/>
                </a:lnTo>
                <a:cubicBezTo>
                  <a:pt x="2189713" y="0"/>
                  <a:pt x="2235200" y="45487"/>
                  <a:pt x="2235200" y="101597"/>
                </a:cubicBezTo>
                <a:lnTo>
                  <a:pt x="2235200" y="660403"/>
                </a:lnTo>
                <a:cubicBezTo>
                  <a:pt x="2235200" y="716513"/>
                  <a:pt x="2189713" y="762000"/>
                  <a:pt x="2133603" y="762000"/>
                </a:cubicBezTo>
                <a:lnTo>
                  <a:pt x="101597" y="762000"/>
                </a:lnTo>
                <a:cubicBezTo>
                  <a:pt x="45487" y="762000"/>
                  <a:pt x="0" y="716513"/>
                  <a:pt x="0" y="6604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ADD8E6">
              <a:alpha val="50196"/>
            </a:srgbClr>
          </a:solidFill>
        </p:spPr>
      </p:sp>
      <p:sp>
        <p:nvSpPr>
          <p:cNvPr id="26" name="Text 23"/>
          <p:cNvSpPr/>
          <p:nvPr>
            <p:custDataLst>
              <p:tags r:id="rId20"/>
            </p:custDataLst>
          </p:nvPr>
        </p:nvSpPr>
        <p:spPr>
          <a:xfrm>
            <a:off x="9702800" y="4267200"/>
            <a:ext cx="2133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宽带接入</a:t>
            </a:r>
            <a:endParaRPr lang="en-US" sz="2400" dirty="0"/>
          </a:p>
        </p:txBody>
      </p:sp>
      <p:sp>
        <p:nvSpPr>
          <p:cNvPr id="27" name="Text 24"/>
          <p:cNvSpPr/>
          <p:nvPr>
            <p:custDataLst>
              <p:tags r:id="rId21"/>
            </p:custDataLst>
          </p:nvPr>
        </p:nvSpPr>
        <p:spPr>
          <a:xfrm>
            <a:off x="9715500" y="4622800"/>
            <a:ext cx="2108200" cy="650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ADSL、HFC、FTTx、无线</a:t>
            </a:r>
            <a:endParaRPr lang="en-US" sz="2000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396240" y="5334000"/>
            <a:ext cx="11205845" cy="12287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物理层对上层</a:t>
            </a:r>
            <a:r>
              <a:rPr lang="en-US" sz="2400" dirty="0">
                <a:solidFill>
                  <a:srgbClr val="4A90E2"/>
                </a:solidFill>
                <a:highlight>
                  <a:srgbClr val="ADD8E6">
                    <a:alpha val="100000"/>
                  </a:srgbClr>
                </a:highligh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透明 </a:t>
            </a: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，对下层</a:t>
            </a:r>
            <a:r>
              <a:rPr lang="en-US" sz="2400" dirty="0">
                <a:solidFill>
                  <a:srgbClr val="4A90E2"/>
                </a:solidFill>
                <a:highlight>
                  <a:srgbClr val="ADD8E6">
                    <a:alpha val="100000"/>
                  </a:srgbClr>
                </a:highligh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适配 </a:t>
            </a: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，是网络协议的基石。</a:t>
            </a:r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6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5" grpId="0"/>
      <p:bldP spid="5" grpId="1"/>
      <p:bldP spid="6" grpId="0"/>
      <p:bldP spid="6" grpId="1"/>
      <p:bldP spid="14" grpId="0"/>
      <p:bldP spid="14" grpId="1"/>
      <p:bldP spid="28" grpId="0"/>
      <p:bldP spid="28" grpId="1"/>
      <p:bldP spid="15" grpId="0"/>
      <p:bldP spid="15" grpId="1"/>
      <p:bldP spid="17" grpId="0"/>
      <p:bldP spid="17" grpId="1"/>
      <p:bldP spid="18" grpId="0"/>
      <p:bldP spid="18" grpId="1"/>
      <p:bldP spid="20" grpId="0"/>
      <p:bldP spid="20" grpId="1"/>
      <p:bldP spid="21" grpId="0"/>
      <p:bldP spid="21" grpId="1"/>
      <p:bldP spid="24" grpId="0"/>
      <p:bldP spid="24" grpId="1"/>
      <p:bldP spid="23" grpId="0"/>
      <p:bldP spid="23" grpId="1"/>
      <p:bldP spid="26" grpId="0"/>
      <p:bldP spid="26" grpId="1"/>
      <p:bldP spid="27" grpId="0"/>
      <p:bldP spid="27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23-d2tarqtnfo2stf9djkm0.jpg"/>
          <p:cNvPicPr>
            <a:picLocks noChangeAspect="1"/>
          </p:cNvPicPr>
          <p:nvPr/>
        </p:nvPicPr>
        <p:blipFill>
          <a:blip r:embed="rId1"/>
          <a:srcRect t="104" b="104"/>
          <a:stretch>
            <a:fillRect/>
          </a:stretch>
        </p:blipFill>
        <p:spPr>
          <a:xfrm flipH="1">
            <a:off x="0" y="2540"/>
            <a:ext cx="12192000" cy="68554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7380" y="2440940"/>
            <a:ext cx="7527290" cy="180467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46000"/>
                </a:srgbClr>
              </a:gs>
              <a:gs pos="30000">
                <a:srgbClr val="F9FBFD">
                  <a:alpha val="69000"/>
                </a:srgbClr>
              </a:gs>
              <a:gs pos="8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</p:spPr>
      </p:sp>
      <p:sp>
        <p:nvSpPr>
          <p:cNvPr id="4" name="Text 1"/>
          <p:cNvSpPr/>
          <p:nvPr/>
        </p:nvSpPr>
        <p:spPr>
          <a:xfrm>
            <a:off x="627380" y="2440940"/>
            <a:ext cx="7527290" cy="180467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941909" y="845595"/>
            <a:ext cx="209306" cy="42231"/>
          </a:xfrm>
          <a:prstGeom prst="rect">
            <a:avLst/>
          </a:prstGeom>
          <a:solidFill>
            <a:srgbClr val="808080"/>
          </a:solidFill>
          <a:ln w="19050">
            <a:solidFill>
              <a:srgbClr val="80808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41909" y="84559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941909" y="942569"/>
            <a:ext cx="209306" cy="42231"/>
          </a:xfrm>
          <a:prstGeom prst="rect">
            <a:avLst/>
          </a:prstGeom>
          <a:solidFill>
            <a:srgbClr val="808080"/>
          </a:solidFill>
          <a:ln w="19050">
            <a:solidFill>
              <a:srgbClr val="80808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41909" y="942569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41909" y="1039543"/>
            <a:ext cx="209306" cy="42231"/>
          </a:xfrm>
          <a:prstGeom prst="rect">
            <a:avLst/>
          </a:prstGeom>
          <a:solidFill>
            <a:srgbClr val="808080"/>
          </a:solidFill>
          <a:ln w="19050">
            <a:solidFill>
              <a:srgbClr val="80808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41909" y="1039543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1" name="Image 1" descr="https://kimi-img.moonshot.cn/pub/slides/slides_tmpl/image/25-09-05-17:30:59-d2tarktnfo2stf9djjsg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rot="16200000">
            <a:off x="10527665" y="365125"/>
            <a:ext cx="262890" cy="117030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56615" y="5796915"/>
            <a:ext cx="3632835" cy="33147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3" name="Text 9"/>
          <p:cNvSpPr/>
          <p:nvPr/>
        </p:nvSpPr>
        <p:spPr>
          <a:xfrm>
            <a:off x="856615" y="5549265"/>
            <a:ext cx="4954270" cy="579120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>
              <a:lnSpc>
                <a:spcPct val="90000"/>
              </a:lnSpc>
            </a:pPr>
            <a:r>
              <a:rPr lang="en-US" sz="2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汇报人：</a:t>
            </a:r>
            <a:r>
              <a:rPr lang="zh-CN" altLang="en-US" sz="24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甘芝清</a:t>
            </a:r>
            <a:r>
              <a:rPr lang="en-US" altLang="zh-CN" sz="24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黄慧雯</a:t>
            </a:r>
            <a:r>
              <a:rPr lang="en-US" altLang="zh-CN" sz="24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林银蕊</a:t>
            </a:r>
            <a:endParaRPr lang="zh-CN" altLang="en-US" sz="2400" b="1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6933565" y="5819775"/>
            <a:ext cx="4448810" cy="36639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r">
              <a:lnSpc>
                <a:spcPct val="90000"/>
              </a:lnSpc>
            </a:pPr>
            <a:r>
              <a:rPr lang="en-US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汇报日期：2025/12/03</a:t>
            </a:r>
            <a:endParaRPr lang="en-US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2513887" y="5982681"/>
            <a:ext cx="6486525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Shape 12"/>
          <p:cNvSpPr/>
          <p:nvPr/>
        </p:nvSpPr>
        <p:spPr>
          <a:xfrm>
            <a:off x="732155" y="3269615"/>
            <a:ext cx="5892800" cy="89344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7" name="Text 13"/>
          <p:cNvSpPr/>
          <p:nvPr/>
        </p:nvSpPr>
        <p:spPr>
          <a:xfrm>
            <a:off x="732155" y="3269615"/>
            <a:ext cx="5892800" cy="893445"/>
          </a:xfrm>
          <a:prstGeom prst="rect">
            <a:avLst/>
          </a:prstGeom>
          <a:noFill/>
        </p:spPr>
        <p:txBody>
          <a:bodyPr wrap="square" lIns="45720" tIns="91440" rIns="91440" bIns="45720" rtlCol="0" anchor="b"/>
          <a:lstStyle/>
          <a:p>
            <a:pPr>
              <a:lnSpc>
                <a:spcPct val="130000"/>
              </a:lnSpc>
            </a:pPr>
            <a:r>
              <a:rPr lang="en-US" sz="5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感谢您的观看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732155" y="2532380"/>
            <a:ext cx="6677660" cy="70929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9" name="Text 15"/>
          <p:cNvSpPr/>
          <p:nvPr/>
        </p:nvSpPr>
        <p:spPr>
          <a:xfrm>
            <a:off x="732155" y="2532380"/>
            <a:ext cx="6677660" cy="709295"/>
          </a:xfrm>
          <a:prstGeom prst="rect">
            <a:avLst/>
          </a:prstGeom>
          <a:noFill/>
        </p:spPr>
        <p:txBody>
          <a:bodyPr wrap="square" lIns="45720" tIns="91440" rIns="91440" bIns="45720" rtlCol="0" anchor="b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THANK YOU FOR READING！</a:t>
            </a:r>
            <a:endParaRPr lang="en-US" sz="1600" dirty="0"/>
          </a:p>
        </p:txBody>
      </p:sp>
      <p:pic>
        <p:nvPicPr>
          <p:cNvPr id="20" name="Image 2" descr="https://kimi-img.moonshot.cn/pub/slides/slides_tmpl/image/25-09-05-17:31:23-d2tarqtnfo2stf9djkm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5805" y="1319530"/>
            <a:ext cx="3823335" cy="42278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1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0" dur="1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DIAGRAM_VIRTUALLY_FRAME" val="{&quot;height&quot;:348.8,&quot;left&quot;:380.75,&quot;top&quot;:96.05,&quot;width&quot;:557.1}"/>
</p:tagLst>
</file>

<file path=ppt/tags/tag2.xml><?xml version="1.0" encoding="utf-8"?>
<p:tagLst xmlns:p="http://schemas.openxmlformats.org/presentationml/2006/main">
  <p:tag name="KSO_WM_DIAGRAM_VIRTUALLY_FRAME" val="{&quot;height&quot;:348.8,&quot;left&quot;:380.75,&quot;top&quot;:96.05,&quot;width&quot;:557.1}"/>
</p:tagLst>
</file>

<file path=ppt/tags/tag3.xml><?xml version="1.0" encoding="utf-8"?>
<p:tagLst xmlns:p="http://schemas.openxmlformats.org/presentationml/2006/main">
  <p:tag name="KSO_WM_DIAGRAM_VIRTUALLY_FRAME" val="{&quot;height&quot;:348.8,&quot;left&quot;:380.75,&quot;top&quot;:96.05,&quot;width&quot;:557.1}"/>
</p:tagLst>
</file>

<file path=ppt/tags/tag4.xml><?xml version="1.0" encoding="utf-8"?>
<p:tagLst xmlns:p="http://schemas.openxmlformats.org/presentationml/2006/main">
  <p:tag name="KSO_WM_DIAGRAM_VIRTUALLY_FRAME" val="{&quot;height&quot;:348.8,&quot;left&quot;:380.75,&quot;top&quot;:96.05,&quot;width&quot;:557.1}"/>
</p:tagLst>
</file>

<file path=ppt/tags/tag5.xml><?xml version="1.0" encoding="utf-8"?>
<p:tagLst xmlns:p="http://schemas.openxmlformats.org/presentationml/2006/main">
  <p:tag name="KSO_WM_DIAGRAM_VIRTUALLY_FRAME" val="{&quot;height&quot;:348.8,&quot;left&quot;:380.75,&quot;top&quot;:96.05,&quot;width&quot;:557.1}"/>
</p:tagLst>
</file>

<file path=ppt/tags/tag6.xml><?xml version="1.0" encoding="utf-8"?>
<p:tagLst xmlns:p="http://schemas.openxmlformats.org/presentationml/2006/main">
  <p:tag name="KSO_WM_DIAGRAM_VIRTUALLY_FRAME" val="{&quot;height&quot;:348.8,&quot;left&quot;:380.75,&quot;top&quot;:96.05,&quot;width&quot;:557.1}"/>
</p:tagLst>
</file>

<file path=ppt/tags/tag7.xml><?xml version="1.0" encoding="utf-8"?>
<p:tagLst xmlns:p="http://schemas.openxmlformats.org/presentationml/2006/main">
  <p:tag name="KSO_WM_DIAGRAM_VIRTUALLY_FRAME" val="{&quot;height&quot;:348.8,&quot;left&quot;:380.75,&quot;top&quot;:96.05,&quot;width&quot;:557.1}"/>
</p:tagLst>
</file>

<file path=ppt/tags/tag8.xml><?xml version="1.0" encoding="utf-8"?>
<p:tagLst xmlns:p="http://schemas.openxmlformats.org/presentationml/2006/main">
  <p:tag name="KSO_WM_DIAGRAM_VIRTUALLY_FRAME" val="{&quot;height&quot;:348.8,&quot;left&quot;:380.75,&quot;top&quot;:96.05,&quot;width&quot;:557.1}"/>
</p:tagLst>
</file>

<file path=ppt/tags/tag9.xml><?xml version="1.0" encoding="utf-8"?>
<p:tagLst xmlns:p="http://schemas.openxmlformats.org/presentationml/2006/main">
  <p:tag name="KSO_WM_DIAGRAM_VIRTUALLY_FRAME" val="{&quot;height&quot;:348.8,&quot;left&quot;:380.75,&quot;top&quot;:96.05,&quot;width&quot;:557.1}"/>
</p:tagLst>
</file>

<file path=ppt/tags/tag10.xml><?xml version="1.0" encoding="utf-8"?>
<p:tagLst xmlns:p="http://schemas.openxmlformats.org/presentationml/2006/main">
  <p:tag name="KSO_WM_DIAGRAM_VIRTUALLY_FRAME" val="{&quot;height&quot;:348.8,&quot;left&quot;:380.75,&quot;top&quot;:96.05,&quot;width&quot;:557.1}"/>
</p:tagLst>
</file>

<file path=ppt/tags/tag11.xml><?xml version="1.0" encoding="utf-8"?>
<p:tagLst xmlns:p="http://schemas.openxmlformats.org/presentationml/2006/main">
  <p:tag name="KSO_WM_DIAGRAM_VIRTUALLY_FRAME" val="{&quot;height&quot;:348.8,&quot;left&quot;:380.75,&quot;top&quot;:96.05,&quot;width&quot;:557.1}"/>
</p:tagLst>
</file>

<file path=ppt/tags/tag12.xml><?xml version="1.0" encoding="utf-8"?>
<p:tagLst xmlns:p="http://schemas.openxmlformats.org/presentationml/2006/main">
  <p:tag name="KSO_WM_DIAGRAM_VIRTUALLY_FRAME" val="{&quot;height&quot;:348.8,&quot;left&quot;:380.75,&quot;top&quot;:96.05,&quot;width&quot;:557.1}"/>
</p:tagLst>
</file>

<file path=ppt/tags/tag13.xml><?xml version="1.0" encoding="utf-8"?>
<p:tagLst xmlns:p="http://schemas.openxmlformats.org/presentationml/2006/main">
  <p:tag name="KSO_WM_DIAGRAM_VIRTUALLY_FRAME" val="{&quot;height&quot;:357,&quot;left&quot;:116,&quot;top&quot;:166,&quot;width&quot;:820}"/>
</p:tagLst>
</file>

<file path=ppt/tags/tag14.xml><?xml version="1.0" encoding="utf-8"?>
<p:tagLst xmlns:p="http://schemas.openxmlformats.org/presentationml/2006/main">
  <p:tag name="KSO_WM_DIAGRAM_VIRTUALLY_FRAME" val="{&quot;height&quot;:357,&quot;left&quot;:116,&quot;top&quot;:166,&quot;width&quot;:820}"/>
</p:tagLst>
</file>

<file path=ppt/tags/tag15.xml><?xml version="1.0" encoding="utf-8"?>
<p:tagLst xmlns:p="http://schemas.openxmlformats.org/presentationml/2006/main">
  <p:tag name="KSO_WM_DIAGRAM_VIRTUALLY_FRAME" val="{&quot;height&quot;:357,&quot;left&quot;:116,&quot;top&quot;:166,&quot;width&quot;:820}"/>
</p:tagLst>
</file>

<file path=ppt/tags/tag16.xml><?xml version="1.0" encoding="utf-8"?>
<p:tagLst xmlns:p="http://schemas.openxmlformats.org/presentationml/2006/main">
  <p:tag name="KSO_WM_DIAGRAM_VIRTUALLY_FRAME" val="{&quot;height&quot;:357,&quot;left&quot;:116,&quot;top&quot;:166,&quot;width&quot;:820}"/>
</p:tagLst>
</file>

<file path=ppt/tags/tag17.xml><?xml version="1.0" encoding="utf-8"?>
<p:tagLst xmlns:p="http://schemas.openxmlformats.org/presentationml/2006/main">
  <p:tag name="KSO_WM_DIAGRAM_VIRTUALLY_FRAME" val="{&quot;height&quot;:357,&quot;left&quot;:116,&quot;top&quot;:166,&quot;width&quot;:820}"/>
</p:tagLst>
</file>

<file path=ppt/tags/tag18.xml><?xml version="1.0" encoding="utf-8"?>
<p:tagLst xmlns:p="http://schemas.openxmlformats.org/presentationml/2006/main">
  <p:tag name="KSO_WM_DIAGRAM_VIRTUALLY_FRAME" val="{&quot;height&quot;:357,&quot;left&quot;:116,&quot;top&quot;:166,&quot;width&quot;:820}"/>
</p:tagLst>
</file>

<file path=ppt/tags/tag19.xml><?xml version="1.0" encoding="utf-8"?>
<p:tagLst xmlns:p="http://schemas.openxmlformats.org/presentationml/2006/main">
  <p:tag name="KSO_WM_DIAGRAM_VIRTUALLY_FRAME" val="{&quot;height&quot;:357,&quot;left&quot;:116,&quot;top&quot;:166,&quot;width&quot;:820}"/>
</p:tagLst>
</file>

<file path=ppt/tags/tag20.xml><?xml version="1.0" encoding="utf-8"?>
<p:tagLst xmlns:p="http://schemas.openxmlformats.org/presentationml/2006/main">
  <p:tag name="KSO_WM_DIAGRAM_VIRTUALLY_FRAME" val="{&quot;height&quot;:357,&quot;left&quot;:116,&quot;top&quot;:166,&quot;width&quot;:820}"/>
</p:tagLst>
</file>

<file path=ppt/tags/tag21.xml><?xml version="1.0" encoding="utf-8"?>
<p:tagLst xmlns:p="http://schemas.openxmlformats.org/presentationml/2006/main">
  <p:tag name="KSO_WM_DIAGRAM_VIRTUALLY_FRAME" val="{&quot;height&quot;:357,&quot;left&quot;:116,&quot;top&quot;:166,&quot;width&quot;:820}"/>
</p:tagLst>
</file>

<file path=ppt/tags/tag22.xml><?xml version="1.0" encoding="utf-8"?>
<p:tagLst xmlns:p="http://schemas.openxmlformats.org/presentationml/2006/main">
  <p:tag name="KSO_WM_DIAGRAM_VIRTUALLY_FRAME" val="{&quot;height&quot;:357,&quot;left&quot;:116,&quot;top&quot;:166,&quot;width&quot;:820}"/>
</p:tagLst>
</file>

<file path=ppt/tags/tag23.xml><?xml version="1.0" encoding="utf-8"?>
<p:tagLst xmlns:p="http://schemas.openxmlformats.org/presentationml/2006/main">
  <p:tag name="KSO_WM_DIAGRAM_VIRTUALLY_FRAME" val="{&quot;height&quot;:357,&quot;left&quot;:116,&quot;top&quot;:166,&quot;width&quot;:820}"/>
</p:tagLst>
</file>

<file path=ppt/tags/tag24.xml><?xml version="1.0" encoding="utf-8"?>
<p:tagLst xmlns:p="http://schemas.openxmlformats.org/presentationml/2006/main">
  <p:tag name="KSO_WM_DIAGRAM_VIRTUALLY_FRAME" val="{&quot;height&quot;:357,&quot;left&quot;:116,&quot;top&quot;:166,&quot;width&quot;:820}"/>
</p:tagLst>
</file>

<file path=ppt/tags/tag25.xml><?xml version="1.0" encoding="utf-8"?>
<p:tagLst xmlns:p="http://schemas.openxmlformats.org/presentationml/2006/main">
  <p:tag name="KSO_WM_DIAGRAM_VIRTUALLY_FRAME" val="{&quot;height&quot;:204.05,&quot;left&quot;:61.5,&quot;top&quot;:216,&quot;width&quot;:828.35}"/>
</p:tagLst>
</file>

<file path=ppt/tags/tag26.xml><?xml version="1.0" encoding="utf-8"?>
<p:tagLst xmlns:p="http://schemas.openxmlformats.org/presentationml/2006/main">
  <p:tag name="KSO_WM_DIAGRAM_VIRTUALLY_FRAME" val="{&quot;height&quot;:204.05,&quot;left&quot;:61.5,&quot;top&quot;:216,&quot;width&quot;:828.35}"/>
</p:tagLst>
</file>

<file path=ppt/tags/tag27.xml><?xml version="1.0" encoding="utf-8"?>
<p:tagLst xmlns:p="http://schemas.openxmlformats.org/presentationml/2006/main">
  <p:tag name="KSO_WM_DIAGRAM_VIRTUALLY_FRAME" val="{&quot;height&quot;:204.05,&quot;left&quot;:61.5,&quot;top&quot;:216,&quot;width&quot;:828.35}"/>
</p:tagLst>
</file>

<file path=ppt/tags/tag28.xml><?xml version="1.0" encoding="utf-8"?>
<p:tagLst xmlns:p="http://schemas.openxmlformats.org/presentationml/2006/main">
  <p:tag name="KSO_WM_DIAGRAM_VIRTUALLY_FRAME" val="{&quot;height&quot;:204.05,&quot;left&quot;:61.5,&quot;top&quot;:216,&quot;width&quot;:828.35}"/>
</p:tagLst>
</file>

<file path=ppt/tags/tag29.xml><?xml version="1.0" encoding="utf-8"?>
<p:tagLst xmlns:p="http://schemas.openxmlformats.org/presentationml/2006/main">
  <p:tag name="KSO_WM_DIAGRAM_VIRTUALLY_FRAME" val="{&quot;height&quot;:204.05,&quot;left&quot;:61.5,&quot;top&quot;:216,&quot;width&quot;:828.35}"/>
</p:tagLst>
</file>

<file path=ppt/tags/tag30.xml><?xml version="1.0" encoding="utf-8"?>
<p:tagLst xmlns:p="http://schemas.openxmlformats.org/presentationml/2006/main">
  <p:tag name="KSO_WM_DIAGRAM_VIRTUALLY_FRAME" val="{&quot;height&quot;:204.05,&quot;left&quot;:61.5,&quot;top&quot;:216,&quot;width&quot;:828.35}"/>
</p:tagLst>
</file>

<file path=ppt/tags/tag31.xml><?xml version="1.0" encoding="utf-8"?>
<p:tagLst xmlns:p="http://schemas.openxmlformats.org/presentationml/2006/main">
  <p:tag name="KSO_WM_DIAGRAM_VIRTUALLY_FRAME" val="{&quot;height&quot;:204.05,&quot;left&quot;:61.5,&quot;top&quot;:216,&quot;width&quot;:828.35}"/>
</p:tagLst>
</file>

<file path=ppt/tags/tag32.xml><?xml version="1.0" encoding="utf-8"?>
<p:tagLst xmlns:p="http://schemas.openxmlformats.org/presentationml/2006/main">
  <p:tag name="KSO_WM_DIAGRAM_VIRTUALLY_FRAME" val="{&quot;height&quot;:204.05,&quot;left&quot;:61.5,&quot;top&quot;:216,&quot;width&quot;:828.35}"/>
</p:tagLst>
</file>

<file path=ppt/tags/tag33.xml><?xml version="1.0" encoding="utf-8"?>
<p:tagLst xmlns:p="http://schemas.openxmlformats.org/presentationml/2006/main">
  <p:tag name="KSO_WM_DIAGRAM_VIRTUALLY_FRAME" val="{&quot;height&quot;:204.05,&quot;left&quot;:61.5,&quot;top&quot;:216,&quot;width&quot;:828.35}"/>
</p:tagLst>
</file>

<file path=ppt/tags/tag34.xml><?xml version="1.0" encoding="utf-8"?>
<p:tagLst xmlns:p="http://schemas.openxmlformats.org/presentationml/2006/main">
  <p:tag name="KSO_WM_DIAGRAM_VIRTUALLY_FRAME" val="{&quot;height&quot;:204.05,&quot;left&quot;:61.5,&quot;top&quot;:216,&quot;width&quot;:828.35}"/>
</p:tagLst>
</file>

<file path=ppt/tags/tag35.xml><?xml version="1.0" encoding="utf-8"?>
<p:tagLst xmlns:p="http://schemas.openxmlformats.org/presentationml/2006/main">
  <p:tag name="KSO_WM_DIAGRAM_VIRTUALLY_FRAME" val="{&quot;height&quot;:204.05,&quot;left&quot;:61.5,&quot;top&quot;:216,&quot;width&quot;:828.35}"/>
</p:tagLst>
</file>

<file path=ppt/tags/tag36.xml><?xml version="1.0" encoding="utf-8"?>
<p:tagLst xmlns:p="http://schemas.openxmlformats.org/presentationml/2006/main">
  <p:tag name="KSO_WM_DIAGRAM_VIRTUALLY_FRAME" val="{&quot;height&quot;:204.05,&quot;left&quot;:61.5,&quot;top&quot;:216,&quot;width&quot;:828.35}"/>
</p:tagLst>
</file>

<file path=ppt/tags/tag37.xml><?xml version="1.0" encoding="utf-8"?>
<p:tagLst xmlns:p="http://schemas.openxmlformats.org/presentationml/2006/main">
  <p:tag name="KSO_WM_DIAGRAM_VIRTUALLY_FRAME" val="{&quot;height&quot;:204.05,&quot;left&quot;:61.5,&quot;top&quot;:216,&quot;width&quot;:828.35}"/>
</p:tagLst>
</file>

<file path=ppt/tags/tag38.xml><?xml version="1.0" encoding="utf-8"?>
<p:tagLst xmlns:p="http://schemas.openxmlformats.org/presentationml/2006/main">
  <p:tag name="KSO_WM_DIAGRAM_VIRTUALLY_FRAME" val="{&quot;height&quot;:204.05,&quot;left&quot;:61.5,&quot;top&quot;:216,&quot;width&quot;:828.35}"/>
</p:tagLst>
</file>

<file path=ppt/tags/tag39.xml><?xml version="1.0" encoding="utf-8"?>
<p:tagLst xmlns:p="http://schemas.openxmlformats.org/presentationml/2006/main">
  <p:tag name="KSO_WM_DIAGRAM_VIRTUALLY_FRAME" val="{&quot;height&quot;:236,&quot;left&quot;:20,&quot;top&quot;:150,&quot;width&quot;:920.3437795275589}"/>
</p:tagLst>
</file>

<file path=ppt/tags/tag40.xml><?xml version="1.0" encoding="utf-8"?>
<p:tagLst xmlns:p="http://schemas.openxmlformats.org/presentationml/2006/main">
  <p:tag name="KSO_WM_DIAGRAM_VIRTUALLY_FRAME" val="{&quot;height&quot;:236,&quot;left&quot;:20,&quot;top&quot;:150,&quot;width&quot;:920.3437795275589}"/>
</p:tagLst>
</file>

<file path=ppt/tags/tag41.xml><?xml version="1.0" encoding="utf-8"?>
<p:tagLst xmlns:p="http://schemas.openxmlformats.org/presentationml/2006/main">
  <p:tag name="KSO_WM_DIAGRAM_VIRTUALLY_FRAME" val="{&quot;height&quot;:236,&quot;left&quot;:20,&quot;top&quot;:150,&quot;width&quot;:920.3437795275589}"/>
</p:tagLst>
</file>

<file path=ppt/tags/tag42.xml><?xml version="1.0" encoding="utf-8"?>
<p:tagLst xmlns:p="http://schemas.openxmlformats.org/presentationml/2006/main">
  <p:tag name="KSO_WM_DIAGRAM_VIRTUALLY_FRAME" val="{&quot;height&quot;:236,&quot;left&quot;:20,&quot;top&quot;:150,&quot;width&quot;:920.3437795275589}"/>
</p:tagLst>
</file>

<file path=ppt/tags/tag43.xml><?xml version="1.0" encoding="utf-8"?>
<p:tagLst xmlns:p="http://schemas.openxmlformats.org/presentationml/2006/main">
  <p:tag name="KSO_WM_DIAGRAM_VIRTUALLY_FRAME" val="{&quot;height&quot;:236,&quot;left&quot;:20,&quot;top&quot;:150,&quot;width&quot;:920.3437795275589}"/>
</p:tagLst>
</file>

<file path=ppt/tags/tag44.xml><?xml version="1.0" encoding="utf-8"?>
<p:tagLst xmlns:p="http://schemas.openxmlformats.org/presentationml/2006/main">
  <p:tag name="KSO_WM_DIAGRAM_VIRTUALLY_FRAME" val="{&quot;height&quot;:236,&quot;left&quot;:20,&quot;top&quot;:150,&quot;width&quot;:920.3437795275589}"/>
</p:tagLst>
</file>

<file path=ppt/tags/tag45.xml><?xml version="1.0" encoding="utf-8"?>
<p:tagLst xmlns:p="http://schemas.openxmlformats.org/presentationml/2006/main">
  <p:tag name="KSO_WM_DIAGRAM_VIRTUALLY_FRAME" val="{&quot;height&quot;:236,&quot;left&quot;:20,&quot;top&quot;:150,&quot;width&quot;:920.3437795275589}"/>
</p:tagLst>
</file>

<file path=ppt/tags/tag46.xml><?xml version="1.0" encoding="utf-8"?>
<p:tagLst xmlns:p="http://schemas.openxmlformats.org/presentationml/2006/main">
  <p:tag name="KSO_WM_DIAGRAM_VIRTUALLY_FRAME" val="{&quot;height&quot;:236,&quot;left&quot;:20,&quot;top&quot;:150,&quot;width&quot;:920.3437795275589}"/>
</p:tagLst>
</file>

<file path=ppt/tags/tag47.xml><?xml version="1.0" encoding="utf-8"?>
<p:tagLst xmlns:p="http://schemas.openxmlformats.org/presentationml/2006/main">
  <p:tag name="KSO_WM_DIAGRAM_VIRTUALLY_FRAME" val="{&quot;height&quot;:236,&quot;left&quot;:20,&quot;top&quot;:150,&quot;width&quot;:920.3437795275589}"/>
</p:tagLst>
</file>

<file path=ppt/tags/tag48.xml><?xml version="1.0" encoding="utf-8"?>
<p:tagLst xmlns:p="http://schemas.openxmlformats.org/presentationml/2006/main">
  <p:tag name="KSO_WM_DIAGRAM_VIRTUALLY_FRAME" val="{&quot;height&quot;:236,&quot;left&quot;:20,&quot;top&quot;:150,&quot;width&quot;:920.3437795275589}"/>
</p:tagLst>
</file>

<file path=ppt/tags/tag49.xml><?xml version="1.0" encoding="utf-8"?>
<p:tagLst xmlns:p="http://schemas.openxmlformats.org/presentationml/2006/main">
  <p:tag name="KSO_WM_DIAGRAM_VIRTUALLY_FRAME" val="{&quot;height&quot;:236,&quot;left&quot;:20,&quot;top&quot;:150,&quot;width&quot;:920.3437795275589}"/>
</p:tagLst>
</file>

<file path=ppt/tags/tag50.xml><?xml version="1.0" encoding="utf-8"?>
<p:tagLst xmlns:p="http://schemas.openxmlformats.org/presentationml/2006/main">
  <p:tag name="KSO_WM_DIAGRAM_VIRTUALLY_FRAME" val="{&quot;height&quot;:236,&quot;left&quot;:20,&quot;top&quot;:150,&quot;width&quot;:920.3437795275589}"/>
</p:tagLst>
</file>

<file path=ppt/tags/tag51.xml><?xml version="1.0" encoding="utf-8"?>
<p:tagLst xmlns:p="http://schemas.openxmlformats.org/presentationml/2006/main">
  <p:tag name="KSO_WM_DIAGRAM_VIRTUALLY_FRAME" val="{&quot;height&quot;:236,&quot;left&quot;:20,&quot;top&quot;:150,&quot;width&quot;:920.3437795275589}"/>
</p:tagLst>
</file>

<file path=ppt/tags/tag52.xml><?xml version="1.0" encoding="utf-8"?>
<p:tagLst xmlns:p="http://schemas.openxmlformats.org/presentationml/2006/main">
  <p:tag name="KSO_WM_DIAGRAM_VIRTUALLY_FRAME" val="{&quot;height&quot;:236,&quot;left&quot;:20,&quot;top&quot;:150,&quot;width&quot;:920.3437795275589}"/>
</p:tagLst>
</file>

<file path=ppt/tags/tag53.xml><?xml version="1.0" encoding="utf-8"?>
<p:tagLst xmlns:p="http://schemas.openxmlformats.org/presentationml/2006/main">
  <p:tag name="KSO_WM_DIAGRAM_VIRTUALLY_FRAME" val="{&quot;height&quot;:236,&quot;left&quot;:20,&quot;top&quot;:150,&quot;width&quot;:920.3437795275589}"/>
</p:tagLst>
</file>

<file path=ppt/tags/tag54.xml><?xml version="1.0" encoding="utf-8"?>
<p:tagLst xmlns:p="http://schemas.openxmlformats.org/presentationml/2006/main">
  <p:tag name="KSO_WM_DIAGRAM_VIRTUALLY_FRAME" val="{&quot;height&quot;:240,&quot;left&quot;:20,&quot;top&quot;:186,&quot;width&quot;:920}"/>
</p:tagLst>
</file>

<file path=ppt/tags/tag55.xml><?xml version="1.0" encoding="utf-8"?>
<p:tagLst xmlns:p="http://schemas.openxmlformats.org/presentationml/2006/main">
  <p:tag name="KSO_WM_DIAGRAM_VIRTUALLY_FRAME" val="{&quot;height&quot;:240,&quot;left&quot;:20,&quot;top&quot;:186,&quot;width&quot;:920}"/>
</p:tagLst>
</file>

<file path=ppt/tags/tag56.xml><?xml version="1.0" encoding="utf-8"?>
<p:tagLst xmlns:p="http://schemas.openxmlformats.org/presentationml/2006/main">
  <p:tag name="KSO_WM_DIAGRAM_VIRTUALLY_FRAME" val="{&quot;height&quot;:240,&quot;left&quot;:20,&quot;top&quot;:186,&quot;width&quot;:920}"/>
</p:tagLst>
</file>

<file path=ppt/tags/tag57.xml><?xml version="1.0" encoding="utf-8"?>
<p:tagLst xmlns:p="http://schemas.openxmlformats.org/presentationml/2006/main">
  <p:tag name="KSO_WM_DIAGRAM_VIRTUALLY_FRAME" val="{&quot;height&quot;:240,&quot;left&quot;:20,&quot;top&quot;:186,&quot;width&quot;:920}"/>
</p:tagLst>
</file>

<file path=ppt/tags/tag58.xml><?xml version="1.0" encoding="utf-8"?>
<p:tagLst xmlns:p="http://schemas.openxmlformats.org/presentationml/2006/main">
  <p:tag name="KSO_WM_DIAGRAM_VIRTUALLY_FRAME" val="{&quot;height&quot;:240,&quot;left&quot;:20,&quot;top&quot;:186,&quot;width&quot;:920}"/>
</p:tagLst>
</file>

<file path=ppt/tags/tag59.xml><?xml version="1.0" encoding="utf-8"?>
<p:tagLst xmlns:p="http://schemas.openxmlformats.org/presentationml/2006/main">
  <p:tag name="KSO_WM_DIAGRAM_VIRTUALLY_FRAME" val="{&quot;height&quot;:240,&quot;left&quot;:20,&quot;top&quot;:186,&quot;width&quot;:920}"/>
</p:tagLst>
</file>

<file path=ppt/tags/tag60.xml><?xml version="1.0" encoding="utf-8"?>
<p:tagLst xmlns:p="http://schemas.openxmlformats.org/presentationml/2006/main">
  <p:tag name="KSO_WM_DIAGRAM_VIRTUALLY_FRAME" val="{&quot;height&quot;:240,&quot;left&quot;:20,&quot;top&quot;:186,&quot;width&quot;:920}"/>
</p:tagLst>
</file>

<file path=ppt/tags/tag61.xml><?xml version="1.0" encoding="utf-8"?>
<p:tagLst xmlns:p="http://schemas.openxmlformats.org/presentationml/2006/main">
  <p:tag name="KSO_WM_DIAGRAM_VIRTUALLY_FRAME" val="{&quot;height&quot;:240,&quot;left&quot;:20,&quot;top&quot;:186,&quot;width&quot;:920}"/>
</p:tagLst>
</file>

<file path=ppt/tags/tag62.xml><?xml version="1.0" encoding="utf-8"?>
<p:tagLst xmlns:p="http://schemas.openxmlformats.org/presentationml/2006/main">
  <p:tag name="KSO_WM_DIAGRAM_VIRTUALLY_FRAME" val="{&quot;height&quot;:240,&quot;left&quot;:20,&quot;top&quot;:186,&quot;width&quot;:920}"/>
</p:tagLst>
</file>

<file path=ppt/tags/tag63.xml><?xml version="1.0" encoding="utf-8"?>
<p:tagLst xmlns:p="http://schemas.openxmlformats.org/presentationml/2006/main">
  <p:tag name="KSO_WM_DIAGRAM_VIRTUALLY_FRAME" val="{&quot;height&quot;:240,&quot;left&quot;:20,&quot;top&quot;:186,&quot;width&quot;:920}"/>
</p:tagLst>
</file>

<file path=ppt/tags/tag64.xml><?xml version="1.0" encoding="utf-8"?>
<p:tagLst xmlns:p="http://schemas.openxmlformats.org/presentationml/2006/main">
  <p:tag name="KSO_WM_DIAGRAM_VIRTUALLY_FRAME" val="{&quot;height&quot;:240,&quot;left&quot;:20,&quot;top&quot;:186,&quot;width&quot;:920}"/>
</p:tagLst>
</file>

<file path=ppt/tags/tag65.xml><?xml version="1.0" encoding="utf-8"?>
<p:tagLst xmlns:p="http://schemas.openxmlformats.org/presentationml/2006/main">
  <p:tag name="KSO_WM_DIAGRAM_VIRTUALLY_FRAME" val="{&quot;height&quot;:240,&quot;left&quot;:20,&quot;top&quot;:186,&quot;width&quot;:920}"/>
</p:tagLst>
</file>

<file path=ppt/tags/tag66.xml><?xml version="1.0" encoding="utf-8"?>
<p:tagLst xmlns:p="http://schemas.openxmlformats.org/presentationml/2006/main">
  <p:tag name="KSO_WM_DIAGRAM_VIRTUALLY_FRAME" val="{&quot;height&quot;:270.75,&quot;left&quot;:20,&quot;top&quot;:163.65,&quot;width&quot;:919.6562204724411}"/>
</p:tagLst>
</file>

<file path=ppt/tags/tag67.xml><?xml version="1.0" encoding="utf-8"?>
<p:tagLst xmlns:p="http://schemas.openxmlformats.org/presentationml/2006/main">
  <p:tag name="KSO_WM_DIAGRAM_VIRTUALLY_FRAME" val="{&quot;height&quot;:270.75,&quot;left&quot;:20,&quot;top&quot;:163.65,&quot;width&quot;:919.6562204724411}"/>
</p:tagLst>
</file>

<file path=ppt/tags/tag68.xml><?xml version="1.0" encoding="utf-8"?>
<p:tagLst xmlns:p="http://schemas.openxmlformats.org/presentationml/2006/main">
  <p:tag name="KSO_WM_DIAGRAM_VIRTUALLY_FRAME" val="{&quot;height&quot;:270.75,&quot;left&quot;:20,&quot;top&quot;:163.65,&quot;width&quot;:919.6562204724411}"/>
</p:tagLst>
</file>

<file path=ppt/tags/tag69.xml><?xml version="1.0" encoding="utf-8"?>
<p:tagLst xmlns:p="http://schemas.openxmlformats.org/presentationml/2006/main">
  <p:tag name="KSO_WM_DIAGRAM_VIRTUALLY_FRAME" val="{&quot;height&quot;:270.75,&quot;left&quot;:20,&quot;top&quot;:163.65,&quot;width&quot;:919.6562204724411}"/>
</p:tagLst>
</file>

<file path=ppt/tags/tag70.xml><?xml version="1.0" encoding="utf-8"?>
<p:tagLst xmlns:p="http://schemas.openxmlformats.org/presentationml/2006/main">
  <p:tag name="KSO_WM_DIAGRAM_VIRTUALLY_FRAME" val="{&quot;height&quot;:270.75,&quot;left&quot;:20,&quot;top&quot;:163.65,&quot;width&quot;:919.6562204724411}"/>
</p:tagLst>
</file>

<file path=ppt/tags/tag71.xml><?xml version="1.0" encoding="utf-8"?>
<p:tagLst xmlns:p="http://schemas.openxmlformats.org/presentationml/2006/main">
  <p:tag name="KSO_WM_DIAGRAM_VIRTUALLY_FRAME" val="{&quot;height&quot;:270.75,&quot;left&quot;:20,&quot;top&quot;:163.65,&quot;width&quot;:919.6562204724411}"/>
</p:tagLst>
</file>

<file path=ppt/tags/tag72.xml><?xml version="1.0" encoding="utf-8"?>
<p:tagLst xmlns:p="http://schemas.openxmlformats.org/presentationml/2006/main">
  <p:tag name="KSO_WM_DIAGRAM_VIRTUALLY_FRAME" val="{&quot;height&quot;:270.75,&quot;left&quot;:20,&quot;top&quot;:163.65,&quot;width&quot;:919.6562204724411}"/>
</p:tagLst>
</file>

<file path=ppt/tags/tag73.xml><?xml version="1.0" encoding="utf-8"?>
<p:tagLst xmlns:p="http://schemas.openxmlformats.org/presentationml/2006/main">
  <p:tag name="KSO_WM_DIAGRAM_VIRTUALLY_FRAME" val="{&quot;height&quot;:270.75,&quot;left&quot;:20,&quot;top&quot;:163.65,&quot;width&quot;:919.6562204724411}"/>
</p:tagLst>
</file>

<file path=ppt/tags/tag74.xml><?xml version="1.0" encoding="utf-8"?>
<p:tagLst xmlns:p="http://schemas.openxmlformats.org/presentationml/2006/main">
  <p:tag name="KSO_WM_DIAGRAM_VIRTUALLY_FRAME" val="{&quot;height&quot;:270.75,&quot;left&quot;:20,&quot;top&quot;:163.65,&quot;width&quot;:919.6562204724411}"/>
</p:tagLst>
</file>

<file path=ppt/tags/tag75.xml><?xml version="1.0" encoding="utf-8"?>
<p:tagLst xmlns:p="http://schemas.openxmlformats.org/presentationml/2006/main">
  <p:tag name="KSO_WM_DIAGRAM_VIRTUALLY_FRAME" val="{&quot;height&quot;:270.75,&quot;left&quot;:20,&quot;top&quot;:163.65,&quot;width&quot;:919.6562204724411}"/>
</p:tagLst>
</file>

<file path=ppt/tags/tag76.xml><?xml version="1.0" encoding="utf-8"?>
<p:tagLst xmlns:p="http://schemas.openxmlformats.org/presentationml/2006/main">
  <p:tag name="KSO_WM_DIAGRAM_VIRTUALLY_FRAME" val="{&quot;height&quot;:270.75,&quot;left&quot;:20,&quot;top&quot;:163.65,&quot;width&quot;:919.6562204724411}"/>
</p:tagLst>
</file>

<file path=ppt/tags/tag77.xml><?xml version="1.0" encoding="utf-8"?>
<p:tagLst xmlns:p="http://schemas.openxmlformats.org/presentationml/2006/main">
  <p:tag name="KSO_WM_DIAGRAM_VIRTUALLY_FRAME" val="{&quot;height&quot;:270.75,&quot;left&quot;:20,&quot;top&quot;:163.65,&quot;width&quot;:919.6562204724411}"/>
</p:tagLst>
</file>

<file path=ppt/tags/tag78.xml><?xml version="1.0" encoding="utf-8"?>
<p:tagLst xmlns:p="http://schemas.openxmlformats.org/presentationml/2006/main">
  <p:tag name="KSO_WM_DIAGRAM_VIRTUALLY_FRAME" val="{&quot;height&quot;:270.75,&quot;left&quot;:20,&quot;top&quot;:163.65,&quot;width&quot;:919.6562204724411}"/>
</p:tagLst>
</file>

<file path=ppt/tags/tag79.xml><?xml version="1.0" encoding="utf-8"?>
<p:tagLst xmlns:p="http://schemas.openxmlformats.org/presentationml/2006/main">
  <p:tag name="KSO_WM_DIAGRAM_VIRTUALLY_FRAME" val="{&quot;height&quot;:270.75,&quot;left&quot;:20,&quot;top&quot;:163.65,&quot;width&quot;:919.6562204724411}"/>
</p:tagLst>
</file>

<file path=ppt/tags/tag80.xml><?xml version="1.0" encoding="utf-8"?>
<p:tagLst xmlns:p="http://schemas.openxmlformats.org/presentationml/2006/main">
  <p:tag name="KSO_WM_DIAGRAM_VIRTUALLY_FRAME" val="{&quot;height&quot;:270.75,&quot;left&quot;:20,&quot;top&quot;:163.65,&quot;width&quot;:919.6562204724411}"/>
</p:tagLst>
</file>

<file path=ppt/tags/tag81.xml><?xml version="1.0" encoding="utf-8"?>
<p:tagLst xmlns:p="http://schemas.openxmlformats.org/presentationml/2006/main">
  <p:tag name="KSO_WM_DIAGRAM_VIRTUALLY_FRAME" val="{&quot;height&quot;:252.8,&quot;left&quot;:20,&quot;top&quot;:152,&quot;width&quot;:920}"/>
</p:tagLst>
</file>

<file path=ppt/tags/tag82.xml><?xml version="1.0" encoding="utf-8"?>
<p:tagLst xmlns:p="http://schemas.openxmlformats.org/presentationml/2006/main">
  <p:tag name="KSO_WM_DIAGRAM_VIRTUALLY_FRAME" val="{&quot;height&quot;:252.8,&quot;left&quot;:20,&quot;top&quot;:152,&quot;width&quot;:920}"/>
</p:tagLst>
</file>

<file path=ppt/tags/tag83.xml><?xml version="1.0" encoding="utf-8"?>
<p:tagLst xmlns:p="http://schemas.openxmlformats.org/presentationml/2006/main">
  <p:tag name="KSO_WM_DIAGRAM_VIRTUALLY_FRAME" val="{&quot;height&quot;:252.8,&quot;left&quot;:20,&quot;top&quot;:152,&quot;width&quot;:920}"/>
</p:tagLst>
</file>

<file path=ppt/tags/tag84.xml><?xml version="1.0" encoding="utf-8"?>
<p:tagLst xmlns:p="http://schemas.openxmlformats.org/presentationml/2006/main">
  <p:tag name="KSO_WM_DIAGRAM_VIRTUALLY_FRAME" val="{&quot;height&quot;:252.8,&quot;left&quot;:20,&quot;top&quot;:152,&quot;width&quot;:920}"/>
</p:tagLst>
</file>

<file path=ppt/tags/tag85.xml><?xml version="1.0" encoding="utf-8"?>
<p:tagLst xmlns:p="http://schemas.openxmlformats.org/presentationml/2006/main">
  <p:tag name="KSO_WM_DIAGRAM_VIRTUALLY_FRAME" val="{&quot;height&quot;:252.8,&quot;left&quot;:20,&quot;top&quot;:152,&quot;width&quot;:920}"/>
</p:tagLst>
</file>

<file path=ppt/tags/tag86.xml><?xml version="1.0" encoding="utf-8"?>
<p:tagLst xmlns:p="http://schemas.openxmlformats.org/presentationml/2006/main">
  <p:tag name="KSO_WM_DIAGRAM_VIRTUALLY_FRAME" val="{&quot;height&quot;:252.8,&quot;left&quot;:20,&quot;top&quot;:152,&quot;width&quot;:920}"/>
</p:tagLst>
</file>

<file path=ppt/tags/tag87.xml><?xml version="1.0" encoding="utf-8"?>
<p:tagLst xmlns:p="http://schemas.openxmlformats.org/presentationml/2006/main">
  <p:tag name="KSO_WM_DIAGRAM_VIRTUALLY_FRAME" val="{&quot;height&quot;:252.8,&quot;left&quot;:20,&quot;top&quot;:152,&quot;width&quot;:920}"/>
</p:tagLst>
</file>

<file path=ppt/tags/tag88.xml><?xml version="1.0" encoding="utf-8"?>
<p:tagLst xmlns:p="http://schemas.openxmlformats.org/presentationml/2006/main">
  <p:tag name="KSO_WM_DIAGRAM_VIRTUALLY_FRAME" val="{&quot;height&quot;:252.8,&quot;left&quot;:20,&quot;top&quot;:152,&quot;width&quot;:920}"/>
</p:tagLst>
</file>

<file path=ppt/tags/tag89.xml><?xml version="1.0" encoding="utf-8"?>
<p:tagLst xmlns:p="http://schemas.openxmlformats.org/presentationml/2006/main">
  <p:tag name="KSO_WM_DIAGRAM_VIRTUALLY_FRAME" val="{&quot;height&quot;:252.8,&quot;left&quot;:20,&quot;top&quot;:152,&quot;width&quot;:920}"/>
</p:tagLst>
</file>

<file path=ppt/tags/tag90.xml><?xml version="1.0" encoding="utf-8"?>
<p:tagLst xmlns:p="http://schemas.openxmlformats.org/presentationml/2006/main">
  <p:tag name="KSO_WM_DIAGRAM_VIRTUALLY_FRAME" val="{&quot;height&quot;:252.8,&quot;left&quot;:20,&quot;top&quot;:152,&quot;width&quot;:920}"/>
</p:tagLst>
</file>

<file path=ppt/tags/tag91.xml><?xml version="1.0" encoding="utf-8"?>
<p:tagLst xmlns:p="http://schemas.openxmlformats.org/presentationml/2006/main">
  <p:tag name="KSO_WM_DIAGRAM_VIRTUALLY_FRAME" val="{&quot;height&quot;:99.2,&quot;left&quot;:52.5,&quot;top&quot;:294,&quot;width&quot;:855}"/>
</p:tagLst>
</file>

<file path=ppt/tags/tag92.xml><?xml version="1.0" encoding="utf-8"?>
<p:tagLst xmlns:p="http://schemas.openxmlformats.org/presentationml/2006/main">
  <p:tag name="KSO_WM_DIAGRAM_VIRTUALLY_FRAME" val="{&quot;height&quot;:99.2,&quot;left&quot;:52.5,&quot;top&quot;:294,&quot;width&quot;:855}"/>
</p:tagLst>
</file>

<file path=ppt/tags/tag93.xml><?xml version="1.0" encoding="utf-8"?>
<p:tagLst xmlns:p="http://schemas.openxmlformats.org/presentationml/2006/main">
  <p:tag name="KSO_WM_DIAGRAM_VIRTUALLY_FRAME" val="{&quot;height&quot;:99.2,&quot;left&quot;:52.5,&quot;top&quot;:294,&quot;width&quot;:855}"/>
</p:tagLst>
</file>

<file path=ppt/tags/tag94.xml><?xml version="1.0" encoding="utf-8"?>
<p:tagLst xmlns:p="http://schemas.openxmlformats.org/presentationml/2006/main">
  <p:tag name="KSO_WM_DIAGRAM_VIRTUALLY_FRAME" val="{&quot;height&quot;:99.2,&quot;left&quot;:52.5,&quot;top&quot;:294,&quot;width&quot;:855}"/>
</p:tagLst>
</file>

<file path=ppt/tags/tag95.xml><?xml version="1.0" encoding="utf-8"?>
<p:tagLst xmlns:p="http://schemas.openxmlformats.org/presentationml/2006/main">
  <p:tag name="KSO_WM_DIAGRAM_VIRTUALLY_FRAME" val="{&quot;height&quot;:99.2,&quot;left&quot;:52.5,&quot;top&quot;:294,&quot;width&quot;:855}"/>
</p:tagLst>
</file>

<file path=ppt/tags/tag96.xml><?xml version="1.0" encoding="utf-8"?>
<p:tagLst xmlns:p="http://schemas.openxmlformats.org/presentationml/2006/main">
  <p:tag name="KSO_WM_DIAGRAM_VIRTUALLY_FRAME" val="{&quot;height&quot;:99.2,&quot;left&quot;:52.5,&quot;top&quot;:294,&quot;width&quot;:855}"/>
</p:tagLst>
</file>

<file path=ppt/tags/tag97.xml><?xml version="1.0" encoding="utf-8"?>
<p:tagLst xmlns:p="http://schemas.openxmlformats.org/presentationml/2006/main">
  <p:tag name="KSO_WM_DIAGRAM_VIRTUALLY_FRAME" val="{&quot;height&quot;:189.6,&quot;left&quot;:22,&quot;top&quot;:276.4,&quot;width&quot;:436.60000000000025}"/>
</p:tagLst>
</file>

<file path=ppt/tags/tag98.xml><?xml version="1.0" encoding="utf-8"?>
<p:tagLst xmlns:p="http://schemas.openxmlformats.org/presentationml/2006/main">
  <p:tag name="KSO_WM_DIAGRAM_VIRTUALLY_FRAME" val="{&quot;height&quot;:189.6,&quot;left&quot;:22,&quot;top&quot;:276.4,&quot;width&quot;:436.60000000000025}"/>
</p:tagLst>
</file>

<file path=ppt/tags/tag99.xml><?xml version="1.0" encoding="utf-8"?>
<p:tagLst xmlns:p="http://schemas.openxmlformats.org/presentationml/2006/main">
  <p:tag name="KSO_WM_DIAGRAM_VIRTUALLY_FRAME" val="{&quot;height&quot;:189.6,&quot;left&quot;:22,&quot;top&quot;:276.4,&quot;width&quot;:436.60000000000025}"/>
</p:tagLst>
</file>

<file path=ppt/tags/tag100.xml><?xml version="1.0" encoding="utf-8"?>
<p:tagLst xmlns:p="http://schemas.openxmlformats.org/presentationml/2006/main">
  <p:tag name="KSO_WM_DIAGRAM_VIRTUALLY_FRAME" val="{&quot;height&quot;:189.6,&quot;left&quot;:22,&quot;top&quot;:276.4,&quot;width&quot;:436.60000000000025}"/>
</p:tagLst>
</file>

<file path=ppt/tags/tag101.xml><?xml version="1.0" encoding="utf-8"?>
<p:tagLst xmlns:p="http://schemas.openxmlformats.org/presentationml/2006/main">
  <p:tag name="KSO_WM_DIAGRAM_VIRTUALLY_FRAME" val="{&quot;height&quot;:189.6,&quot;left&quot;:22,&quot;top&quot;:276.4,&quot;width&quot;:436.60000000000025}"/>
</p:tagLst>
</file>

<file path=ppt/tags/tag102.xml><?xml version="1.0" encoding="utf-8"?>
<p:tagLst xmlns:p="http://schemas.openxmlformats.org/presentationml/2006/main">
  <p:tag name="KSO_WM_DIAGRAM_VIRTUALLY_FRAME" val="{&quot;height&quot;:189.6,&quot;left&quot;:22,&quot;top&quot;:276.4,&quot;width&quot;:436.60000000000025}"/>
</p:tagLst>
</file>

<file path=ppt/tags/tag103.xml><?xml version="1.0" encoding="utf-8"?>
<p:tagLst xmlns:p="http://schemas.openxmlformats.org/presentationml/2006/main">
  <p:tag name="KSO_WM_DIAGRAM_VIRTUALLY_FRAME" val="{&quot;height&quot;:301.6,&quot;left&quot;:29.6,&quot;top&quot;:210,&quot;width&quot;:910.4}"/>
</p:tagLst>
</file>

<file path=ppt/tags/tag104.xml><?xml version="1.0" encoding="utf-8"?>
<p:tagLst xmlns:p="http://schemas.openxmlformats.org/presentationml/2006/main">
  <p:tag name="KSO_WM_DIAGRAM_VIRTUALLY_FRAME" val="{&quot;height&quot;:301.6,&quot;left&quot;:29.6,&quot;top&quot;:210,&quot;width&quot;:910.4}"/>
</p:tagLst>
</file>

<file path=ppt/tags/tag105.xml><?xml version="1.0" encoding="utf-8"?>
<p:tagLst xmlns:p="http://schemas.openxmlformats.org/presentationml/2006/main">
  <p:tag name="KSO_WM_DIAGRAM_VIRTUALLY_FRAME" val="{&quot;height&quot;:301.6,&quot;left&quot;:29.6,&quot;top&quot;:210,&quot;width&quot;:910.4}"/>
</p:tagLst>
</file>

<file path=ppt/tags/tag106.xml><?xml version="1.0" encoding="utf-8"?>
<p:tagLst xmlns:p="http://schemas.openxmlformats.org/presentationml/2006/main">
  <p:tag name="KSO_WM_DIAGRAM_VIRTUALLY_FRAME" val="{&quot;height&quot;:301.6,&quot;left&quot;:29.6,&quot;top&quot;:210,&quot;width&quot;:910.4}"/>
</p:tagLst>
</file>

<file path=ppt/tags/tag107.xml><?xml version="1.0" encoding="utf-8"?>
<p:tagLst xmlns:p="http://schemas.openxmlformats.org/presentationml/2006/main">
  <p:tag name="KSO_WM_DIAGRAM_VIRTUALLY_FRAME" val="{&quot;height&quot;:301.6,&quot;left&quot;:29.6,&quot;top&quot;:210,&quot;width&quot;:910.4}"/>
</p:tagLst>
</file>

<file path=ppt/tags/tag108.xml><?xml version="1.0" encoding="utf-8"?>
<p:tagLst xmlns:p="http://schemas.openxmlformats.org/presentationml/2006/main">
  <p:tag name="KSO_WM_DIAGRAM_VIRTUALLY_FRAME" val="{&quot;height&quot;:301.6,&quot;left&quot;:29.6,&quot;top&quot;:210,&quot;width&quot;:910.4}"/>
</p:tagLst>
</file>

<file path=ppt/tags/tag109.xml><?xml version="1.0" encoding="utf-8"?>
<p:tagLst xmlns:p="http://schemas.openxmlformats.org/presentationml/2006/main">
  <p:tag name="KSO_WM_DIAGRAM_VIRTUALLY_FRAME" val="{&quot;height&quot;:301.6,&quot;left&quot;:29.6,&quot;top&quot;:210,&quot;width&quot;:910.4}"/>
</p:tagLst>
</file>

<file path=ppt/tags/tag110.xml><?xml version="1.0" encoding="utf-8"?>
<p:tagLst xmlns:p="http://schemas.openxmlformats.org/presentationml/2006/main">
  <p:tag name="KSO_WM_DIAGRAM_VIRTUALLY_FRAME" val="{&quot;height&quot;:301.6,&quot;left&quot;:29.6,&quot;top&quot;:210,&quot;width&quot;:910.4}"/>
</p:tagLst>
</file>

<file path=ppt/tags/tag111.xml><?xml version="1.0" encoding="utf-8"?>
<p:tagLst xmlns:p="http://schemas.openxmlformats.org/presentationml/2006/main">
  <p:tag name="KSO_WM_DIAGRAM_VIRTUALLY_FRAME" val="{&quot;height&quot;:301.6,&quot;left&quot;:29.6,&quot;top&quot;:210,&quot;width&quot;:910.4}"/>
</p:tagLst>
</file>

<file path=ppt/tags/tag112.xml><?xml version="1.0" encoding="utf-8"?>
<p:tagLst xmlns:p="http://schemas.openxmlformats.org/presentationml/2006/main">
  <p:tag name="KSO_WM_DIAGRAM_VIRTUALLY_FRAME" val="{&quot;height&quot;:301.6,&quot;left&quot;:29.6,&quot;top&quot;:210,&quot;width&quot;:910.4}"/>
</p:tagLst>
</file>

<file path=ppt/tags/tag113.xml><?xml version="1.0" encoding="utf-8"?>
<p:tagLst xmlns:p="http://schemas.openxmlformats.org/presentationml/2006/main">
  <p:tag name="KSO_WM_DIAGRAM_VIRTUALLY_FRAME" val="{&quot;height&quot;:301.6,&quot;left&quot;:29.6,&quot;top&quot;:210,&quot;width&quot;:910.4}"/>
</p:tagLst>
</file>

<file path=ppt/tags/tag114.xml><?xml version="1.0" encoding="utf-8"?>
<p:tagLst xmlns:p="http://schemas.openxmlformats.org/presentationml/2006/main">
  <p:tag name="KSO_WM_DIAGRAM_VIRTUALLY_FRAME" val="{&quot;height&quot;:301.6,&quot;left&quot;:29.6,&quot;top&quot;:210,&quot;width&quot;:910.4}"/>
</p:tagLst>
</file>

<file path=ppt/tags/tag115.xml><?xml version="1.0" encoding="utf-8"?>
<p:tagLst xmlns:p="http://schemas.openxmlformats.org/presentationml/2006/main">
  <p:tag name="KSO_WM_DIAGRAM_VIRTUALLY_FRAME" val="{&quot;height&quot;:301.6,&quot;left&quot;:29.6,&quot;top&quot;:210,&quot;width&quot;:910.4}"/>
</p:tagLst>
</file>

<file path=ppt/tags/tag116.xml><?xml version="1.0" encoding="utf-8"?>
<p:tagLst xmlns:p="http://schemas.openxmlformats.org/presentationml/2006/main">
  <p:tag name="KSO_WM_DIAGRAM_VIRTUALLY_FRAME" val="{&quot;height&quot;:301.6,&quot;left&quot;:29.6,&quot;top&quot;:210,&quot;width&quot;:910.4}"/>
</p:tagLst>
</file>

<file path=ppt/tags/tag117.xml><?xml version="1.0" encoding="utf-8"?>
<p:tagLst xmlns:p="http://schemas.openxmlformats.org/presentationml/2006/main">
  <p:tag name="KSO_WM_DIAGRAM_VIRTUALLY_FRAME" val="{&quot;height&quot;:301.6,&quot;left&quot;:29.6,&quot;top&quot;:210,&quot;width&quot;:910.4}"/>
</p:tagLst>
</file>

<file path=ppt/tags/tag118.xml><?xml version="1.0" encoding="utf-8"?>
<p:tagLst xmlns:p="http://schemas.openxmlformats.org/presentationml/2006/main">
  <p:tag name="KSO_WM_DIAGRAM_VIRTUALLY_FRAME" val="{&quot;height&quot;:301.6,&quot;left&quot;:29.6,&quot;top&quot;:210,&quot;width&quot;:910.4}"/>
</p:tagLst>
</file>

<file path=ppt/tags/tag119.xml><?xml version="1.0" encoding="utf-8"?>
<p:tagLst xmlns:p="http://schemas.openxmlformats.org/presentationml/2006/main">
  <p:tag name="KSO_WM_DIAGRAM_VIRTUALLY_FRAME" val="{&quot;height&quot;:301.6,&quot;left&quot;:29.6,&quot;top&quot;:210,&quot;width&quot;:910.4}"/>
</p:tagLst>
</file>

<file path=ppt/tags/tag120.xml><?xml version="1.0" encoding="utf-8"?>
<p:tagLst xmlns:p="http://schemas.openxmlformats.org/presentationml/2006/main">
  <p:tag name="KSO_WM_DIAGRAM_VIRTUALLY_FRAME" val="{&quot;height&quot;:301.6,&quot;left&quot;:29.6,&quot;top&quot;:210,&quot;width&quot;:910.4}"/>
</p:tagLst>
</file>

<file path=ppt/tags/tag121.xml><?xml version="1.0" encoding="utf-8"?>
<p:tagLst xmlns:p="http://schemas.openxmlformats.org/presentationml/2006/main">
  <p:tag name="KSO_WM_DIAGRAM_VIRTUALLY_FRAME" val="{&quot;height&quot;:301.6,&quot;left&quot;:29.6,&quot;top&quot;:210,&quot;width&quot;:910.4}"/>
</p:tagLst>
</file>

<file path=ppt/tags/tag122.xml><?xml version="1.0" encoding="utf-8"?>
<p:tagLst xmlns:p="http://schemas.openxmlformats.org/presentationml/2006/main">
  <p:tag name="KSO_WM_DIAGRAM_VIRTUALLY_FRAME" val="{&quot;height&quot;:301.6,&quot;left&quot;:29.6,&quot;top&quot;:210,&quot;width&quot;:910.4}"/>
</p:tagLst>
</file>

<file path=ppt/tags/tag123.xml><?xml version="1.0" encoding="utf-8"?>
<p:tagLst xmlns:p="http://schemas.openxmlformats.org/presentationml/2006/main">
  <p:tag name="KSO_WM_DIAGRAM_VIRTUALLY_FRAME" val="{&quot;height&quot;:220,&quot;left&quot;:116,&quot;top&quot;:166,&quot;width&quot;:820}"/>
</p:tagLst>
</file>

<file path=ppt/tags/tag124.xml><?xml version="1.0" encoding="utf-8"?>
<p:tagLst xmlns:p="http://schemas.openxmlformats.org/presentationml/2006/main">
  <p:tag name="KSO_WM_DIAGRAM_VIRTUALLY_FRAME" val="{&quot;height&quot;:220,&quot;left&quot;:116,&quot;top&quot;:166,&quot;width&quot;:820}"/>
</p:tagLst>
</file>

<file path=ppt/tags/tag125.xml><?xml version="1.0" encoding="utf-8"?>
<p:tagLst xmlns:p="http://schemas.openxmlformats.org/presentationml/2006/main">
  <p:tag name="KSO_WM_DIAGRAM_VIRTUALLY_FRAME" val="{&quot;height&quot;:220,&quot;left&quot;:116,&quot;top&quot;:166,&quot;width&quot;:820}"/>
</p:tagLst>
</file>

<file path=ppt/tags/tag126.xml><?xml version="1.0" encoding="utf-8"?>
<p:tagLst xmlns:p="http://schemas.openxmlformats.org/presentationml/2006/main">
  <p:tag name="KSO_WM_DIAGRAM_VIRTUALLY_FRAME" val="{&quot;height&quot;:220,&quot;left&quot;:116,&quot;top&quot;:166,&quot;width&quot;:820}"/>
</p:tagLst>
</file>

<file path=ppt/tags/tag127.xml><?xml version="1.0" encoding="utf-8"?>
<p:tagLst xmlns:p="http://schemas.openxmlformats.org/presentationml/2006/main">
  <p:tag name="KSO_WM_DIAGRAM_VIRTUALLY_FRAME" val="{&quot;height&quot;:220,&quot;left&quot;:116,&quot;top&quot;:166,&quot;width&quot;:820}"/>
</p:tagLst>
</file>

<file path=ppt/tags/tag128.xml><?xml version="1.0" encoding="utf-8"?>
<p:tagLst xmlns:p="http://schemas.openxmlformats.org/presentationml/2006/main">
  <p:tag name="KSO_WM_DIAGRAM_VIRTUALLY_FRAME" val="{&quot;height&quot;:220,&quot;left&quot;:116,&quot;top&quot;:166,&quot;width&quot;:820}"/>
</p:tagLst>
</file>

<file path=ppt/tags/tag129.xml><?xml version="1.0" encoding="utf-8"?>
<p:tagLst xmlns:p="http://schemas.openxmlformats.org/presentationml/2006/main">
  <p:tag name="KSO_WM_DIAGRAM_VIRTUALLY_FRAME" val="{&quot;height&quot;:220,&quot;left&quot;:116,&quot;top&quot;:166,&quot;width&quot;:820}"/>
</p:tagLst>
</file>

<file path=ppt/tags/tag130.xml><?xml version="1.0" encoding="utf-8"?>
<p:tagLst xmlns:p="http://schemas.openxmlformats.org/presentationml/2006/main">
  <p:tag name="KSO_WM_DIAGRAM_VIRTUALLY_FRAME" val="{&quot;height&quot;:152.05,&quot;left&quot;:24,&quot;top&quot;:268,&quot;width&quot;:912}"/>
</p:tagLst>
</file>

<file path=ppt/tags/tag131.xml><?xml version="1.0" encoding="utf-8"?>
<p:tagLst xmlns:p="http://schemas.openxmlformats.org/presentationml/2006/main">
  <p:tag name="KSO_WM_DIAGRAM_VIRTUALLY_FRAME" val="{&quot;height&quot;:152.05,&quot;left&quot;:24,&quot;top&quot;:268,&quot;width&quot;:912}"/>
</p:tagLst>
</file>

<file path=ppt/tags/tag132.xml><?xml version="1.0" encoding="utf-8"?>
<p:tagLst xmlns:p="http://schemas.openxmlformats.org/presentationml/2006/main">
  <p:tag name="KSO_WM_DIAGRAM_VIRTUALLY_FRAME" val="{&quot;height&quot;:152.05,&quot;left&quot;:24,&quot;top&quot;:268,&quot;width&quot;:912}"/>
</p:tagLst>
</file>

<file path=ppt/tags/tag133.xml><?xml version="1.0" encoding="utf-8"?>
<p:tagLst xmlns:p="http://schemas.openxmlformats.org/presentationml/2006/main">
  <p:tag name="KSO_WM_DIAGRAM_VIRTUALLY_FRAME" val="{&quot;height&quot;:152.05,&quot;left&quot;:24,&quot;top&quot;:268,&quot;width&quot;:912}"/>
</p:tagLst>
</file>

<file path=ppt/tags/tag134.xml><?xml version="1.0" encoding="utf-8"?>
<p:tagLst xmlns:p="http://schemas.openxmlformats.org/presentationml/2006/main">
  <p:tag name="KSO_WM_DIAGRAM_VIRTUALLY_FRAME" val="{&quot;height&quot;:152.05,&quot;left&quot;:24,&quot;top&quot;:268,&quot;width&quot;:912}"/>
</p:tagLst>
</file>

<file path=ppt/tags/tag135.xml><?xml version="1.0" encoding="utf-8"?>
<p:tagLst xmlns:p="http://schemas.openxmlformats.org/presentationml/2006/main">
  <p:tag name="KSO_WM_DIAGRAM_VIRTUALLY_FRAME" val="{&quot;height&quot;:152.05,&quot;left&quot;:24,&quot;top&quot;:268,&quot;width&quot;:912}"/>
</p:tagLst>
</file>

<file path=ppt/tags/tag136.xml><?xml version="1.0" encoding="utf-8"?>
<p:tagLst xmlns:p="http://schemas.openxmlformats.org/presentationml/2006/main">
  <p:tag name="KSO_WM_DIAGRAM_VIRTUALLY_FRAME" val="{&quot;height&quot;:152.05,&quot;left&quot;:24,&quot;top&quot;:268,&quot;width&quot;:912}"/>
</p:tagLst>
</file>

<file path=ppt/tags/tag137.xml><?xml version="1.0" encoding="utf-8"?>
<p:tagLst xmlns:p="http://schemas.openxmlformats.org/presentationml/2006/main">
  <p:tag name="KSO_WM_DIAGRAM_VIRTUALLY_FRAME" val="{&quot;height&quot;:152.05,&quot;left&quot;:24,&quot;top&quot;:268,&quot;width&quot;:912}"/>
</p:tagLst>
</file>

<file path=ppt/tags/tag138.xml><?xml version="1.0" encoding="utf-8"?>
<p:tagLst xmlns:p="http://schemas.openxmlformats.org/presentationml/2006/main">
  <p:tag name="KSO_WM_DIAGRAM_VIRTUALLY_FRAME" val="{&quot;height&quot;:152.05,&quot;left&quot;:24,&quot;top&quot;:268,&quot;width&quot;:912}"/>
</p:tagLst>
</file>

<file path=ppt/tags/tag139.xml><?xml version="1.0" encoding="utf-8"?>
<p:tagLst xmlns:p="http://schemas.openxmlformats.org/presentationml/2006/main">
  <p:tag name="KSO_WM_DIAGRAM_VIRTUALLY_FRAME" val="{&quot;height&quot;:152.05,&quot;left&quot;:24,&quot;top&quot;:268,&quot;width&quot;:912}"/>
</p:tagLst>
</file>

<file path=ppt/tags/tag140.xml><?xml version="1.0" encoding="utf-8"?>
<p:tagLst xmlns:p="http://schemas.openxmlformats.org/presentationml/2006/main">
  <p:tag name="KSO_WM_DIAGRAM_VIRTUALLY_FRAME" val="{&quot;height&quot;:152.05,&quot;left&quot;:24,&quot;top&quot;:268,&quot;width&quot;:912}"/>
</p:tagLst>
</file>

<file path=ppt/tags/tag141.xml><?xml version="1.0" encoding="utf-8"?>
<p:tagLst xmlns:p="http://schemas.openxmlformats.org/presentationml/2006/main">
  <p:tag name="KSO_WM_DIAGRAM_VIRTUALLY_FRAME" val="{&quot;height&quot;:152.05,&quot;left&quot;:24,&quot;top&quot;:268,&quot;width&quot;:912}"/>
</p:tagLst>
</file>

<file path=ppt/tags/tag142.xml><?xml version="1.0" encoding="utf-8"?>
<p:tagLst xmlns:p="http://schemas.openxmlformats.org/presentationml/2006/main">
  <p:tag name="KSO_WM_DIAGRAM_VIRTUALLY_FRAME" val="{&quot;height&quot;:152.05,&quot;left&quot;:24,&quot;top&quot;:268,&quot;width&quot;:912}"/>
</p:tagLst>
</file>

<file path=ppt/tags/tag143.xml><?xml version="1.0" encoding="utf-8"?>
<p:tagLst xmlns:p="http://schemas.openxmlformats.org/presentationml/2006/main">
  <p:tag name="KSO_WM_DIAGRAM_VIRTUALLY_FRAME" val="{&quot;height&quot;:152.05,&quot;left&quot;:24,&quot;top&quot;:268,&quot;width&quot;:912}"/>
</p:tagLst>
</file>

<file path=ppt/tags/tag144.xml><?xml version="1.0" encoding="utf-8"?>
<p:tagLst xmlns:p="http://schemas.openxmlformats.org/presentationml/2006/main">
  <p:tag name="KSO_WM_DIAGRAM_VIRTUALLY_FRAME" val="{&quot;height&quot;:152.05,&quot;left&quot;:24,&quot;top&quot;:268,&quot;width&quot;:912}"/>
</p:tagLst>
</file>

<file path=ppt/tags/tag145.xml><?xml version="1.0" encoding="utf-8"?>
<p:tagLst xmlns:p="http://schemas.openxmlformats.org/presentationml/2006/main">
  <p:tag name="KSO_WM_DIAGRAM_VIRTUALLY_FRAME" val="{&quot;height&quot;:152.05,&quot;left&quot;:24,&quot;top&quot;:268,&quot;width&quot;:912}"/>
</p:tagLst>
</file>

<file path=ppt/tags/tag146.xml><?xml version="1.0" encoding="utf-8"?>
<p:tagLst xmlns:p="http://schemas.openxmlformats.org/presentationml/2006/main">
  <p:tag name="KSO_WM_DIAGRAM_VIRTUALLY_FRAME" val="{&quot;height&quot;:152.05,&quot;left&quot;:24,&quot;top&quot;:268,&quot;width&quot;:912}"/>
</p:tagLst>
</file>

<file path=ppt/tags/tag147.xml><?xml version="1.0" encoding="utf-8"?>
<p:tagLst xmlns:p="http://schemas.openxmlformats.org/presentationml/2006/main">
  <p:tag name="KSO_WM_DIAGRAM_VIRTUALLY_FRAME" val="{&quot;height&quot;:152.05,&quot;left&quot;:24,&quot;top&quot;:268,&quot;width&quot;:912}"/>
</p:tagLst>
</file>

<file path=ppt/tags/tag148.xml><?xml version="1.0" encoding="utf-8"?>
<p:tagLst xmlns:p="http://schemas.openxmlformats.org/presentationml/2006/main">
  <p:tag name="KSO_WM_DIAGRAM_VIRTUALLY_FRAME" val="{&quot;height&quot;:152.05,&quot;left&quot;:24,&quot;top&quot;:268,&quot;width&quot;:912}"/>
</p:tagLst>
</file>

<file path=ppt/tags/tag149.xml><?xml version="1.0" encoding="utf-8"?>
<p:tagLst xmlns:p="http://schemas.openxmlformats.org/presentationml/2006/main">
  <p:tag name="KSO_WM_DIAGRAM_VIRTUALLY_FRAME" val="{&quot;height&quot;:152.05,&quot;left&quot;:24,&quot;top&quot;:268,&quot;width&quot;:912}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1966</Words>
  <Application>WPS 演示</Application>
  <PresentationFormat>On-screen Show (16:9)</PresentationFormat>
  <Paragraphs>336</Paragraphs>
  <Slides>23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6" baseType="lpstr">
      <vt:lpstr>Arial</vt:lpstr>
      <vt:lpstr>宋体</vt:lpstr>
      <vt:lpstr>Wingdings</vt:lpstr>
      <vt:lpstr>MiSans</vt:lpstr>
      <vt:lpstr>MiSans</vt:lpstr>
      <vt:lpstr>Noto Sans SC</vt:lpstr>
      <vt:lpstr>Noto Sans SC</vt:lpstr>
      <vt:lpstr>微软雅黑</vt:lpstr>
      <vt:lpstr>Cambria Math</vt:lpstr>
      <vt:lpstr>Calibri</vt:lpstr>
      <vt:lpstr>Arial Unicode MS</vt:lpstr>
      <vt:lpstr>等线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物理层：比特流的传输之道</dc:title>
  <dc:creator>Kimi</dc:creator>
  <dc:subject>物理层：比特流的传输之道</dc:subject>
  <cp:lastModifiedBy>WPS_1694490358</cp:lastModifiedBy>
  <cp:revision>10</cp:revision>
  <dcterms:created xsi:type="dcterms:W3CDTF">2025-12-02T01:27:00Z</dcterms:created>
  <dcterms:modified xsi:type="dcterms:W3CDTF">2025-12-29T08:58:14Z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{"Label":"物理层：比特流的传输之道","ContentProducer":"001191110108MACG2KBH8F10000","ProduceID":"d4n3p1te9orl4c7fc58g","ReservedCode1":"","ContentPropagator":"001191110108MACG2KBH8F20000","PropagateID":"d4n3p1te9orl4c7fc58g","ReservedCode2":""}</vt:lpwstr>
  </property>
  <property fmtid="{D5CDD505-2E9C-101B-9397-08002B2CF9AE}" pid="3" name="ICV">
    <vt:lpwstr>5EBA2130BCEB45ADA0858C5502A393D4_12</vt:lpwstr>
  </property>
  <property fmtid="{D5CDD505-2E9C-101B-9397-08002B2CF9AE}" pid="4" name="KSOProductBuildVer">
    <vt:lpwstr>2052-12.1.0.24034</vt:lpwstr>
  </property>
</Properties>
</file>