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  <p:embeddedFontLst>
    <p:embeddedFont>
      <p:font typeface="微软雅黑" panose="020B0503020204020204" pitchFamily="34" charset="-122"/>
      <p:regular r:id="rId25"/>
    </p:embeddedFont>
    <p:embeddedFont>
      <p:font typeface="微软雅黑" panose="020B0503020204020204" pitchFamily="34" charset="-120"/>
      <p:regular r:id="rId26"/>
    </p:embeddedFont>
    <p:embeddedFont>
      <p:font typeface="等线" panose="02010600030101010101" charset="-122"/>
      <p:regular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3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7" Type="http://schemas.openxmlformats.org/officeDocument/2006/relationships/notesSlide" Target="../notesSlides/notesSlide5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54.xml"/><Relationship Id="rId24" Type="http://schemas.openxmlformats.org/officeDocument/2006/relationships/tags" Target="../tags/tag53.xml"/><Relationship Id="rId23" Type="http://schemas.openxmlformats.org/officeDocument/2006/relationships/tags" Target="../tags/tag52.xml"/><Relationship Id="rId22" Type="http://schemas.openxmlformats.org/officeDocument/2006/relationships/tags" Target="../tags/tag51.xml"/><Relationship Id="rId21" Type="http://schemas.openxmlformats.org/officeDocument/2006/relationships/tags" Target="../tags/tag50.xml"/><Relationship Id="rId20" Type="http://schemas.openxmlformats.org/officeDocument/2006/relationships/tags" Target="../tags/tag49.xml"/><Relationship Id="rId2" Type="http://schemas.openxmlformats.org/officeDocument/2006/relationships/tags" Target="../tags/tag31.xml"/><Relationship Id="rId19" Type="http://schemas.openxmlformats.org/officeDocument/2006/relationships/tags" Target="../tags/tag48.xml"/><Relationship Id="rId18" Type="http://schemas.openxmlformats.org/officeDocument/2006/relationships/tags" Target="../tags/tag47.xml"/><Relationship Id="rId17" Type="http://schemas.openxmlformats.org/officeDocument/2006/relationships/tags" Target="../tags/tag46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6" Type="http://schemas.openxmlformats.org/officeDocument/2006/relationships/notesSlide" Target="../notesSlides/notesSlide10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0.png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5" Type="http://schemas.openxmlformats.org/officeDocument/2006/relationships/notesSlide" Target="../notesSlides/notesSlide13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3-d2tarltnfo2stf9djk2g.png"/>
          <p:cNvPicPr>
            <a:picLocks noChangeAspect="1"/>
          </p:cNvPicPr>
          <p:nvPr/>
        </p:nvPicPr>
        <p:blipFill>
          <a:blip r:embed="rId1"/>
          <a:srcRect l="11651" t="6196" r="5498" b="958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626745" y="5857875"/>
            <a:ext cx="6881495" cy="62547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2400" b="1" dirty="0"/>
              <a:t>甘芝清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黄慧雯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林银蕊</a:t>
            </a:r>
            <a:endParaRPr lang="zh-CN" altLang="en-US" sz="2400" b="1" dirty="0"/>
          </a:p>
          <a:p>
            <a:pPr>
              <a:lnSpc>
                <a:spcPct val="90000"/>
              </a:lnSpc>
            </a:pPr>
            <a:endParaRPr lang="zh-CN" altLang="en-US" sz="2400" b="1" dirty="0"/>
          </a:p>
        </p:txBody>
      </p:sp>
      <p:sp>
        <p:nvSpPr>
          <p:cNvPr id="5" name="Text 2"/>
          <p:cNvSpPr/>
          <p:nvPr/>
        </p:nvSpPr>
        <p:spPr>
          <a:xfrm>
            <a:off x="7211695" y="611695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12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/28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04972" y="6293196"/>
            <a:ext cx="704469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0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188085" y="102870"/>
            <a:ext cx="262890" cy="11703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745" y="2042160"/>
            <a:ext cx="6378575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互联网：</a:t>
            </a:r>
            <a:r>
              <a:rPr lang="en-US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流媒体的网络心跳</a:t>
            </a:r>
            <a:endParaRPr lang="en-US" sz="6000" dirty="0"/>
          </a:p>
        </p:txBody>
      </p:sp>
      <p:pic>
        <p:nvPicPr>
          <p:cNvPr id="12" name="Image 2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909594" y="4470400"/>
            <a:ext cx="780106" cy="82078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34695" y="5018515"/>
            <a:ext cx="1131570" cy="815230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2700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5" name="Shape 0"/>
          <p:cNvSpPr/>
          <p:nvPr>
            <p:custDataLst>
              <p:tags r:id="rId3"/>
            </p:custDataLst>
          </p:nvPr>
        </p:nvSpPr>
        <p:spPr>
          <a:xfrm flipH="1">
            <a:off x="4570730" y="264858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>
            <p:custDataLst>
              <p:tags r:id="rId4"/>
            </p:custDataLst>
          </p:nvPr>
        </p:nvSpPr>
        <p:spPr>
          <a:xfrm flipH="1">
            <a:off x="4570730" y="340106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>
            <p:custDataLst>
              <p:tags r:id="rId5"/>
            </p:custDataLst>
          </p:nvPr>
        </p:nvSpPr>
        <p:spPr>
          <a:xfrm flipH="1">
            <a:off x="4570730" y="417639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>
            <p:custDataLst>
              <p:tags r:id="rId6"/>
            </p:custDataLst>
          </p:nvPr>
        </p:nvSpPr>
        <p:spPr>
          <a:xfrm flipH="1">
            <a:off x="4570730" y="491998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9" name="Shape 4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44550" y="1925955"/>
            <a:ext cx="140843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7" name="Text 12"/>
          <p:cNvSpPr/>
          <p:nvPr/>
        </p:nvSpPr>
        <p:spPr>
          <a:xfrm>
            <a:off x="844550" y="1925955"/>
            <a:ext cx="1408430" cy="8001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5400" dirty="0"/>
          </a:p>
        </p:txBody>
      </p:sp>
      <p:sp>
        <p:nvSpPr>
          <p:cNvPr id="18" name="Text 13"/>
          <p:cNvSpPr/>
          <p:nvPr/>
        </p:nvSpPr>
        <p:spPr>
          <a:xfrm>
            <a:off x="844550" y="2692400"/>
            <a:ext cx="266319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3200" dirty="0"/>
          </a:p>
        </p:txBody>
      </p:sp>
      <p:sp>
        <p:nvSpPr>
          <p:cNvPr id="19" name="Shape 14"/>
          <p:cNvSpPr/>
          <p:nvPr/>
        </p:nvSpPr>
        <p:spPr>
          <a:xfrm>
            <a:off x="924560" y="267081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0" name="Shape 15"/>
          <p:cNvSpPr/>
          <p:nvPr>
            <p:custDataLst>
              <p:tags r:id="rId7"/>
            </p:custDataLst>
          </p:nvPr>
        </p:nvSpPr>
        <p:spPr>
          <a:xfrm flipH="1">
            <a:off x="4570730" y="183388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pic>
        <p:nvPicPr>
          <p:cNvPr id="21" name="Image 3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2209165" y="4778375"/>
            <a:ext cx="892175" cy="93853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009140" y="5405120"/>
            <a:ext cx="1294130" cy="932180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2700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</p:sp>
      <p:pic>
        <p:nvPicPr>
          <p:cNvPr id="23" name="Image 4" descr="https://kimi-img.moonshot.cn/pub/slides/slides_tmpl/image/25-09-05-17:30:59-d2tarktnfo2stf9djju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960000">
            <a:off x="9978390" y="1252855"/>
            <a:ext cx="1807845" cy="1654175"/>
          </a:xfrm>
          <a:prstGeom prst="rect">
            <a:avLst/>
          </a:prstGeom>
        </p:spPr>
      </p:pic>
      <p:sp>
        <p:nvSpPr>
          <p:cNvPr id="24" name="Text 17"/>
          <p:cNvSpPr/>
          <p:nvPr>
            <p:custDataLst>
              <p:tags r:id="rId10"/>
            </p:custDataLst>
          </p:nvPr>
        </p:nvSpPr>
        <p:spPr>
          <a:xfrm>
            <a:off x="4815840" y="164084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25" name="Text 18"/>
          <p:cNvSpPr/>
          <p:nvPr>
            <p:custDataLst>
              <p:tags r:id="rId11"/>
            </p:custDataLst>
          </p:nvPr>
        </p:nvSpPr>
        <p:spPr>
          <a:xfrm>
            <a:off x="5711190" y="1849120"/>
            <a:ext cx="626745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挑战与三分天下</a:t>
            </a:r>
            <a:endParaRPr lang="en-US" sz="2400" dirty="0"/>
          </a:p>
        </p:txBody>
      </p:sp>
      <p:sp>
        <p:nvSpPr>
          <p:cNvPr id="26" name="Text 19"/>
          <p:cNvSpPr/>
          <p:nvPr>
            <p:custDataLst>
              <p:tags r:id="rId12"/>
            </p:custDataLst>
          </p:nvPr>
        </p:nvSpPr>
        <p:spPr>
          <a:xfrm>
            <a:off x="4815840" y="2400935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27" name="Text 20"/>
          <p:cNvSpPr/>
          <p:nvPr>
            <p:custDataLst>
              <p:tags r:id="rId13"/>
            </p:custDataLst>
          </p:nvPr>
        </p:nvSpPr>
        <p:spPr>
          <a:xfrm>
            <a:off x="5711190" y="2663825"/>
            <a:ext cx="626808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流式存储技术栈</a:t>
            </a:r>
            <a:endParaRPr lang="en-US" sz="2400" dirty="0"/>
          </a:p>
        </p:txBody>
      </p:sp>
      <p:sp>
        <p:nvSpPr>
          <p:cNvPr id="28" name="Text 21"/>
          <p:cNvSpPr/>
          <p:nvPr>
            <p:custDataLst>
              <p:tags r:id="rId14"/>
            </p:custDataLst>
          </p:nvPr>
        </p:nvSpPr>
        <p:spPr>
          <a:xfrm>
            <a:off x="4815840" y="3207385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29" name="Text 22"/>
          <p:cNvSpPr/>
          <p:nvPr>
            <p:custDataLst>
              <p:tags r:id="rId15"/>
            </p:custDataLst>
          </p:nvPr>
        </p:nvSpPr>
        <p:spPr>
          <a:xfrm>
            <a:off x="5711190" y="3433445"/>
            <a:ext cx="626681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实时交互协议</a:t>
            </a:r>
            <a:endParaRPr lang="en-US" sz="2400" dirty="0"/>
          </a:p>
        </p:txBody>
      </p:sp>
      <p:sp>
        <p:nvSpPr>
          <p:cNvPr id="30" name="Text 23"/>
          <p:cNvSpPr/>
          <p:nvPr>
            <p:custDataLst>
              <p:tags r:id="rId16"/>
            </p:custDataLst>
          </p:nvPr>
        </p:nvSpPr>
        <p:spPr>
          <a:xfrm>
            <a:off x="4815840" y="401447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31" name="Text 24"/>
          <p:cNvSpPr/>
          <p:nvPr>
            <p:custDataLst>
              <p:tags r:id="rId17"/>
            </p:custDataLst>
          </p:nvPr>
        </p:nvSpPr>
        <p:spPr>
          <a:xfrm>
            <a:off x="5711190" y="4214495"/>
            <a:ext cx="6266815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网络层QoS工具箱</a:t>
            </a:r>
            <a:endParaRPr lang="en-US" sz="2400" dirty="0"/>
          </a:p>
        </p:txBody>
      </p:sp>
      <p:sp>
        <p:nvSpPr>
          <p:cNvPr id="32" name="Text 25"/>
          <p:cNvSpPr/>
          <p:nvPr>
            <p:custDataLst>
              <p:tags r:id="rId18"/>
            </p:custDataLst>
          </p:nvPr>
        </p:nvSpPr>
        <p:spPr>
          <a:xfrm>
            <a:off x="4815840" y="479171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33" name="Text 26"/>
          <p:cNvSpPr/>
          <p:nvPr>
            <p:custDataLst>
              <p:tags r:id="rId19"/>
            </p:custDataLst>
          </p:nvPr>
        </p:nvSpPr>
        <p:spPr>
          <a:xfrm>
            <a:off x="5711190" y="4968875"/>
            <a:ext cx="6266815" cy="3073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全景回顾与展望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25" grpId="0"/>
      <p:bldP spid="25" grpId="1"/>
      <p:bldP spid="27" grpId="0"/>
      <p:bldP spid="27" grpId="1"/>
      <p:bldP spid="29" grpId="0"/>
      <p:bldP spid="29" grpId="1"/>
      <p:bldP spid="31" grpId="0"/>
      <p:bldP spid="31" grpId="1"/>
      <p:bldP spid="33" grpId="0"/>
      <p:bldP spid="33" grpId="1"/>
      <p:bldP spid="32" grpId="0"/>
      <p:bldP spid="32" grpId="1"/>
      <p:bldP spid="30" grpId="0"/>
      <p:bldP spid="30" grpId="1"/>
      <p:bldP spid="28" grpId="0"/>
      <p:bldP spid="28" grpId="1"/>
      <p:bldP spid="26" grpId="0"/>
      <p:bldP spid="26" grpId="1"/>
      <p:bldP spid="24" grpId="0"/>
      <p:bldP spid="2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挑战与三分天下</a:t>
            </a:r>
            <a:endParaRPr lang="en-US" sz="44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617855"/>
            <a:ext cx="4597400" cy="25126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尽力而为遇到等时流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254000" y="333375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7484DF"/>
          </a:solidFill>
        </p:spPr>
      </p:sp>
      <p:sp>
        <p:nvSpPr>
          <p:cNvPr id="5" name="Text 2"/>
          <p:cNvSpPr/>
          <p:nvPr/>
        </p:nvSpPr>
        <p:spPr>
          <a:xfrm>
            <a:off x="254000" y="3689350"/>
            <a:ext cx="4470400" cy="1162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互联网“无连接、不可靠”的基因与音频视频“持续、低抖”的需求存在根本矛盾。</a:t>
            </a:r>
            <a:endParaRPr lang="en-US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6" name="Shape 3"/>
          <p:cNvSpPr/>
          <p:nvPr>
            <p:custDataLst>
              <p:tags r:id="rId2"/>
            </p:custDataLst>
          </p:nvPr>
        </p:nvSpPr>
        <p:spPr>
          <a:xfrm>
            <a:off x="4927600" y="1854200"/>
            <a:ext cx="7010400" cy="914400"/>
          </a:xfrm>
          <a:custGeom>
            <a:avLst/>
            <a:gdLst/>
            <a:ahLst/>
            <a:cxnLst/>
            <a:rect l="l" t="t" r="r" b="b"/>
            <a:pathLst>
              <a:path w="7010400" h="914400">
                <a:moveTo>
                  <a:pt x="101599" y="0"/>
                </a:moveTo>
                <a:lnTo>
                  <a:pt x="6908801" y="0"/>
                </a:lnTo>
                <a:cubicBezTo>
                  <a:pt x="6964913" y="0"/>
                  <a:pt x="7010400" y="45487"/>
                  <a:pt x="7010400" y="101599"/>
                </a:cubicBezTo>
                <a:lnTo>
                  <a:pt x="7010400" y="812801"/>
                </a:lnTo>
                <a:cubicBezTo>
                  <a:pt x="7010400" y="868913"/>
                  <a:pt x="6964913" y="914400"/>
                  <a:pt x="6908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7" name="Shape 4"/>
          <p:cNvSpPr/>
          <p:nvPr>
            <p:custDataLst>
              <p:tags r:id="rId3"/>
            </p:custDataLst>
          </p:nvPr>
        </p:nvSpPr>
        <p:spPr>
          <a:xfrm>
            <a:off x="5080000" y="2006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8" name="Shape 5"/>
          <p:cNvSpPr/>
          <p:nvPr>
            <p:custDataLst>
              <p:tags r:id="rId4"/>
            </p:custDataLst>
          </p:nvPr>
        </p:nvSpPr>
        <p:spPr>
          <a:xfrm>
            <a:off x="5194300" y="21590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/>
            </a:pathLst>
          </a:custGeom>
          <a:solidFill>
            <a:srgbClr val="FFFFFF"/>
          </a:solidFill>
        </p:spPr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5892800" y="1850390"/>
            <a:ext cx="4381500" cy="410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带宽饥渴</a:t>
            </a:r>
            <a:endParaRPr lang="en-US" sz="2400" dirty="0"/>
          </a:p>
        </p:txBody>
      </p:sp>
      <p:sp>
        <p:nvSpPr>
          <p:cNvPr id="10" name="Text 7"/>
          <p:cNvSpPr/>
          <p:nvPr>
            <p:custDataLst>
              <p:tags r:id="rId6"/>
            </p:custDataLst>
          </p:nvPr>
        </p:nvSpPr>
        <p:spPr>
          <a:xfrm>
            <a:off x="5892800" y="2362200"/>
            <a:ext cx="5957570" cy="407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高清视频对网络带宽要求高，需要持续稳定的数据流。</a:t>
            </a:r>
            <a:endParaRPr lang="en-US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1" name="Shape 8"/>
          <p:cNvSpPr/>
          <p:nvPr>
            <p:custDataLst>
              <p:tags r:id="rId7"/>
            </p:custDataLst>
          </p:nvPr>
        </p:nvSpPr>
        <p:spPr>
          <a:xfrm>
            <a:off x="4927600" y="2971800"/>
            <a:ext cx="7010400" cy="914400"/>
          </a:xfrm>
          <a:custGeom>
            <a:avLst/>
            <a:gdLst/>
            <a:ahLst/>
            <a:cxnLst/>
            <a:rect l="l" t="t" r="r" b="b"/>
            <a:pathLst>
              <a:path w="7010400" h="914400">
                <a:moveTo>
                  <a:pt x="101599" y="0"/>
                </a:moveTo>
                <a:lnTo>
                  <a:pt x="6908801" y="0"/>
                </a:lnTo>
                <a:cubicBezTo>
                  <a:pt x="6964913" y="0"/>
                  <a:pt x="7010400" y="45487"/>
                  <a:pt x="7010400" y="101599"/>
                </a:cubicBezTo>
                <a:lnTo>
                  <a:pt x="7010400" y="812801"/>
                </a:lnTo>
                <a:cubicBezTo>
                  <a:pt x="7010400" y="868913"/>
                  <a:pt x="6964913" y="914400"/>
                  <a:pt x="6908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2" name="Shape 9"/>
          <p:cNvSpPr/>
          <p:nvPr>
            <p:custDataLst>
              <p:tags r:id="rId8"/>
            </p:custDataLst>
          </p:nvPr>
        </p:nvSpPr>
        <p:spPr>
          <a:xfrm>
            <a:off x="5080000" y="3124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484DF"/>
          </a:solidFill>
        </p:spPr>
      </p:sp>
      <p:sp>
        <p:nvSpPr>
          <p:cNvPr id="13" name="Shape 10"/>
          <p:cNvSpPr/>
          <p:nvPr>
            <p:custDataLst>
              <p:tags r:id="rId9"/>
            </p:custDataLst>
          </p:nvPr>
        </p:nvSpPr>
        <p:spPr>
          <a:xfrm>
            <a:off x="5194300" y="32766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/>
            </a:pathLst>
          </a:custGeom>
          <a:solidFill>
            <a:srgbClr val="FFFFFF"/>
          </a:solidFill>
        </p:spPr>
      </p:sp>
      <p:sp>
        <p:nvSpPr>
          <p:cNvPr id="14" name="Text 11"/>
          <p:cNvSpPr/>
          <p:nvPr>
            <p:custDataLst>
              <p:tags r:id="rId10"/>
            </p:custDataLst>
          </p:nvPr>
        </p:nvSpPr>
        <p:spPr>
          <a:xfrm>
            <a:off x="5892800" y="3031490"/>
            <a:ext cx="494030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延迟敏感</a:t>
            </a:r>
            <a:endParaRPr lang="en-US" sz="2400" dirty="0"/>
          </a:p>
        </p:txBody>
      </p:sp>
      <p:sp>
        <p:nvSpPr>
          <p:cNvPr id="15" name="Text 12"/>
          <p:cNvSpPr/>
          <p:nvPr>
            <p:custDataLst>
              <p:tags r:id="rId11"/>
            </p:custDataLst>
          </p:nvPr>
        </p:nvSpPr>
        <p:spPr>
          <a:xfrm>
            <a:off x="5892800" y="3479800"/>
            <a:ext cx="6031230" cy="387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实时交互场景对端到端延迟要求苛刻，通常要求低于400ms。</a:t>
            </a:r>
            <a:endParaRPr lang="en-US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6" name="Shape 13"/>
          <p:cNvSpPr/>
          <p:nvPr>
            <p:custDataLst>
              <p:tags r:id="rId12"/>
            </p:custDataLst>
          </p:nvPr>
        </p:nvSpPr>
        <p:spPr>
          <a:xfrm>
            <a:off x="4927600" y="4089400"/>
            <a:ext cx="7010400" cy="1122680"/>
          </a:xfrm>
          <a:custGeom>
            <a:avLst/>
            <a:gdLst/>
            <a:ahLst/>
            <a:cxnLst/>
            <a:rect l="l" t="t" r="r" b="b"/>
            <a:pathLst>
              <a:path w="7010400" h="914400">
                <a:moveTo>
                  <a:pt x="101599" y="0"/>
                </a:moveTo>
                <a:lnTo>
                  <a:pt x="6908801" y="0"/>
                </a:lnTo>
                <a:cubicBezTo>
                  <a:pt x="6964913" y="0"/>
                  <a:pt x="7010400" y="45487"/>
                  <a:pt x="7010400" y="101599"/>
                </a:cubicBezTo>
                <a:lnTo>
                  <a:pt x="7010400" y="812801"/>
                </a:lnTo>
                <a:cubicBezTo>
                  <a:pt x="7010400" y="868913"/>
                  <a:pt x="6964913" y="914400"/>
                  <a:pt x="69088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7" name="Shape 14"/>
          <p:cNvSpPr/>
          <p:nvPr>
            <p:custDataLst>
              <p:tags r:id="rId13"/>
            </p:custDataLst>
          </p:nvPr>
        </p:nvSpPr>
        <p:spPr>
          <a:xfrm>
            <a:off x="5080000" y="4241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0"/>
                </a:moveTo>
                <a:lnTo>
                  <a:pt x="533400" y="0"/>
                </a:lnTo>
                <a:cubicBezTo>
                  <a:pt x="575456" y="0"/>
                  <a:pt x="609600" y="34144"/>
                  <a:pt x="609600" y="76200"/>
                </a:cubicBezTo>
                <a:lnTo>
                  <a:pt x="609600" y="533400"/>
                </a:lnTo>
                <a:cubicBezTo>
                  <a:pt x="609600" y="575456"/>
                  <a:pt x="575456" y="609600"/>
                  <a:pt x="5334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8" name="Shape 15"/>
          <p:cNvSpPr/>
          <p:nvPr>
            <p:custDataLst>
              <p:tags r:id="rId14"/>
            </p:custDataLst>
          </p:nvPr>
        </p:nvSpPr>
        <p:spPr>
          <a:xfrm>
            <a:off x="5194300" y="43942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/>
            </a:pathLst>
          </a:custGeom>
          <a:solidFill>
            <a:srgbClr val="FFFFFF"/>
          </a:solidFill>
        </p:spPr>
      </p:sp>
      <p:sp>
        <p:nvSpPr>
          <p:cNvPr id="19" name="Text 16"/>
          <p:cNvSpPr/>
          <p:nvPr>
            <p:custDataLst>
              <p:tags r:id="rId15"/>
            </p:custDataLst>
          </p:nvPr>
        </p:nvSpPr>
        <p:spPr>
          <a:xfrm>
            <a:off x="5892800" y="4099560"/>
            <a:ext cx="5270500" cy="404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丢包容忍</a:t>
            </a:r>
            <a:endParaRPr lang="en-US" sz="2400" dirty="0"/>
          </a:p>
        </p:txBody>
      </p:sp>
      <p:sp>
        <p:nvSpPr>
          <p:cNvPr id="20" name="Text 17"/>
          <p:cNvSpPr/>
          <p:nvPr>
            <p:custDataLst>
              <p:tags r:id="rId16"/>
            </p:custDataLst>
          </p:nvPr>
        </p:nvSpPr>
        <p:spPr>
          <a:xfrm>
            <a:off x="5892800" y="4597400"/>
            <a:ext cx="6045835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对时延和抖动极为敏感，但可容忍一定程度的丢包以保证流畅度。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9" grpId="0"/>
      <p:bldP spid="9" grpId="1"/>
      <p:bldP spid="10" grpId="0"/>
      <p:bldP spid="10" grpId="1"/>
      <p:bldP spid="14" grpId="0"/>
      <p:bldP spid="14" grpId="1"/>
      <p:bldP spid="15" grpId="0"/>
      <p:bldP spid="15" grpId="1"/>
      <p:bldP spid="19" grpId="0"/>
      <p:bldP spid="19" grpId="1"/>
      <p:bldP spid="20" grpId="0"/>
      <p:bldP spid="2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694690"/>
            <a:ext cx="11874500" cy="1311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三类主要服务：因需制宜</a:t>
            </a:r>
            <a:endParaRPr lang="en-US" sz="4800" dirty="0"/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254000" y="2438400"/>
            <a:ext cx="3721100" cy="2667000"/>
          </a:xfrm>
          <a:custGeom>
            <a:avLst/>
            <a:gdLst/>
            <a:ahLst/>
            <a:cxnLst/>
            <a:rect l="l" t="t" r="r" b="b"/>
            <a:pathLst>
              <a:path w="3721100" h="2667000">
                <a:moveTo>
                  <a:pt x="50800" y="0"/>
                </a:moveTo>
                <a:lnTo>
                  <a:pt x="3670300" y="0"/>
                </a:lnTo>
                <a:cubicBezTo>
                  <a:pt x="3698356" y="0"/>
                  <a:pt x="3721100" y="22744"/>
                  <a:pt x="3721100" y="50800"/>
                </a:cubicBezTo>
                <a:lnTo>
                  <a:pt x="3721100" y="2514608"/>
                </a:lnTo>
                <a:cubicBezTo>
                  <a:pt x="3721100" y="2598772"/>
                  <a:pt x="3652872" y="2667000"/>
                  <a:pt x="3568708" y="2667000"/>
                </a:cubicBezTo>
                <a:lnTo>
                  <a:pt x="152392" y="2667000"/>
                </a:lnTo>
                <a:cubicBezTo>
                  <a:pt x="68228" y="2667000"/>
                  <a:pt x="0" y="2598772"/>
                  <a:pt x="0" y="2514608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254000" y="2438400"/>
            <a:ext cx="3721100" cy="50800"/>
          </a:xfrm>
          <a:custGeom>
            <a:avLst/>
            <a:gdLst/>
            <a:ahLst/>
            <a:cxnLst/>
            <a:rect l="l" t="t" r="r" b="b"/>
            <a:pathLst>
              <a:path w="3721100" h="50800">
                <a:moveTo>
                  <a:pt x="50800" y="0"/>
                </a:moveTo>
                <a:lnTo>
                  <a:pt x="3670300" y="0"/>
                </a:lnTo>
                <a:cubicBezTo>
                  <a:pt x="3698337" y="0"/>
                  <a:pt x="3721100" y="22763"/>
                  <a:pt x="3721100" y="50800"/>
                </a:cubicBezTo>
                <a:lnTo>
                  <a:pt x="37211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6" name="Shape 3"/>
          <p:cNvSpPr/>
          <p:nvPr>
            <p:custDataLst>
              <p:tags r:id="rId4"/>
            </p:custDataLst>
          </p:nvPr>
        </p:nvSpPr>
        <p:spPr>
          <a:xfrm>
            <a:off x="1710214" y="2667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7" name="Shape 4"/>
          <p:cNvSpPr/>
          <p:nvPr>
            <p:custDataLst>
              <p:tags r:id="rId5"/>
            </p:custDataLst>
          </p:nvPr>
        </p:nvSpPr>
        <p:spPr>
          <a:xfrm>
            <a:off x="1878489" y="28829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FFFFFF"/>
          </a:solidFill>
        </p:spPr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475615" y="3515360"/>
            <a:ext cx="3312795" cy="523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流式存储</a:t>
            </a:r>
            <a:endParaRPr lang="en-US" sz="2400" dirty="0"/>
          </a:p>
        </p:txBody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254000" y="4140200"/>
            <a:ext cx="3721735" cy="334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如爱奇艺、腾讯视频 (点播已存储文件)。</a:t>
            </a:r>
            <a:endParaRPr lang="en-US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893445" y="4640580"/>
            <a:ext cx="2464435" cy="355600"/>
          </a:xfrm>
          <a:custGeom>
            <a:avLst/>
            <a:gdLst/>
            <a:ahLst/>
            <a:cxnLst/>
            <a:rect l="l" t="t" r="r" b="b"/>
            <a:pathLst>
              <a:path w="2336800" h="355600">
                <a:moveTo>
                  <a:pt x="76202" y="0"/>
                </a:moveTo>
                <a:lnTo>
                  <a:pt x="2260598" y="0"/>
                </a:lnTo>
                <a:cubicBezTo>
                  <a:pt x="2302683" y="0"/>
                  <a:pt x="2336800" y="34117"/>
                  <a:pt x="2336800" y="76202"/>
                </a:cubicBezTo>
                <a:lnTo>
                  <a:pt x="2336800" y="279398"/>
                </a:lnTo>
                <a:cubicBezTo>
                  <a:pt x="2336800" y="321483"/>
                  <a:pt x="2302683" y="355600"/>
                  <a:pt x="2260598" y="355600"/>
                </a:cubicBezTo>
                <a:lnTo>
                  <a:pt x="76202" y="355600"/>
                </a:lnTo>
                <a:cubicBezTo>
                  <a:pt x="34145" y="355600"/>
                  <a:pt x="0" y="321455"/>
                  <a:pt x="0" y="2793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</p:spPr>
      </p:sp>
      <p:sp>
        <p:nvSpPr>
          <p:cNvPr id="11" name="Text 8"/>
          <p:cNvSpPr/>
          <p:nvPr>
            <p:custDataLst>
              <p:tags r:id="rId9"/>
            </p:custDataLst>
          </p:nvPr>
        </p:nvSpPr>
        <p:spPr>
          <a:xfrm>
            <a:off x="474980" y="4546600"/>
            <a:ext cx="3289300" cy="542925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核心：用户拥有播放控制权</a:t>
            </a:r>
            <a:endParaRPr lang="en-US" sz="1600" dirty="0"/>
          </a:p>
        </p:txBody>
      </p:sp>
      <p:sp>
        <p:nvSpPr>
          <p:cNvPr id="12" name="Shape 9"/>
          <p:cNvSpPr/>
          <p:nvPr>
            <p:custDataLst>
              <p:tags r:id="rId10"/>
            </p:custDataLst>
          </p:nvPr>
        </p:nvSpPr>
        <p:spPr>
          <a:xfrm>
            <a:off x="4233386" y="2641600"/>
            <a:ext cx="3721100" cy="2667000"/>
          </a:xfrm>
          <a:custGeom>
            <a:avLst/>
            <a:gdLst/>
            <a:ahLst/>
            <a:cxnLst/>
            <a:rect l="l" t="t" r="r" b="b"/>
            <a:pathLst>
              <a:path w="3721100" h="2667000">
                <a:moveTo>
                  <a:pt x="50800" y="0"/>
                </a:moveTo>
                <a:lnTo>
                  <a:pt x="3670300" y="0"/>
                </a:lnTo>
                <a:cubicBezTo>
                  <a:pt x="3698356" y="0"/>
                  <a:pt x="3721100" y="22744"/>
                  <a:pt x="3721100" y="50800"/>
                </a:cubicBezTo>
                <a:lnTo>
                  <a:pt x="3721100" y="2514608"/>
                </a:lnTo>
                <a:cubicBezTo>
                  <a:pt x="3721100" y="2598772"/>
                  <a:pt x="3652872" y="2667000"/>
                  <a:pt x="3568708" y="2667000"/>
                </a:cubicBezTo>
                <a:lnTo>
                  <a:pt x="152392" y="2667000"/>
                </a:lnTo>
                <a:cubicBezTo>
                  <a:pt x="68228" y="2667000"/>
                  <a:pt x="0" y="2598772"/>
                  <a:pt x="0" y="2514608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ADD8E6">
              <a:alpha val="40000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>
            <p:custDataLst>
              <p:tags r:id="rId11"/>
            </p:custDataLst>
          </p:nvPr>
        </p:nvSpPr>
        <p:spPr>
          <a:xfrm>
            <a:off x="4233386" y="2641600"/>
            <a:ext cx="3721100" cy="50800"/>
          </a:xfrm>
          <a:custGeom>
            <a:avLst/>
            <a:gdLst/>
            <a:ahLst/>
            <a:cxnLst/>
            <a:rect l="l" t="t" r="r" b="b"/>
            <a:pathLst>
              <a:path w="3721100" h="50800">
                <a:moveTo>
                  <a:pt x="50800" y="0"/>
                </a:moveTo>
                <a:lnTo>
                  <a:pt x="3670300" y="0"/>
                </a:lnTo>
                <a:cubicBezTo>
                  <a:pt x="3698337" y="0"/>
                  <a:pt x="3721100" y="22763"/>
                  <a:pt x="3721100" y="50800"/>
                </a:cubicBezTo>
                <a:lnTo>
                  <a:pt x="37211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484DF"/>
          </a:solidFill>
        </p:spPr>
      </p:sp>
      <p:sp>
        <p:nvSpPr>
          <p:cNvPr id="14" name="Shape 11"/>
          <p:cNvSpPr/>
          <p:nvPr>
            <p:custDataLst>
              <p:tags r:id="rId12"/>
            </p:custDataLst>
          </p:nvPr>
        </p:nvSpPr>
        <p:spPr>
          <a:xfrm>
            <a:off x="5689600" y="2870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7484DF"/>
          </a:solidFill>
        </p:spPr>
      </p:sp>
      <p:sp>
        <p:nvSpPr>
          <p:cNvPr id="15" name="Shape 12"/>
          <p:cNvSpPr/>
          <p:nvPr>
            <p:custDataLst>
              <p:tags r:id="rId13"/>
            </p:custDataLst>
          </p:nvPr>
        </p:nvSpPr>
        <p:spPr>
          <a:xfrm>
            <a:off x="5857875" y="30861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FFFFFF"/>
          </a:solidFill>
        </p:spPr>
      </p:sp>
      <p:sp>
        <p:nvSpPr>
          <p:cNvPr id="16" name="Text 13"/>
          <p:cNvSpPr/>
          <p:nvPr>
            <p:custDataLst>
              <p:tags r:id="rId14"/>
            </p:custDataLst>
          </p:nvPr>
        </p:nvSpPr>
        <p:spPr>
          <a:xfrm>
            <a:off x="4555490" y="3682365"/>
            <a:ext cx="3154680" cy="5594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流式直播</a:t>
            </a:r>
            <a:endParaRPr lang="en-US" sz="24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7" name="Text 14"/>
          <p:cNvSpPr/>
          <p:nvPr>
            <p:custDataLst>
              <p:tags r:id="rId15"/>
            </p:custDataLst>
          </p:nvPr>
        </p:nvSpPr>
        <p:spPr>
          <a:xfrm>
            <a:off x="4471035" y="4343400"/>
            <a:ext cx="333438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如直播电视、赛事直播 (实时源)。</a:t>
            </a:r>
            <a:endParaRPr lang="en-US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8" name="Shape 15"/>
          <p:cNvSpPr/>
          <p:nvPr>
            <p:custDataLst>
              <p:tags r:id="rId16"/>
            </p:custDataLst>
          </p:nvPr>
        </p:nvSpPr>
        <p:spPr>
          <a:xfrm>
            <a:off x="4944110" y="4749800"/>
            <a:ext cx="2316480" cy="355600"/>
          </a:xfrm>
          <a:custGeom>
            <a:avLst/>
            <a:gdLst/>
            <a:ahLst/>
            <a:cxnLst/>
            <a:rect l="l" t="t" r="r" b="b"/>
            <a:pathLst>
              <a:path w="2159000" h="355600">
                <a:moveTo>
                  <a:pt x="76202" y="0"/>
                </a:moveTo>
                <a:lnTo>
                  <a:pt x="2082798" y="0"/>
                </a:lnTo>
                <a:cubicBezTo>
                  <a:pt x="2124883" y="0"/>
                  <a:pt x="2159000" y="34117"/>
                  <a:pt x="2159000" y="76202"/>
                </a:cubicBezTo>
                <a:lnTo>
                  <a:pt x="2159000" y="279398"/>
                </a:lnTo>
                <a:cubicBezTo>
                  <a:pt x="2159000" y="321483"/>
                  <a:pt x="2124883" y="355600"/>
                  <a:pt x="2082798" y="355600"/>
                </a:cubicBezTo>
                <a:lnTo>
                  <a:pt x="76202" y="355600"/>
                </a:lnTo>
                <a:cubicBezTo>
                  <a:pt x="34145" y="355600"/>
                  <a:pt x="0" y="321455"/>
                  <a:pt x="0" y="2793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</p:spPr>
      </p:sp>
      <p:sp>
        <p:nvSpPr>
          <p:cNvPr id="19" name="Text 16"/>
          <p:cNvSpPr/>
          <p:nvPr>
            <p:custDataLst>
              <p:tags r:id="rId17"/>
            </p:custDataLst>
          </p:nvPr>
        </p:nvSpPr>
        <p:spPr>
          <a:xfrm>
            <a:off x="4459605" y="4749800"/>
            <a:ext cx="3268345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核心：同步服务大量用户</a:t>
            </a:r>
            <a:endParaRPr lang="en-US" sz="1600" b="1" dirty="0">
              <a:solidFill>
                <a:srgbClr val="7484DF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0" name="Shape 17"/>
          <p:cNvSpPr/>
          <p:nvPr>
            <p:custDataLst>
              <p:tags r:id="rId18"/>
            </p:custDataLst>
          </p:nvPr>
        </p:nvSpPr>
        <p:spPr>
          <a:xfrm>
            <a:off x="8212772" y="2438400"/>
            <a:ext cx="3721100" cy="2667000"/>
          </a:xfrm>
          <a:custGeom>
            <a:avLst/>
            <a:gdLst/>
            <a:ahLst/>
            <a:cxnLst/>
            <a:rect l="l" t="t" r="r" b="b"/>
            <a:pathLst>
              <a:path w="3721100" h="2667000">
                <a:moveTo>
                  <a:pt x="50800" y="0"/>
                </a:moveTo>
                <a:lnTo>
                  <a:pt x="3670300" y="0"/>
                </a:lnTo>
                <a:cubicBezTo>
                  <a:pt x="3698356" y="0"/>
                  <a:pt x="3721100" y="22744"/>
                  <a:pt x="3721100" y="50800"/>
                </a:cubicBezTo>
                <a:lnTo>
                  <a:pt x="3721100" y="2514608"/>
                </a:lnTo>
                <a:cubicBezTo>
                  <a:pt x="3721100" y="2598772"/>
                  <a:pt x="3652872" y="2667000"/>
                  <a:pt x="3568708" y="2667000"/>
                </a:cubicBezTo>
                <a:lnTo>
                  <a:pt x="152392" y="2667000"/>
                </a:lnTo>
                <a:cubicBezTo>
                  <a:pt x="68228" y="2667000"/>
                  <a:pt x="0" y="2598772"/>
                  <a:pt x="0" y="2514608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8"/>
          <p:cNvSpPr/>
          <p:nvPr>
            <p:custDataLst>
              <p:tags r:id="rId19"/>
            </p:custDataLst>
          </p:nvPr>
        </p:nvSpPr>
        <p:spPr>
          <a:xfrm>
            <a:off x="8212772" y="2438400"/>
            <a:ext cx="3721100" cy="50800"/>
          </a:xfrm>
          <a:custGeom>
            <a:avLst/>
            <a:gdLst/>
            <a:ahLst/>
            <a:cxnLst/>
            <a:rect l="l" t="t" r="r" b="b"/>
            <a:pathLst>
              <a:path w="3721100" h="50800">
                <a:moveTo>
                  <a:pt x="50800" y="0"/>
                </a:moveTo>
                <a:lnTo>
                  <a:pt x="3670300" y="0"/>
                </a:lnTo>
                <a:cubicBezTo>
                  <a:pt x="3698337" y="0"/>
                  <a:pt x="3721100" y="22763"/>
                  <a:pt x="3721100" y="50800"/>
                </a:cubicBezTo>
                <a:lnTo>
                  <a:pt x="37211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22" name="Shape 19"/>
          <p:cNvSpPr/>
          <p:nvPr>
            <p:custDataLst>
              <p:tags r:id="rId20"/>
            </p:custDataLst>
          </p:nvPr>
        </p:nvSpPr>
        <p:spPr>
          <a:xfrm>
            <a:off x="9668987" y="2667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23" name="Shape 20"/>
          <p:cNvSpPr/>
          <p:nvPr>
            <p:custDataLst>
              <p:tags r:id="rId21"/>
            </p:custDataLst>
          </p:nvPr>
        </p:nvSpPr>
        <p:spPr>
          <a:xfrm>
            <a:off x="9837262" y="288290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FFFFFF"/>
          </a:solidFill>
        </p:spPr>
      </p:sp>
      <p:sp>
        <p:nvSpPr>
          <p:cNvPr id="24" name="Text 21"/>
          <p:cNvSpPr/>
          <p:nvPr>
            <p:custDataLst>
              <p:tags r:id="rId22"/>
            </p:custDataLst>
          </p:nvPr>
        </p:nvSpPr>
        <p:spPr>
          <a:xfrm>
            <a:off x="8477250" y="3513455"/>
            <a:ext cx="3282315" cy="5251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实时交互</a:t>
            </a:r>
            <a:endParaRPr lang="en-US" sz="2400" dirty="0"/>
          </a:p>
        </p:txBody>
      </p:sp>
      <p:sp>
        <p:nvSpPr>
          <p:cNvPr id="25" name="Text 22"/>
          <p:cNvSpPr/>
          <p:nvPr>
            <p:custDataLst>
              <p:tags r:id="rId23"/>
            </p:custDataLst>
          </p:nvPr>
        </p:nvSpPr>
        <p:spPr>
          <a:xfrm>
            <a:off x="8504555" y="4140200"/>
            <a:ext cx="314833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如视频会议、网络电话。</a:t>
            </a:r>
            <a:endParaRPr lang="en-US" dirty="0"/>
          </a:p>
        </p:txBody>
      </p:sp>
      <p:sp>
        <p:nvSpPr>
          <p:cNvPr id="26" name="Shape 23"/>
          <p:cNvSpPr/>
          <p:nvPr>
            <p:custDataLst>
              <p:tags r:id="rId24"/>
            </p:custDataLst>
          </p:nvPr>
        </p:nvSpPr>
        <p:spPr>
          <a:xfrm>
            <a:off x="8932545" y="4546600"/>
            <a:ext cx="2178050" cy="355600"/>
          </a:xfrm>
          <a:custGeom>
            <a:avLst/>
            <a:gdLst/>
            <a:ahLst/>
            <a:cxnLst/>
            <a:rect l="l" t="t" r="r" b="b"/>
            <a:pathLst>
              <a:path w="1981200" h="355600">
                <a:moveTo>
                  <a:pt x="76202" y="0"/>
                </a:moveTo>
                <a:lnTo>
                  <a:pt x="1904998" y="0"/>
                </a:lnTo>
                <a:cubicBezTo>
                  <a:pt x="1947083" y="0"/>
                  <a:pt x="1981200" y="34117"/>
                  <a:pt x="1981200" y="76202"/>
                </a:cubicBezTo>
                <a:lnTo>
                  <a:pt x="1981200" y="279398"/>
                </a:lnTo>
                <a:cubicBezTo>
                  <a:pt x="1981200" y="321483"/>
                  <a:pt x="1947083" y="355600"/>
                  <a:pt x="1904998" y="355600"/>
                </a:cubicBezTo>
                <a:lnTo>
                  <a:pt x="76202" y="355600"/>
                </a:lnTo>
                <a:cubicBezTo>
                  <a:pt x="34145" y="355600"/>
                  <a:pt x="0" y="321455"/>
                  <a:pt x="0" y="2793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</p:spPr>
      </p:sp>
      <p:sp>
        <p:nvSpPr>
          <p:cNvPr id="27" name="Text 24"/>
          <p:cNvSpPr/>
          <p:nvPr>
            <p:custDataLst>
              <p:tags r:id="rId25"/>
            </p:custDataLst>
          </p:nvPr>
        </p:nvSpPr>
        <p:spPr>
          <a:xfrm>
            <a:off x="8365490" y="4546600"/>
            <a:ext cx="328803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核心：延迟要求最严格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8" grpId="0"/>
      <p:bldP spid="8" grpId="1"/>
      <p:bldP spid="9" grpId="0"/>
      <p:bldP spid="9" grpId="1"/>
      <p:bldP spid="11" grpId="0"/>
      <p:bldP spid="11" grpId="1"/>
      <p:bldP spid="16" grpId="0"/>
      <p:bldP spid="16" grpId="1"/>
      <p:bldP spid="17" grpId="0"/>
      <p:bldP spid="17" grpId="1"/>
      <p:bldP spid="19" grpId="0"/>
      <p:bldP spid="19" grpId="1"/>
      <p:bldP spid="24" grpId="0"/>
      <p:bldP spid="24" grpId="1"/>
      <p:bldP spid="25" grpId="0"/>
      <p:bldP spid="25" grpId="1"/>
      <p:bldP spid="27" grpId="0"/>
      <p:bldP spid="2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流式存储技术栈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793115"/>
            <a:ext cx="11874500" cy="12439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流式存储的两种传输方式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254000" y="2341880"/>
            <a:ext cx="5638800" cy="2933700"/>
          </a:xfrm>
          <a:custGeom>
            <a:avLst/>
            <a:gdLst/>
            <a:ahLst/>
            <a:cxnLst/>
            <a:rect l="l" t="t" r="r" b="b"/>
            <a:pathLst>
              <a:path w="5638800" h="2933700">
                <a:moveTo>
                  <a:pt x="101594" y="0"/>
                </a:moveTo>
                <a:lnTo>
                  <a:pt x="5537206" y="0"/>
                </a:lnTo>
                <a:cubicBezTo>
                  <a:pt x="5593315" y="0"/>
                  <a:pt x="5638800" y="45485"/>
                  <a:pt x="5638800" y="101594"/>
                </a:cubicBezTo>
                <a:lnTo>
                  <a:pt x="5638800" y="2832106"/>
                </a:lnTo>
                <a:cubicBezTo>
                  <a:pt x="5638800" y="2888215"/>
                  <a:pt x="5593315" y="2933700"/>
                  <a:pt x="5537206" y="2933700"/>
                </a:cubicBezTo>
                <a:lnTo>
                  <a:pt x="101594" y="2933700"/>
                </a:lnTo>
                <a:cubicBezTo>
                  <a:pt x="45485" y="2933700"/>
                  <a:pt x="0" y="2888215"/>
                  <a:pt x="0" y="28321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82600" y="2426335"/>
            <a:ext cx="5181600" cy="626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渐进下载 (传统HTTP)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88925" y="3026410"/>
            <a:ext cx="5603240" cy="4838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原理: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使用普通的HTTP/TCP，将媒体文件当作普通文件下载。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558800" y="3662521"/>
            <a:ext cx="5029200" cy="558800"/>
          </a:xfrm>
          <a:custGeom>
            <a:avLst/>
            <a:gdLst/>
            <a:ahLst/>
            <a:cxnLst/>
            <a:rect l="l" t="t" r="r" b="b"/>
            <a:pathLst>
              <a:path w="5029200" h="558800">
                <a:moveTo>
                  <a:pt x="76198" y="0"/>
                </a:moveTo>
                <a:lnTo>
                  <a:pt x="4953002" y="0"/>
                </a:lnTo>
                <a:cubicBezTo>
                  <a:pt x="4995085" y="0"/>
                  <a:pt x="5029200" y="34115"/>
                  <a:pt x="5029200" y="76198"/>
                </a:cubicBezTo>
                <a:lnTo>
                  <a:pt x="5029200" y="482602"/>
                </a:lnTo>
                <a:cubicBezTo>
                  <a:pt x="5029200" y="524685"/>
                  <a:pt x="4995085" y="558800"/>
                  <a:pt x="4953002" y="558800"/>
                </a:cubicBezTo>
                <a:lnTo>
                  <a:pt x="76198" y="558800"/>
                </a:lnTo>
                <a:cubicBezTo>
                  <a:pt x="34143" y="558800"/>
                  <a:pt x="0" y="524657"/>
                  <a:pt x="0" y="4826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</p:sp>
      <p:sp>
        <p:nvSpPr>
          <p:cNvPr id="8" name="Text 5"/>
          <p:cNvSpPr/>
          <p:nvPr/>
        </p:nvSpPr>
        <p:spPr>
          <a:xfrm>
            <a:off x="711200" y="3814921"/>
            <a:ext cx="4813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00A63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优点: 简单，利用现有Web基础设施。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58800" y="4373721"/>
            <a:ext cx="5029200" cy="558800"/>
          </a:xfrm>
          <a:custGeom>
            <a:avLst/>
            <a:gdLst/>
            <a:ahLst/>
            <a:cxnLst/>
            <a:rect l="l" t="t" r="r" b="b"/>
            <a:pathLst>
              <a:path w="5029200" h="558800">
                <a:moveTo>
                  <a:pt x="76198" y="0"/>
                </a:moveTo>
                <a:lnTo>
                  <a:pt x="4953002" y="0"/>
                </a:lnTo>
                <a:cubicBezTo>
                  <a:pt x="4995085" y="0"/>
                  <a:pt x="5029200" y="34115"/>
                  <a:pt x="5029200" y="76198"/>
                </a:cubicBezTo>
                <a:lnTo>
                  <a:pt x="5029200" y="482602"/>
                </a:lnTo>
                <a:cubicBezTo>
                  <a:pt x="5029200" y="524685"/>
                  <a:pt x="4995085" y="558800"/>
                  <a:pt x="4953002" y="558800"/>
                </a:cubicBezTo>
                <a:lnTo>
                  <a:pt x="76198" y="558800"/>
                </a:lnTo>
                <a:cubicBezTo>
                  <a:pt x="34143" y="558800"/>
                  <a:pt x="0" y="524657"/>
                  <a:pt x="0" y="4826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711200" y="4449445"/>
            <a:ext cx="4813300" cy="363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E700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缺点: 启动延迟长；对存储需求大；不适合长视频。</a:t>
            </a:r>
            <a:endParaRPr lang="en-US" b="1" dirty="0">
              <a:solidFill>
                <a:srgbClr val="E7000B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308566" y="2352040"/>
            <a:ext cx="5621020" cy="2915920"/>
          </a:xfrm>
          <a:custGeom>
            <a:avLst/>
            <a:gdLst/>
            <a:ahLst/>
            <a:cxnLst/>
            <a:rect l="l" t="t" r="r" b="b"/>
            <a:pathLst>
              <a:path w="5621020" h="2915920">
                <a:moveTo>
                  <a:pt x="101591" y="0"/>
                </a:moveTo>
                <a:lnTo>
                  <a:pt x="5519429" y="0"/>
                </a:lnTo>
                <a:cubicBezTo>
                  <a:pt x="5575536" y="0"/>
                  <a:pt x="5621020" y="45484"/>
                  <a:pt x="5621020" y="101591"/>
                </a:cubicBezTo>
                <a:lnTo>
                  <a:pt x="5621020" y="2814329"/>
                </a:lnTo>
                <a:cubicBezTo>
                  <a:pt x="5621020" y="2870436"/>
                  <a:pt x="5575536" y="2915920"/>
                  <a:pt x="5519429" y="2915920"/>
                </a:cubicBezTo>
                <a:lnTo>
                  <a:pt x="101591" y="2915920"/>
                </a:lnTo>
                <a:cubicBezTo>
                  <a:pt x="45484" y="2915920"/>
                  <a:pt x="0" y="2870436"/>
                  <a:pt x="0" y="2814329"/>
                </a:cubicBezTo>
                <a:lnTo>
                  <a:pt x="0" y="101591"/>
                </a:lnTo>
                <a:cubicBezTo>
                  <a:pt x="0" y="45484"/>
                  <a:pt x="45484" y="0"/>
                  <a:pt x="101591" y="0"/>
                </a:cubicBezTo>
                <a:close/>
              </a:path>
            </a:pathLst>
          </a:custGeom>
          <a:solidFill>
            <a:srgbClr val="ADD8E6">
              <a:alpha val="40000"/>
            </a:srgbClr>
          </a:solidFill>
          <a:ln w="20320">
            <a:solidFill>
              <a:srgbClr val="7484DF"/>
            </a:solidFill>
            <a:prstDash val="solid"/>
          </a:ln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47485" y="2399030"/>
            <a:ext cx="5143500" cy="674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实时流式传输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623685" y="3137535"/>
            <a:ext cx="5080000" cy="393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原理: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使用专用流媒体服务器和流式协议（如RTSP）。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6623527" y="3682841"/>
            <a:ext cx="4991100" cy="558800"/>
          </a:xfrm>
          <a:custGeom>
            <a:avLst/>
            <a:gdLst/>
            <a:ahLst/>
            <a:cxnLst/>
            <a:rect l="l" t="t" r="r" b="b"/>
            <a:pathLst>
              <a:path w="4991100" h="558800">
                <a:moveTo>
                  <a:pt x="76198" y="0"/>
                </a:moveTo>
                <a:lnTo>
                  <a:pt x="4914902" y="0"/>
                </a:lnTo>
                <a:cubicBezTo>
                  <a:pt x="4956985" y="0"/>
                  <a:pt x="4991100" y="34115"/>
                  <a:pt x="4991100" y="76198"/>
                </a:cubicBezTo>
                <a:lnTo>
                  <a:pt x="4991100" y="482602"/>
                </a:lnTo>
                <a:cubicBezTo>
                  <a:pt x="4991100" y="524685"/>
                  <a:pt x="4956985" y="558800"/>
                  <a:pt x="4914902" y="558800"/>
                </a:cubicBezTo>
                <a:lnTo>
                  <a:pt x="76198" y="558800"/>
                </a:lnTo>
                <a:cubicBezTo>
                  <a:pt x="34143" y="558800"/>
                  <a:pt x="0" y="524657"/>
                  <a:pt x="0" y="4826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6776085" y="3811905"/>
            <a:ext cx="4775200" cy="277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00A63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优点: 启动快，支持实时交互控制，更适合长内容。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6623527" y="4394041"/>
            <a:ext cx="4991100" cy="558800"/>
          </a:xfrm>
          <a:custGeom>
            <a:avLst/>
            <a:gdLst/>
            <a:ahLst/>
            <a:cxnLst/>
            <a:rect l="l" t="t" r="r" b="b"/>
            <a:pathLst>
              <a:path w="4991100" h="558800">
                <a:moveTo>
                  <a:pt x="76198" y="0"/>
                </a:moveTo>
                <a:lnTo>
                  <a:pt x="4914902" y="0"/>
                </a:lnTo>
                <a:cubicBezTo>
                  <a:pt x="4956985" y="0"/>
                  <a:pt x="4991100" y="34115"/>
                  <a:pt x="4991100" y="76198"/>
                </a:cubicBezTo>
                <a:lnTo>
                  <a:pt x="4991100" y="482602"/>
                </a:lnTo>
                <a:cubicBezTo>
                  <a:pt x="4991100" y="524685"/>
                  <a:pt x="4956985" y="558800"/>
                  <a:pt x="4914902" y="558800"/>
                </a:cubicBezTo>
                <a:lnTo>
                  <a:pt x="76198" y="558800"/>
                </a:lnTo>
                <a:cubicBezTo>
                  <a:pt x="34143" y="558800"/>
                  <a:pt x="0" y="524657"/>
                  <a:pt x="0" y="4826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</p:spPr>
      </p:sp>
      <p:sp>
        <p:nvSpPr>
          <p:cNvPr id="17" name="Text 14"/>
          <p:cNvSpPr/>
          <p:nvPr/>
        </p:nvSpPr>
        <p:spPr>
          <a:xfrm>
            <a:off x="6775927" y="4546441"/>
            <a:ext cx="4775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E700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缺点: 需要专门的服务器和网络协议支持。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12" grpId="0"/>
      <p:bldP spid="12" grpId="1"/>
      <p:bldP spid="6" grpId="0"/>
      <p:bldP spid="6" grpId="1"/>
      <p:bldP spid="13" grpId="0"/>
      <p:bldP spid="13" grpId="1"/>
      <p:bldP spid="8" grpId="0"/>
      <p:bldP spid="8" grpId="1"/>
      <p:bldP spid="10" grpId="0"/>
      <p:bldP spid="10" grpId="1"/>
      <p:bldP spid="15" grpId="0"/>
      <p:bldP spid="15" grpId="1"/>
      <p:bldP spid="17" grpId="0"/>
      <p:bldP spid="1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1031875"/>
            <a:ext cx="11874500" cy="15081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控制与数据分离：元文件与RTSP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1333500" y="30480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/>
            </a:pathLst>
          </a:custGeom>
          <a:solidFill>
            <a:srgbClr val="4A90E2"/>
          </a:solidFill>
        </p:spPr>
      </p:sp>
      <p:sp>
        <p:nvSpPr>
          <p:cNvPr id="5" name="Text 2"/>
          <p:cNvSpPr/>
          <p:nvPr/>
        </p:nvSpPr>
        <p:spPr>
          <a:xfrm>
            <a:off x="1122680" y="3962400"/>
            <a:ext cx="11811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Web服务器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178560" y="4267200"/>
            <a:ext cx="1053465" cy="467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(HTTP)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54500" y="30480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/>
            </a:pathLst>
          </a:custGeom>
          <a:solidFill>
            <a:srgbClr val="7484DF"/>
          </a:solidFill>
        </p:spPr>
      </p:sp>
      <p:sp>
        <p:nvSpPr>
          <p:cNvPr id="8" name="Text 5"/>
          <p:cNvSpPr/>
          <p:nvPr/>
        </p:nvSpPr>
        <p:spPr>
          <a:xfrm>
            <a:off x="4001135" y="3962400"/>
            <a:ext cx="108077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元文件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987165" y="4267200"/>
            <a:ext cx="1104900" cy="612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(描述信息)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75500" y="30480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/>
            </a:pathLst>
          </a:custGeom>
          <a:solidFill>
            <a:srgbClr val="4A90E2"/>
          </a:solidFill>
        </p:spPr>
      </p:sp>
      <p:sp>
        <p:nvSpPr>
          <p:cNvPr id="11" name="Text 8"/>
          <p:cNvSpPr/>
          <p:nvPr/>
        </p:nvSpPr>
        <p:spPr>
          <a:xfrm>
            <a:off x="6997700" y="3962400"/>
            <a:ext cx="142938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媒体播放器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099300" y="4267200"/>
            <a:ext cx="1206500" cy="542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(启动)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096500" y="30480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/>
            </a:pathLst>
          </a:custGeom>
          <a:solidFill>
            <a:srgbClr val="7484DF"/>
          </a:solidFill>
        </p:spPr>
      </p:sp>
      <p:sp>
        <p:nvSpPr>
          <p:cNvPr id="14" name="Text 11"/>
          <p:cNvSpPr/>
          <p:nvPr/>
        </p:nvSpPr>
        <p:spPr>
          <a:xfrm>
            <a:off x="9656445" y="3962400"/>
            <a:ext cx="172275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流媒体服务器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812655" y="4267200"/>
            <a:ext cx="1518285" cy="511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(RTSP/RTP)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54000" y="3657441"/>
            <a:ext cx="11684000" cy="50800"/>
          </a:xfrm>
          <a:custGeom>
            <a:avLst/>
            <a:gdLst/>
            <a:ahLst/>
            <a:cxnLst/>
            <a:rect l="l" t="t" r="r" b="b"/>
            <a:pathLst>
              <a:path w="11684000" h="50800">
                <a:moveTo>
                  <a:pt x="0" y="0"/>
                </a:moveTo>
                <a:lnTo>
                  <a:pt x="11684000" y="0"/>
                </a:lnTo>
                <a:lnTo>
                  <a:pt x="11684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/>
          </a:solidFill>
        </p:spPr>
      </p:sp>
      <p:sp>
        <p:nvSpPr>
          <p:cNvPr id="17" name="Shape 14"/>
          <p:cNvSpPr/>
          <p:nvPr/>
        </p:nvSpPr>
        <p:spPr>
          <a:xfrm>
            <a:off x="5283200" y="3086100"/>
            <a:ext cx="1625600" cy="1221105"/>
          </a:xfrm>
          <a:custGeom>
            <a:avLst/>
            <a:gdLst/>
            <a:ahLst/>
            <a:cxnLst/>
            <a:rect l="l" t="t" r="r" b="b"/>
            <a:pathLst>
              <a:path w="1625600" h="304800">
                <a:moveTo>
                  <a:pt x="0" y="0"/>
                </a:moveTo>
                <a:lnTo>
                  <a:pt x="1625600" y="0"/>
                </a:lnTo>
                <a:lnTo>
                  <a:pt x="16256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8" name="Text 15"/>
          <p:cNvSpPr/>
          <p:nvPr/>
        </p:nvSpPr>
        <p:spPr>
          <a:xfrm>
            <a:off x="5283200" y="3088005"/>
            <a:ext cx="1630680" cy="1147445"/>
          </a:xfrm>
          <a:prstGeom prst="rect">
            <a:avLst/>
          </a:prstGeom>
          <a:noFill/>
        </p:spPr>
        <p:txBody>
          <a:bodyPr wrap="square" lIns="101600" tIns="0" rIns="10160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信令与控制分离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209550" y="4853305"/>
            <a:ext cx="11772900" cy="1572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浏览器通过HTTP获取元文件，启动播放器，后者通过RTSP与流媒体服务器建立</a:t>
            </a:r>
            <a:r>
              <a:rPr lang="en-US" sz="2400" dirty="0">
                <a:solidFill>
                  <a:srgbClr val="333333"/>
                </a:solidFill>
                <a:highlight>
                  <a:srgbClr val="ADD8E6">
                    <a:alpha val="6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控制连接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，而媒体数据则通过</a:t>
            </a:r>
            <a:r>
              <a:rPr lang="en-US" sz="2400" dirty="0">
                <a:solidFill>
                  <a:srgbClr val="333333"/>
                </a:solidFill>
                <a:highlight>
                  <a:srgbClr val="ADD8E6">
                    <a:alpha val="6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RTP/UDP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并行传输。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9" grpId="0"/>
      <p:bldP spid="19" grpId="1"/>
      <p:bldP spid="18" grpId="0"/>
      <p:bldP spid="1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实时交互协议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4000" y="309880"/>
            <a:ext cx="5727700" cy="1214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RTP：在UDP上建立秩序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54000" y="1727200"/>
            <a:ext cx="5638800" cy="1597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RTP为实时数据提供端到端传输服务，运行在UDP之上。它本身不保证可靠交付，而是通过添加关键信息，让接收端处理乱序和抖动。</a:t>
            </a:r>
            <a:endParaRPr lang="en-US" sz="24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254000" y="3535045"/>
            <a:ext cx="5721985" cy="839924"/>
          </a:xfrm>
          <a:custGeom>
            <a:avLst/>
            <a:gdLst/>
            <a:ahLst/>
            <a:cxnLst/>
            <a:rect l="l" t="t" r="r" b="b"/>
            <a:pathLst>
              <a:path w="5537200" h="812800">
                <a:moveTo>
                  <a:pt x="101600" y="0"/>
                </a:moveTo>
                <a:lnTo>
                  <a:pt x="5435600" y="0"/>
                </a:lnTo>
                <a:cubicBezTo>
                  <a:pt x="5491675" y="0"/>
                  <a:pt x="5537200" y="45525"/>
                  <a:pt x="5537200" y="101600"/>
                </a:cubicBezTo>
                <a:lnTo>
                  <a:pt x="5537200" y="711200"/>
                </a:lnTo>
                <a:cubicBezTo>
                  <a:pt x="5537200" y="767275"/>
                  <a:pt x="5491675" y="812800"/>
                  <a:pt x="5435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6" name="Shape 3"/>
          <p:cNvSpPr/>
          <p:nvPr>
            <p:custDataLst>
              <p:tags r:id="rId3"/>
            </p:custDataLst>
          </p:nvPr>
        </p:nvSpPr>
        <p:spPr>
          <a:xfrm>
            <a:off x="411486" y="3692531"/>
            <a:ext cx="524953" cy="524953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6200" y="0"/>
                </a:moveTo>
                <a:lnTo>
                  <a:pt x="431800" y="0"/>
                </a:lnTo>
                <a:cubicBezTo>
                  <a:pt x="473856" y="0"/>
                  <a:pt x="508000" y="34144"/>
                  <a:pt x="508000" y="76200"/>
                </a:cubicBezTo>
                <a:lnTo>
                  <a:pt x="508000" y="431800"/>
                </a:lnTo>
                <a:cubicBezTo>
                  <a:pt x="508000" y="473856"/>
                  <a:pt x="473856" y="508000"/>
                  <a:pt x="431800" y="508000"/>
                </a:cubicBezTo>
                <a:lnTo>
                  <a:pt x="76200" y="508000"/>
                </a:lnTo>
                <a:cubicBezTo>
                  <a:pt x="34144" y="508000"/>
                  <a:pt x="0" y="473856"/>
                  <a:pt x="0" y="431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7" name="Shape 4"/>
          <p:cNvSpPr/>
          <p:nvPr>
            <p:custDataLst>
              <p:tags r:id="rId4"/>
            </p:custDataLst>
          </p:nvPr>
        </p:nvSpPr>
        <p:spPr>
          <a:xfrm>
            <a:off x="509914" y="3823769"/>
            <a:ext cx="328095" cy="262476"/>
          </a:xfrm>
          <a:custGeom>
            <a:avLst/>
            <a:gdLst/>
            <a:ahLst/>
            <a:cxnLst/>
            <a:rect l="l" t="t" r="r" b="b"/>
            <a:pathLst>
              <a:path w="317500" h="254000"/>
            </a:pathLst>
          </a:custGeom>
          <a:solidFill>
            <a:srgbClr val="FFFFFF"/>
          </a:solidFill>
        </p:spPr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1146175" y="3797300"/>
            <a:ext cx="4124960" cy="314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序号：供接收端按序播放。</a:t>
            </a:r>
            <a:endParaRPr lang="en-US" sz="2000" dirty="0"/>
          </a:p>
        </p:txBody>
      </p:sp>
      <p:sp>
        <p:nvSpPr>
          <p:cNvPr id="9" name="Shape 6"/>
          <p:cNvSpPr/>
          <p:nvPr>
            <p:custDataLst>
              <p:tags r:id="rId6"/>
            </p:custDataLst>
          </p:nvPr>
        </p:nvSpPr>
        <p:spPr>
          <a:xfrm>
            <a:off x="254000" y="4584951"/>
            <a:ext cx="5721985" cy="839924"/>
          </a:xfrm>
          <a:custGeom>
            <a:avLst/>
            <a:gdLst/>
            <a:ahLst/>
            <a:cxnLst/>
            <a:rect l="l" t="t" r="r" b="b"/>
            <a:pathLst>
              <a:path w="5537200" h="812800">
                <a:moveTo>
                  <a:pt x="101600" y="0"/>
                </a:moveTo>
                <a:lnTo>
                  <a:pt x="5435600" y="0"/>
                </a:lnTo>
                <a:cubicBezTo>
                  <a:pt x="5491675" y="0"/>
                  <a:pt x="5537200" y="45525"/>
                  <a:pt x="5537200" y="101600"/>
                </a:cubicBezTo>
                <a:lnTo>
                  <a:pt x="5537200" y="711200"/>
                </a:lnTo>
                <a:cubicBezTo>
                  <a:pt x="5537200" y="767275"/>
                  <a:pt x="5491675" y="812800"/>
                  <a:pt x="5435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0" name="Shape 7"/>
          <p:cNvSpPr/>
          <p:nvPr>
            <p:custDataLst>
              <p:tags r:id="rId7"/>
            </p:custDataLst>
          </p:nvPr>
        </p:nvSpPr>
        <p:spPr>
          <a:xfrm>
            <a:off x="411486" y="4742436"/>
            <a:ext cx="524953" cy="524953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6200" y="0"/>
                </a:moveTo>
                <a:lnTo>
                  <a:pt x="431800" y="0"/>
                </a:lnTo>
                <a:cubicBezTo>
                  <a:pt x="473856" y="0"/>
                  <a:pt x="508000" y="34144"/>
                  <a:pt x="508000" y="76200"/>
                </a:cubicBezTo>
                <a:lnTo>
                  <a:pt x="508000" y="431800"/>
                </a:lnTo>
                <a:cubicBezTo>
                  <a:pt x="508000" y="473856"/>
                  <a:pt x="473856" y="508000"/>
                  <a:pt x="431800" y="508000"/>
                </a:cubicBezTo>
                <a:lnTo>
                  <a:pt x="76200" y="508000"/>
                </a:lnTo>
                <a:cubicBezTo>
                  <a:pt x="34144" y="508000"/>
                  <a:pt x="0" y="473856"/>
                  <a:pt x="0" y="431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484DF"/>
          </a:solidFill>
        </p:spPr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509914" y="4873675"/>
            <a:ext cx="328095" cy="262476"/>
          </a:xfrm>
          <a:custGeom>
            <a:avLst/>
            <a:gdLst/>
            <a:ahLst/>
            <a:cxnLst/>
            <a:rect l="l" t="t" r="r" b="b"/>
            <a:pathLst>
              <a:path w="317500" h="254000"/>
            </a:pathLst>
          </a:custGeom>
          <a:solidFill>
            <a:srgbClr val="FFFFFF"/>
          </a:solidFill>
        </p:spPr>
      </p:sp>
      <p:sp>
        <p:nvSpPr>
          <p:cNvPr id="12" name="Text 9"/>
          <p:cNvSpPr/>
          <p:nvPr>
            <p:custDataLst>
              <p:tags r:id="rId9"/>
            </p:custDataLst>
          </p:nvPr>
        </p:nvSpPr>
        <p:spPr>
          <a:xfrm>
            <a:off x="1146175" y="4847590"/>
            <a:ext cx="4422775" cy="314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时间戳：处理时延抖动，实现同步。</a:t>
            </a:r>
            <a:endParaRPr lang="en-US" sz="20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3" name="Shape 10"/>
          <p:cNvSpPr/>
          <p:nvPr>
            <p:custDataLst>
              <p:tags r:id="rId10"/>
            </p:custDataLst>
          </p:nvPr>
        </p:nvSpPr>
        <p:spPr>
          <a:xfrm>
            <a:off x="254000" y="5634856"/>
            <a:ext cx="5721985" cy="839924"/>
          </a:xfrm>
          <a:custGeom>
            <a:avLst/>
            <a:gdLst/>
            <a:ahLst/>
            <a:cxnLst/>
            <a:rect l="l" t="t" r="r" b="b"/>
            <a:pathLst>
              <a:path w="5537200" h="812800">
                <a:moveTo>
                  <a:pt x="101600" y="0"/>
                </a:moveTo>
                <a:lnTo>
                  <a:pt x="5435600" y="0"/>
                </a:lnTo>
                <a:cubicBezTo>
                  <a:pt x="5491675" y="0"/>
                  <a:pt x="5537200" y="45525"/>
                  <a:pt x="5537200" y="101600"/>
                </a:cubicBezTo>
                <a:lnTo>
                  <a:pt x="5537200" y="711200"/>
                </a:lnTo>
                <a:cubicBezTo>
                  <a:pt x="5537200" y="767275"/>
                  <a:pt x="5491675" y="812800"/>
                  <a:pt x="5435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4" name="Shape 11"/>
          <p:cNvSpPr/>
          <p:nvPr>
            <p:custDataLst>
              <p:tags r:id="rId11"/>
            </p:custDataLst>
          </p:nvPr>
        </p:nvSpPr>
        <p:spPr>
          <a:xfrm>
            <a:off x="411486" y="5792342"/>
            <a:ext cx="524953" cy="524953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76200" y="0"/>
                </a:moveTo>
                <a:lnTo>
                  <a:pt x="431800" y="0"/>
                </a:lnTo>
                <a:cubicBezTo>
                  <a:pt x="473856" y="0"/>
                  <a:pt x="508000" y="34144"/>
                  <a:pt x="508000" y="76200"/>
                </a:cubicBezTo>
                <a:lnTo>
                  <a:pt x="508000" y="431800"/>
                </a:lnTo>
                <a:cubicBezTo>
                  <a:pt x="508000" y="473856"/>
                  <a:pt x="473856" y="508000"/>
                  <a:pt x="431800" y="508000"/>
                </a:cubicBezTo>
                <a:lnTo>
                  <a:pt x="76200" y="508000"/>
                </a:lnTo>
                <a:cubicBezTo>
                  <a:pt x="34144" y="508000"/>
                  <a:pt x="0" y="473856"/>
                  <a:pt x="0" y="431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15" name="Shape 12"/>
          <p:cNvSpPr/>
          <p:nvPr>
            <p:custDataLst>
              <p:tags r:id="rId12"/>
            </p:custDataLst>
          </p:nvPr>
        </p:nvSpPr>
        <p:spPr>
          <a:xfrm>
            <a:off x="509914" y="5923580"/>
            <a:ext cx="328095" cy="262476"/>
          </a:xfrm>
          <a:custGeom>
            <a:avLst/>
            <a:gdLst/>
            <a:ahLst/>
            <a:cxnLst/>
            <a:rect l="l" t="t" r="r" b="b"/>
            <a:pathLst>
              <a:path w="317500" h="254000"/>
            </a:pathLst>
          </a:custGeom>
          <a:solidFill>
            <a:srgbClr val="FFFFFF"/>
          </a:solidFill>
        </p:spPr>
      </p:sp>
      <p:sp>
        <p:nvSpPr>
          <p:cNvPr id="16" name="Text 13"/>
          <p:cNvSpPr/>
          <p:nvPr>
            <p:custDataLst>
              <p:tags r:id="rId13"/>
            </p:custDataLst>
          </p:nvPr>
        </p:nvSpPr>
        <p:spPr>
          <a:xfrm>
            <a:off x="1146175" y="5897245"/>
            <a:ext cx="4124325" cy="314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负载类型：自解释数据格式。</a:t>
            </a:r>
            <a:endParaRPr lang="en-US" sz="2000" dirty="0"/>
          </a:p>
        </p:txBody>
      </p:sp>
      <p:pic>
        <p:nvPicPr>
          <p:cNvPr id="17" name="图片 16" descr="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00775" y="806450"/>
            <a:ext cx="5636895" cy="5668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8" grpId="0"/>
      <p:bldP spid="8" grpId="1"/>
      <p:bldP spid="12" grpId="0"/>
      <p:bldP spid="12" grpId="1"/>
      <p:bldP spid="16" grpId="0"/>
      <p:bldP spid="16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1965" y="469265"/>
            <a:ext cx="11089640" cy="9531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RTCP：反向报告形成闭环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54635" y="1625600"/>
            <a:ext cx="11680190" cy="939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RTCP与RTP协同工作，定期向所有参与者发送服务质量（QoS）反馈报告，实现无重传的轻量级自适应。</a:t>
            </a:r>
            <a:endParaRPr lang="en-US" sz="24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238250" y="25654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/>
            </a:pathLst>
          </a:custGeom>
          <a:solidFill>
            <a:srgbClr val="4A90E2"/>
          </a:solidFill>
        </p:spPr>
      </p:sp>
      <p:sp>
        <p:nvSpPr>
          <p:cNvPr id="6" name="Text 3"/>
          <p:cNvSpPr/>
          <p:nvPr/>
        </p:nvSpPr>
        <p:spPr>
          <a:xfrm>
            <a:off x="1314450" y="3657600"/>
            <a:ext cx="800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发送方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73710" y="4013200"/>
            <a:ext cx="2684780" cy="3562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发送RTP数据包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175000" y="3073400"/>
            <a:ext cx="5842000" cy="50800"/>
          </a:xfrm>
          <a:custGeom>
            <a:avLst/>
            <a:gdLst/>
            <a:ahLst/>
            <a:cxnLst/>
            <a:rect l="l" t="t" r="r" b="b"/>
            <a:pathLst>
              <a:path w="5842000" h="50800">
                <a:moveTo>
                  <a:pt x="0" y="0"/>
                </a:moveTo>
                <a:lnTo>
                  <a:pt x="5842000" y="0"/>
                </a:lnTo>
                <a:lnTo>
                  <a:pt x="584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/>
          </a:solidFill>
        </p:spPr>
      </p:sp>
      <p:sp>
        <p:nvSpPr>
          <p:cNvPr id="9" name="Shape 6"/>
          <p:cNvSpPr/>
          <p:nvPr/>
        </p:nvSpPr>
        <p:spPr>
          <a:xfrm>
            <a:off x="5803900" y="2926080"/>
            <a:ext cx="584200" cy="342900"/>
          </a:xfrm>
          <a:custGeom>
            <a:avLst/>
            <a:gdLst/>
            <a:ahLst/>
            <a:cxnLst/>
            <a:rect l="l" t="t" r="r" b="b"/>
            <a:pathLst>
              <a:path w="584200" h="342900">
                <a:moveTo>
                  <a:pt x="0" y="0"/>
                </a:moveTo>
                <a:lnTo>
                  <a:pt x="584200" y="0"/>
                </a:lnTo>
                <a:lnTo>
                  <a:pt x="5842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Shape 7"/>
          <p:cNvSpPr/>
          <p:nvPr/>
        </p:nvSpPr>
        <p:spPr>
          <a:xfrm>
            <a:off x="5905500" y="292608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/>
            </a:pathLst>
          </a:custGeom>
          <a:solidFill>
            <a:srgbClr val="7484DF"/>
          </a:solidFill>
        </p:spPr>
      </p:sp>
      <p:sp>
        <p:nvSpPr>
          <p:cNvPr id="11" name="Text 8"/>
          <p:cNvSpPr/>
          <p:nvPr/>
        </p:nvSpPr>
        <p:spPr>
          <a:xfrm>
            <a:off x="4872355" y="3225800"/>
            <a:ext cx="2461895" cy="716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RTP 数据流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10001250" y="25654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/>
            </a:pathLst>
          </a:custGeom>
          <a:solidFill>
            <a:srgbClr val="4A90E2"/>
          </a:solidFill>
        </p:spPr>
      </p:sp>
      <p:sp>
        <p:nvSpPr>
          <p:cNvPr id="13" name="Text 10"/>
          <p:cNvSpPr/>
          <p:nvPr/>
        </p:nvSpPr>
        <p:spPr>
          <a:xfrm>
            <a:off x="10077450" y="3657600"/>
            <a:ext cx="800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接收方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388475" y="4013200"/>
            <a:ext cx="2161540" cy="407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接收并评估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254000" y="4470400"/>
            <a:ext cx="11684000" cy="50800"/>
          </a:xfrm>
          <a:custGeom>
            <a:avLst/>
            <a:gdLst/>
            <a:ahLst/>
            <a:cxnLst/>
            <a:rect l="l" t="t" r="r" b="b"/>
            <a:pathLst>
              <a:path w="11684000" h="50800">
                <a:moveTo>
                  <a:pt x="0" y="0"/>
                </a:moveTo>
                <a:lnTo>
                  <a:pt x="11684000" y="0"/>
                </a:lnTo>
                <a:lnTo>
                  <a:pt x="11684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/>
          </a:solidFill>
        </p:spPr>
      </p:sp>
      <p:sp>
        <p:nvSpPr>
          <p:cNvPr id="16" name="Shape 13"/>
          <p:cNvSpPr/>
          <p:nvPr/>
        </p:nvSpPr>
        <p:spPr>
          <a:xfrm>
            <a:off x="5803900" y="4323080"/>
            <a:ext cx="584200" cy="342900"/>
          </a:xfrm>
          <a:custGeom>
            <a:avLst/>
            <a:gdLst/>
            <a:ahLst/>
            <a:cxnLst/>
            <a:rect l="l" t="t" r="r" b="b"/>
            <a:pathLst>
              <a:path w="584200" h="342900">
                <a:moveTo>
                  <a:pt x="0" y="0"/>
                </a:moveTo>
                <a:lnTo>
                  <a:pt x="584200" y="0"/>
                </a:lnTo>
                <a:lnTo>
                  <a:pt x="5842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Shape 14"/>
          <p:cNvSpPr/>
          <p:nvPr/>
        </p:nvSpPr>
        <p:spPr>
          <a:xfrm>
            <a:off x="5905500" y="432308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/>
            </a:pathLst>
          </a:custGeom>
          <a:solidFill>
            <a:srgbClr val="7484DF"/>
          </a:solidFill>
        </p:spPr>
      </p:sp>
      <p:sp>
        <p:nvSpPr>
          <p:cNvPr id="18" name="Text 15"/>
          <p:cNvSpPr/>
          <p:nvPr/>
        </p:nvSpPr>
        <p:spPr>
          <a:xfrm>
            <a:off x="3892550" y="4622800"/>
            <a:ext cx="5124450" cy="523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RTCP 报告 (丢包率, 抖动, 往返时间)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499745" y="5334000"/>
            <a:ext cx="11424920" cy="1133475"/>
          </a:xfrm>
          <a:custGeom>
            <a:avLst/>
            <a:gdLst/>
            <a:ahLst/>
            <a:cxnLst/>
            <a:rect l="l" t="t" r="r" b="b"/>
            <a:pathLst>
              <a:path w="8496300" h="558800">
                <a:moveTo>
                  <a:pt x="101601" y="0"/>
                </a:moveTo>
                <a:lnTo>
                  <a:pt x="8394699" y="0"/>
                </a:lnTo>
                <a:cubicBezTo>
                  <a:pt x="8450812" y="0"/>
                  <a:pt x="8496300" y="45488"/>
                  <a:pt x="8496300" y="101601"/>
                </a:cubicBezTo>
                <a:lnTo>
                  <a:pt x="8496300" y="457199"/>
                </a:lnTo>
                <a:cubicBezTo>
                  <a:pt x="8496300" y="513312"/>
                  <a:pt x="8450812" y="558800"/>
                  <a:pt x="83946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883920" y="5621020"/>
            <a:ext cx="10665460" cy="558800"/>
          </a:xfrm>
          <a:prstGeom prst="rect">
            <a:avLst/>
          </a:prstGeom>
          <a:noFill/>
        </p:spPr>
        <p:txBody>
          <a:bodyPr wrap="square" lIns="152400" tIns="152400" rIns="152400" bIns="15240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发送方根据RTCP报告动态调整码率或冗余度，实现</a:t>
            </a:r>
            <a:r>
              <a:rPr lang="en-US" sz="2400" dirty="0">
                <a:solidFill>
                  <a:srgbClr val="FFFFFF"/>
                </a:solidFill>
                <a:highlight>
                  <a:srgbClr val="7484DF">
                    <a:alpha val="6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自适应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。报告间隔按会话规模指数退避，避免拥塞。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11" grpId="0"/>
      <p:bldP spid="11" grpId="1"/>
      <p:bldP spid="18" grpId="0"/>
      <p:bldP spid="18" grpId="1"/>
      <p:bldP spid="20" grpId="0"/>
      <p:bldP spid="2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网络层QoS工具箱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697865"/>
            <a:ext cx="11874500" cy="15881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网络层QoS工具箱：调度、整形与预留</a:t>
            </a:r>
            <a:endParaRPr lang="en-US" sz="4800" dirty="0"/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254000" y="2692400"/>
            <a:ext cx="3695700" cy="2336800"/>
          </a:xfrm>
          <a:custGeom>
            <a:avLst/>
            <a:gdLst/>
            <a:ahLst/>
            <a:cxnLst/>
            <a:rect l="l" t="t" r="r" b="b"/>
            <a:pathLst>
              <a:path w="3695700" h="2336800">
                <a:moveTo>
                  <a:pt x="101604" y="0"/>
                </a:moveTo>
                <a:lnTo>
                  <a:pt x="3594096" y="0"/>
                </a:lnTo>
                <a:cubicBezTo>
                  <a:pt x="3650210" y="0"/>
                  <a:pt x="3695700" y="45490"/>
                  <a:pt x="3695700" y="101604"/>
                </a:cubicBezTo>
                <a:lnTo>
                  <a:pt x="3695700" y="2235196"/>
                </a:lnTo>
                <a:cubicBezTo>
                  <a:pt x="3695700" y="2291310"/>
                  <a:pt x="3650210" y="2336800"/>
                  <a:pt x="35940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1718627" y="29972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/>
            </a:pathLst>
          </a:custGeom>
          <a:solidFill>
            <a:srgbClr val="4A90E2"/>
          </a:solidFill>
        </p:spPr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443230" y="3129280"/>
            <a:ext cx="3347085" cy="744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调度机制</a:t>
            </a:r>
            <a:endParaRPr lang="en-US" sz="2400" dirty="0"/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412750" y="3872865"/>
            <a:ext cx="3378200" cy="9531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决定分组排队和转发顺序。如</a:t>
            </a: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优先级队列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让语音优先，</a:t>
            </a: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公平队列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保证带宽公平。</a:t>
            </a:r>
            <a:endParaRPr lang="en-US" dirty="0"/>
          </a:p>
        </p:txBody>
      </p:sp>
      <p:sp>
        <p:nvSpPr>
          <p:cNvPr id="8" name="Shape 5"/>
          <p:cNvSpPr/>
          <p:nvPr>
            <p:custDataLst>
              <p:tags r:id="rId6"/>
            </p:custDataLst>
          </p:nvPr>
        </p:nvSpPr>
        <p:spPr>
          <a:xfrm>
            <a:off x="4250214" y="2692400"/>
            <a:ext cx="3695700" cy="2336800"/>
          </a:xfrm>
          <a:custGeom>
            <a:avLst/>
            <a:gdLst/>
            <a:ahLst/>
            <a:cxnLst/>
            <a:rect l="l" t="t" r="r" b="b"/>
            <a:pathLst>
              <a:path w="3695700" h="2336800">
                <a:moveTo>
                  <a:pt x="101604" y="0"/>
                </a:moveTo>
                <a:lnTo>
                  <a:pt x="3594096" y="0"/>
                </a:lnTo>
                <a:cubicBezTo>
                  <a:pt x="3650210" y="0"/>
                  <a:pt x="3695700" y="45490"/>
                  <a:pt x="3695700" y="101604"/>
                </a:cubicBezTo>
                <a:lnTo>
                  <a:pt x="3695700" y="2235196"/>
                </a:lnTo>
                <a:cubicBezTo>
                  <a:pt x="3695700" y="2291310"/>
                  <a:pt x="3650210" y="2336800"/>
                  <a:pt x="35940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5714841" y="29972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/>
            </a:pathLst>
          </a:custGeom>
          <a:solidFill>
            <a:srgbClr val="7484DF"/>
          </a:solidFill>
        </p:spPr>
      </p:sp>
      <p:sp>
        <p:nvSpPr>
          <p:cNvPr id="10" name="Text 7"/>
          <p:cNvSpPr/>
          <p:nvPr>
            <p:custDataLst>
              <p:tags r:id="rId8"/>
            </p:custDataLst>
          </p:nvPr>
        </p:nvSpPr>
        <p:spPr>
          <a:xfrm>
            <a:off x="4464685" y="3100070"/>
            <a:ext cx="3128645" cy="798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流量整形</a:t>
            </a:r>
            <a:endParaRPr lang="en-US" sz="24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1" name="Text 8"/>
          <p:cNvSpPr/>
          <p:nvPr>
            <p:custDataLst>
              <p:tags r:id="rId9"/>
            </p:custDataLst>
          </p:nvPr>
        </p:nvSpPr>
        <p:spPr>
          <a:xfrm>
            <a:off x="4408805" y="3945890"/>
            <a:ext cx="3378200" cy="880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平滑流量输出速率，使其符合承诺。常用</a:t>
            </a: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令牌桶算法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控制发送速率。</a:t>
            </a:r>
            <a:endParaRPr lang="en-US" dirty="0"/>
          </a:p>
        </p:txBody>
      </p:sp>
      <p:sp>
        <p:nvSpPr>
          <p:cNvPr id="12" name="Shape 9"/>
          <p:cNvSpPr/>
          <p:nvPr>
            <p:custDataLst>
              <p:tags r:id="rId10"/>
            </p:custDataLst>
          </p:nvPr>
        </p:nvSpPr>
        <p:spPr>
          <a:xfrm>
            <a:off x="8246428" y="2692400"/>
            <a:ext cx="3695700" cy="2336800"/>
          </a:xfrm>
          <a:custGeom>
            <a:avLst/>
            <a:gdLst/>
            <a:ahLst/>
            <a:cxnLst/>
            <a:rect l="l" t="t" r="r" b="b"/>
            <a:pathLst>
              <a:path w="3695700" h="2336800">
                <a:moveTo>
                  <a:pt x="101604" y="0"/>
                </a:moveTo>
                <a:lnTo>
                  <a:pt x="3594096" y="0"/>
                </a:lnTo>
                <a:cubicBezTo>
                  <a:pt x="3650210" y="0"/>
                  <a:pt x="3695700" y="45490"/>
                  <a:pt x="3695700" y="101604"/>
                </a:cubicBezTo>
                <a:lnTo>
                  <a:pt x="3695700" y="2235196"/>
                </a:lnTo>
                <a:cubicBezTo>
                  <a:pt x="3695700" y="2291310"/>
                  <a:pt x="3650210" y="2336800"/>
                  <a:pt x="3594096" y="2336800"/>
                </a:cubicBezTo>
                <a:lnTo>
                  <a:pt x="101604" y="2336800"/>
                </a:lnTo>
                <a:cubicBezTo>
                  <a:pt x="45490" y="2336800"/>
                  <a:pt x="0" y="2291310"/>
                  <a:pt x="0" y="22351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0"/>
          <p:cNvSpPr/>
          <p:nvPr>
            <p:custDataLst>
              <p:tags r:id="rId11"/>
            </p:custDataLst>
          </p:nvPr>
        </p:nvSpPr>
        <p:spPr>
          <a:xfrm>
            <a:off x="9711055" y="29972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/>
            </a:pathLst>
          </a:custGeom>
          <a:solidFill>
            <a:srgbClr val="4A90E2"/>
          </a:solidFill>
        </p:spPr>
      </p:sp>
      <p:sp>
        <p:nvSpPr>
          <p:cNvPr id="14" name="Text 11"/>
          <p:cNvSpPr/>
          <p:nvPr>
            <p:custDataLst>
              <p:tags r:id="rId12"/>
            </p:custDataLst>
          </p:nvPr>
        </p:nvSpPr>
        <p:spPr>
          <a:xfrm>
            <a:off x="8404860" y="3129280"/>
            <a:ext cx="3262630" cy="769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资源预留</a:t>
            </a:r>
            <a:endParaRPr lang="en-US" sz="2400" dirty="0"/>
          </a:p>
        </p:txBody>
      </p:sp>
      <p:sp>
        <p:nvSpPr>
          <p:cNvPr id="15" name="Text 12"/>
          <p:cNvSpPr/>
          <p:nvPr>
            <p:custDataLst>
              <p:tags r:id="rId13"/>
            </p:custDataLst>
          </p:nvPr>
        </p:nvSpPr>
        <p:spPr>
          <a:xfrm>
            <a:off x="8405495" y="3872865"/>
            <a:ext cx="3378200" cy="9531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</a:t>
            </a: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RSVP协议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预先在路径上的路由器中保留所需带宽等资源，提供硬管道保障。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6" grpId="0"/>
      <p:bldP spid="6" grpId="1"/>
      <p:bldP spid="7" grpId="0"/>
      <p:bldP spid="7" grpId="1"/>
      <p:bldP spid="10" grpId="0"/>
      <p:bldP spid="10" grpId="1"/>
      <p:bldP spid="11" grpId="0"/>
      <p:bldP spid="11" grpId="1"/>
      <p:bldP spid="14" grpId="0"/>
      <p:bldP spid="14" grpId="1"/>
      <p:bldP spid="15" grpId="0"/>
      <p:bldP spid="1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614680"/>
            <a:ext cx="11874500" cy="1214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DiffServ：可扩展的服务分级模型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1333500" y="23368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/>
            </a:pathLst>
          </a:custGeom>
          <a:solidFill>
            <a:srgbClr val="4A90E2"/>
          </a:solidFill>
        </p:spPr>
      </p:sp>
      <p:sp>
        <p:nvSpPr>
          <p:cNvPr id="5" name="Text 2"/>
          <p:cNvSpPr/>
          <p:nvPr/>
        </p:nvSpPr>
        <p:spPr>
          <a:xfrm>
            <a:off x="821690" y="3251200"/>
            <a:ext cx="185610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边缘路由器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93115" y="3556000"/>
            <a:ext cx="1920240" cy="4578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分类与标记</a:t>
            </a:r>
            <a:endParaRPr lang="en-US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175000" y="2743200"/>
            <a:ext cx="5842000" cy="50800"/>
          </a:xfrm>
          <a:custGeom>
            <a:avLst/>
            <a:gdLst/>
            <a:ahLst/>
            <a:cxnLst/>
            <a:rect l="l" t="t" r="r" b="b"/>
            <a:pathLst>
              <a:path w="5842000" h="50800">
                <a:moveTo>
                  <a:pt x="0" y="0"/>
                </a:moveTo>
                <a:lnTo>
                  <a:pt x="5842000" y="0"/>
                </a:lnTo>
                <a:lnTo>
                  <a:pt x="5842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ADD8E6"/>
          </a:solidFill>
        </p:spPr>
      </p:sp>
      <p:sp>
        <p:nvSpPr>
          <p:cNvPr id="8" name="Shape 5"/>
          <p:cNvSpPr/>
          <p:nvPr/>
        </p:nvSpPr>
        <p:spPr>
          <a:xfrm>
            <a:off x="5803900" y="2595880"/>
            <a:ext cx="584200" cy="342900"/>
          </a:xfrm>
          <a:custGeom>
            <a:avLst/>
            <a:gdLst/>
            <a:ahLst/>
            <a:cxnLst/>
            <a:rect l="l" t="t" r="r" b="b"/>
            <a:pathLst>
              <a:path w="584200" h="342900">
                <a:moveTo>
                  <a:pt x="0" y="0"/>
                </a:moveTo>
                <a:lnTo>
                  <a:pt x="584200" y="0"/>
                </a:lnTo>
                <a:lnTo>
                  <a:pt x="5842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Shape 6"/>
          <p:cNvSpPr/>
          <p:nvPr/>
        </p:nvSpPr>
        <p:spPr>
          <a:xfrm>
            <a:off x="5905500" y="259588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/>
            </a:pathLst>
          </a:custGeom>
          <a:solidFill>
            <a:srgbClr val="7484DF"/>
          </a:solidFill>
        </p:spPr>
      </p:sp>
      <p:sp>
        <p:nvSpPr>
          <p:cNvPr id="10" name="Text 7"/>
          <p:cNvSpPr/>
          <p:nvPr/>
        </p:nvSpPr>
        <p:spPr>
          <a:xfrm>
            <a:off x="5184775" y="2895600"/>
            <a:ext cx="1828800" cy="871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标记分组 (DS字段)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0096500" y="23368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/>
            </a:pathLst>
          </a:custGeom>
          <a:solidFill>
            <a:srgbClr val="4A90E2"/>
          </a:solidFill>
        </p:spPr>
      </p:sp>
      <p:sp>
        <p:nvSpPr>
          <p:cNvPr id="12" name="Text 9"/>
          <p:cNvSpPr/>
          <p:nvPr/>
        </p:nvSpPr>
        <p:spPr>
          <a:xfrm>
            <a:off x="9653270" y="3251200"/>
            <a:ext cx="17875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核心路由器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653905" y="3556000"/>
            <a:ext cx="1787525" cy="424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提供每跳行为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254000" y="4216400"/>
            <a:ext cx="3759200" cy="965835"/>
          </a:xfrm>
          <a:custGeom>
            <a:avLst/>
            <a:gdLst/>
            <a:ahLst/>
            <a:cxnLst/>
            <a:rect l="l" t="t" r="r" b="b"/>
            <a:pathLst>
              <a:path w="3759200" h="812800">
                <a:moveTo>
                  <a:pt x="101600" y="0"/>
                </a:moveTo>
                <a:lnTo>
                  <a:pt x="3657600" y="0"/>
                </a:lnTo>
                <a:cubicBezTo>
                  <a:pt x="3713675" y="0"/>
                  <a:pt x="3759200" y="45525"/>
                  <a:pt x="3759200" y="101600"/>
                </a:cubicBezTo>
                <a:lnTo>
                  <a:pt x="3759200" y="711200"/>
                </a:lnTo>
                <a:cubicBezTo>
                  <a:pt x="3759200" y="767275"/>
                  <a:pt x="3713675" y="812800"/>
                  <a:pt x="3657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DD8E6">
              <a:alpha val="40000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355600" y="4368800"/>
            <a:ext cx="355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金牌服务 (EF)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368300" y="4673600"/>
            <a:ext cx="3530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低延迟、低抖动、低丢包率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216400" y="4216400"/>
            <a:ext cx="3759200" cy="962025"/>
          </a:xfrm>
          <a:custGeom>
            <a:avLst/>
            <a:gdLst/>
            <a:ahLst/>
            <a:cxnLst/>
            <a:rect l="l" t="t" r="r" b="b"/>
            <a:pathLst>
              <a:path w="3759200" h="812800">
                <a:moveTo>
                  <a:pt x="101600" y="0"/>
                </a:moveTo>
                <a:lnTo>
                  <a:pt x="3657600" y="0"/>
                </a:lnTo>
                <a:cubicBezTo>
                  <a:pt x="3713675" y="0"/>
                  <a:pt x="3759200" y="45525"/>
                  <a:pt x="3759200" y="101600"/>
                </a:cubicBezTo>
                <a:lnTo>
                  <a:pt x="3759200" y="711200"/>
                </a:lnTo>
                <a:cubicBezTo>
                  <a:pt x="3759200" y="767275"/>
                  <a:pt x="3713675" y="812800"/>
                  <a:pt x="3657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DD8E6">
              <a:alpha val="40000"/>
            </a:srgbClr>
          </a:solidFill>
        </p:spPr>
      </p:sp>
      <p:sp>
        <p:nvSpPr>
          <p:cNvPr id="18" name="Text 15"/>
          <p:cNvSpPr/>
          <p:nvPr/>
        </p:nvSpPr>
        <p:spPr>
          <a:xfrm>
            <a:off x="4318000" y="4368800"/>
            <a:ext cx="355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银牌服务 (AF)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330700" y="4673600"/>
            <a:ext cx="3530600" cy="496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保证一定的吞吐量</a:t>
            </a: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8178800" y="4216400"/>
            <a:ext cx="3759200" cy="962660"/>
          </a:xfrm>
          <a:custGeom>
            <a:avLst/>
            <a:gdLst/>
            <a:ahLst/>
            <a:cxnLst/>
            <a:rect l="l" t="t" r="r" b="b"/>
            <a:pathLst>
              <a:path w="3759200" h="812800">
                <a:moveTo>
                  <a:pt x="101600" y="0"/>
                </a:moveTo>
                <a:lnTo>
                  <a:pt x="3657600" y="0"/>
                </a:lnTo>
                <a:cubicBezTo>
                  <a:pt x="3713675" y="0"/>
                  <a:pt x="3759200" y="45525"/>
                  <a:pt x="3759200" y="101600"/>
                </a:cubicBezTo>
                <a:lnTo>
                  <a:pt x="3759200" y="711200"/>
                </a:lnTo>
                <a:cubicBezTo>
                  <a:pt x="3759200" y="767275"/>
                  <a:pt x="3713675" y="812800"/>
                  <a:pt x="3657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DD8E6">
              <a:alpha val="40000"/>
            </a:srgbClr>
          </a:solidFill>
        </p:spPr>
      </p:sp>
      <p:sp>
        <p:nvSpPr>
          <p:cNvPr id="21" name="Text 18"/>
          <p:cNvSpPr/>
          <p:nvPr/>
        </p:nvSpPr>
        <p:spPr>
          <a:xfrm>
            <a:off x="8280400" y="4368800"/>
            <a:ext cx="3556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铜牌服务 (BE)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8293100" y="4673600"/>
            <a:ext cx="3530600" cy="455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尽力而为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09550" y="5232400"/>
            <a:ext cx="11772900" cy="1141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DiffServ将复杂流状态推向边缘，核心路由器根据</a:t>
            </a:r>
            <a:r>
              <a:rPr lang="en-US" sz="2400" dirty="0">
                <a:solidFill>
                  <a:srgbClr val="333333"/>
                </a:solidFill>
                <a:highlight>
                  <a:srgbClr val="ADD8E6">
                    <a:alpha val="6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DS字段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提供不同等级的每跳行为，实现可扩展的QoS。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3" grpId="0"/>
      <p:bldP spid="3" grpId="1"/>
      <p:bldP spid="10" grpId="0"/>
      <p:bldP spid="10" grpId="1"/>
      <p:bldP spid="15" grpId="0"/>
      <p:bldP spid="15" grpId="1"/>
      <p:bldP spid="16" grpId="0"/>
      <p:bldP spid="16" grpId="1"/>
      <p:bldP spid="18" grpId="0"/>
      <p:bldP spid="18" grpId="1"/>
      <p:bldP spid="19" grpId="0"/>
      <p:bldP spid="19" grpId="1"/>
      <p:bldP spid="21" grpId="0"/>
      <p:bldP spid="21" grpId="1"/>
      <p:bldP spid="22" grpId="0"/>
      <p:bldP spid="22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全景回顾与展望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681355"/>
            <a:ext cx="11874500" cy="142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协议矩阵：技术服务于需求</a:t>
            </a:r>
            <a:endParaRPr lang="en-US" sz="4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254000" y="2413000"/>
          <a:ext cx="11684001" cy="2794000"/>
        </p:xfrm>
        <a:graphic>
          <a:graphicData uri="http://schemas.openxmlformats.org/drawingml/2006/table">
            <a:tbl>
              <a:tblPr/>
              <a:tblGrid>
                <a:gridCol w="1788756"/>
                <a:gridCol w="2752908"/>
                <a:gridCol w="3539453"/>
                <a:gridCol w="3602884"/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服务类型</a:t>
                      </a:r>
                      <a:endParaRPr lang="en-US" sz="2400" b="1" dirty="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典型应用</a:t>
                      </a:r>
                      <a:endParaRPr lang="en-US" sz="2400" b="1" dirty="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关键协议/技术</a:t>
                      </a:r>
                      <a:endParaRPr lang="en-US" sz="2400" b="1" dirty="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solidFill>
                            <a:schemeClr val="tx1"/>
                          </a:solidFill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核心要求</a:t>
                      </a:r>
                      <a:endParaRPr lang="en-US" sz="2400" b="1" dirty="0">
                        <a:solidFill>
                          <a:schemeClr val="tx1"/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4A90E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流式存储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视频点播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HTTP, RTSP (控制)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启动延迟小，播放流畅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30000"/>
                      </a:srgbClr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4A90E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流式直播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电视直播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RTP/RTCP, 组播技术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低延迟，高并发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20000"/>
                      </a:srgbClr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4A90E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实时交互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视频会议，VoIP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RTP/RTCP (核心)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极低端到端延迟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30000"/>
                      </a:srgbClr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2000" b="1" u="none" dirty="0">
                          <a:solidFill>
                            <a:srgbClr val="4A90E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QoS保障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所有实时服务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调度、整形、DiffServ</a:t>
                      </a:r>
                      <a:endParaRPr lang="en-US" sz="2000" u="none" dirty="0">
                        <a:solidFill>
                          <a:srgbClr val="33333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10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管理带宽、时延、抖动</a:t>
                      </a:r>
                      <a:endParaRPr 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DD8E6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02400" y="274320"/>
            <a:ext cx="5626100" cy="1931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从流媒体到元宇宙网络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502400" y="2139950"/>
            <a:ext cx="5537200" cy="1162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流媒体技术解决了“能放”和“流畅”的问题，而XR、云游戏、数字孪生正将延迟需求推向</a:t>
            </a:r>
            <a:r>
              <a:rPr lang="en-US" sz="2400" dirty="0">
                <a:solidFill>
                  <a:srgbClr val="333333"/>
                </a:solidFill>
                <a:highlight>
                  <a:srgbClr val="ADD8E6">
                    <a:alpha val="6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亚毫秒级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527800" y="4195445"/>
            <a:ext cx="50800" cy="1219200"/>
          </a:xfrm>
          <a:custGeom>
            <a:avLst/>
            <a:gdLst/>
            <a:ahLst/>
            <a:cxnLst/>
            <a:rect l="l" t="t" r="r" b="b"/>
            <a:pathLst>
              <a:path w="50800" h="1219200">
                <a:moveTo>
                  <a:pt x="0" y="0"/>
                </a:moveTo>
                <a:lnTo>
                  <a:pt x="50800" y="0"/>
                </a:lnTo>
                <a:lnTo>
                  <a:pt x="508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7484DF"/>
          </a:solidFill>
        </p:spPr>
      </p:sp>
      <p:sp>
        <p:nvSpPr>
          <p:cNvPr id="6" name="Text 3"/>
          <p:cNvSpPr/>
          <p:nvPr/>
        </p:nvSpPr>
        <p:spPr>
          <a:xfrm>
            <a:off x="6756400" y="3677920"/>
            <a:ext cx="5295900" cy="629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未来趋势：确定性时延与算网融合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756400" y="4307205"/>
            <a:ext cx="5270500" cy="1350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网络将从“分级QoS”走向“确定性时延”，并借助AI实现自配置、自修复、自优化，为终极的实时交互体验——元宇宙——奠定基石。</a:t>
            </a:r>
            <a:endParaRPr lang="en-US" dirty="0"/>
          </a:p>
        </p:txBody>
      </p:sp>
      <p:pic>
        <p:nvPicPr>
          <p:cNvPr id="8" name="图片 7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883285"/>
            <a:ext cx="5998845" cy="5121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6" grpId="0"/>
      <p:bldP spid="6" grpId="1"/>
      <p:bldP spid="7" grpId="0"/>
      <p:bldP spid="7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23-d2tarqtnfo2stf9djkm0.jpg"/>
          <p:cNvPicPr>
            <a:picLocks noChangeAspect="1"/>
          </p:cNvPicPr>
          <p:nvPr/>
        </p:nvPicPr>
        <p:blipFill>
          <a:blip r:embed="rId1"/>
          <a:srcRect t="104" b="104"/>
          <a:stretch>
            <a:fillRect/>
          </a:stretch>
        </p:blipFill>
        <p:spPr>
          <a:xfrm flipH="1"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7380" y="2440940"/>
            <a:ext cx="752729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941909" y="845595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1909" y="942569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41909" y="1039543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pic>
        <p:nvPicPr>
          <p:cNvPr id="7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527665" y="365125"/>
            <a:ext cx="262890" cy="11703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56615" y="5796915"/>
            <a:ext cx="363283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 5"/>
          <p:cNvSpPr/>
          <p:nvPr/>
        </p:nvSpPr>
        <p:spPr>
          <a:xfrm>
            <a:off x="856615" y="5604510"/>
            <a:ext cx="6868795" cy="52387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甘芝清</a:t>
            </a:r>
            <a:r>
              <a:rPr lang="en-US" altLang="zh-CN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黄慧雯</a:t>
            </a:r>
            <a:r>
              <a:rPr lang="en-US" altLang="zh-CN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林银蕊</a:t>
            </a:r>
            <a:endParaRPr lang="en-US" sz="2400" b="1" dirty="0"/>
          </a:p>
        </p:txBody>
      </p:sp>
      <p:sp>
        <p:nvSpPr>
          <p:cNvPr id="10" name="Text 6"/>
          <p:cNvSpPr/>
          <p:nvPr/>
        </p:nvSpPr>
        <p:spPr>
          <a:xfrm>
            <a:off x="6933565" y="581977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汇报日期：2025/12/28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513887" y="5982681"/>
            <a:ext cx="6486525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8"/>
          <p:cNvSpPr/>
          <p:nvPr/>
        </p:nvSpPr>
        <p:spPr>
          <a:xfrm>
            <a:off x="732155" y="3269615"/>
            <a:ext cx="589280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3" name="Text 9"/>
          <p:cNvSpPr/>
          <p:nvPr/>
        </p:nvSpPr>
        <p:spPr>
          <a:xfrm>
            <a:off x="732155" y="3269615"/>
            <a:ext cx="589280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32155" y="2532380"/>
            <a:ext cx="6677660" cy="70929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5" name="Text 11"/>
          <p:cNvSpPr/>
          <p:nvPr/>
        </p:nvSpPr>
        <p:spPr>
          <a:xfrm>
            <a:off x="732155" y="2532380"/>
            <a:ext cx="6677660" cy="70929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READING！</a:t>
            </a:r>
            <a:endParaRPr lang="en-US" sz="1600" dirty="0"/>
          </a:p>
        </p:txBody>
      </p:sp>
      <p:pic>
        <p:nvPicPr>
          <p:cNvPr id="16" name="Image 2" descr="https://kimi-img.moonshot.cn/pub/slides/slides_tmpl/image/25-09-05-17:31:23-d2tarqtnfo2stf9djk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805" y="1319530"/>
            <a:ext cx="3823335" cy="42278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3" grpId="0"/>
      <p:bldP spid="13" grpId="1"/>
    </p:bldLst>
  </p:timing>
</p:sld>
</file>

<file path=ppt/tags/tag1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2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3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4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5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6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7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8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9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10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11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12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13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14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15.xml><?xml version="1.0" encoding="utf-8"?>
<p:tagLst xmlns:p="http://schemas.openxmlformats.org/presentationml/2006/main">
  <p:tag name="KSO_WM_DIAGRAM_VIRTUALLY_FRAME" val="{&quot;height&quot;:311.25,&quot;left&quot;:359.9,&quot;top&quot;:129.2,&quot;width&quot;:583.35}"/>
</p:tagLst>
</file>

<file path=ppt/tags/tag16.xml><?xml version="1.0" encoding="utf-8"?>
<p:tagLst xmlns:p="http://schemas.openxmlformats.org/presentationml/2006/main">
  <p:tag name="KSO_WM_DIAGRAM_VIRTUALLY_FRAME" val="{&quot;height&quot;:265.05,&quot;left&quot;:388,&quot;top&quot;:145.7,&quot;width&quot;:552.05}"/>
</p:tagLst>
</file>

<file path=ppt/tags/tag17.xml><?xml version="1.0" encoding="utf-8"?>
<p:tagLst xmlns:p="http://schemas.openxmlformats.org/presentationml/2006/main">
  <p:tag name="KSO_WM_DIAGRAM_VIRTUALLY_FRAME" val="{&quot;height&quot;:265.05,&quot;left&quot;:388,&quot;top&quot;:145.7,&quot;width&quot;:552.05}"/>
</p:tagLst>
</file>

<file path=ppt/tags/tag18.xml><?xml version="1.0" encoding="utf-8"?>
<p:tagLst xmlns:p="http://schemas.openxmlformats.org/presentationml/2006/main">
  <p:tag name="KSO_WM_DIAGRAM_VIRTUALLY_FRAME" val="{&quot;height&quot;:265.05,&quot;left&quot;:388,&quot;top&quot;:145.7,&quot;width&quot;:552.05}"/>
</p:tagLst>
</file>

<file path=ppt/tags/tag19.xml><?xml version="1.0" encoding="utf-8"?>
<p:tagLst xmlns:p="http://schemas.openxmlformats.org/presentationml/2006/main">
  <p:tag name="KSO_WM_DIAGRAM_VIRTUALLY_FRAME" val="{&quot;height&quot;:265.05,&quot;left&quot;:388,&quot;top&quot;:145.7,&quot;width&quot;:552.05}"/>
</p:tagLst>
</file>

<file path=ppt/tags/tag20.xml><?xml version="1.0" encoding="utf-8"?>
<p:tagLst xmlns:p="http://schemas.openxmlformats.org/presentationml/2006/main">
  <p:tag name="KSO_WM_DIAGRAM_VIRTUALLY_FRAME" val="{&quot;height&quot;:265.05,&quot;left&quot;:388,&quot;top&quot;:145.7,&quot;width&quot;:552.05}"/>
</p:tagLst>
</file>

<file path=ppt/tags/tag21.xml><?xml version="1.0" encoding="utf-8"?>
<p:tagLst xmlns:p="http://schemas.openxmlformats.org/presentationml/2006/main">
  <p:tag name="KSO_WM_DIAGRAM_VIRTUALLY_FRAME" val="{&quot;height&quot;:265.05,&quot;left&quot;:388,&quot;top&quot;:145.7,&quot;width&quot;:552.05}"/>
</p:tagLst>
</file>

<file path=ppt/tags/tag22.xml><?xml version="1.0" encoding="utf-8"?>
<p:tagLst xmlns:p="http://schemas.openxmlformats.org/presentationml/2006/main">
  <p:tag name="KSO_WM_DIAGRAM_VIRTUALLY_FRAME" val="{&quot;height&quot;:265.05,&quot;left&quot;:388,&quot;top&quot;:145.7,&quot;width&quot;:552.05}"/>
</p:tagLst>
</file>

<file path=ppt/tags/tag23.xml><?xml version="1.0" encoding="utf-8"?>
<p:tagLst xmlns:p="http://schemas.openxmlformats.org/presentationml/2006/main">
  <p:tag name="KSO_WM_DIAGRAM_VIRTUALLY_FRAME" val="{&quot;height&quot;:265.05,&quot;left&quot;:388,&quot;top&quot;:145.7,&quot;width&quot;:552.05}"/>
</p:tagLst>
</file>

<file path=ppt/tags/tag24.xml><?xml version="1.0" encoding="utf-8"?>
<p:tagLst xmlns:p="http://schemas.openxmlformats.org/presentationml/2006/main">
  <p:tag name="KSO_WM_DIAGRAM_VIRTUALLY_FRAME" val="{&quot;height&quot;:265.05,&quot;left&quot;:388,&quot;top&quot;:145.7,&quot;width&quot;:552.05}"/>
</p:tagLst>
</file>

<file path=ppt/tags/tag25.xml><?xml version="1.0" encoding="utf-8"?>
<p:tagLst xmlns:p="http://schemas.openxmlformats.org/presentationml/2006/main">
  <p:tag name="KSO_WM_DIAGRAM_VIRTUALLY_FRAME" val="{&quot;height&quot;:265.05,&quot;left&quot;:388,&quot;top&quot;:145.7,&quot;width&quot;:552.05}"/>
</p:tagLst>
</file>

<file path=ppt/tags/tag26.xml><?xml version="1.0" encoding="utf-8"?>
<p:tagLst xmlns:p="http://schemas.openxmlformats.org/presentationml/2006/main">
  <p:tag name="KSO_WM_DIAGRAM_VIRTUALLY_FRAME" val="{&quot;height&quot;:265.05,&quot;left&quot;:388,&quot;top&quot;:145.7,&quot;width&quot;:552.05}"/>
</p:tagLst>
</file>

<file path=ppt/tags/tag27.xml><?xml version="1.0" encoding="utf-8"?>
<p:tagLst xmlns:p="http://schemas.openxmlformats.org/presentationml/2006/main">
  <p:tag name="KSO_WM_DIAGRAM_VIRTUALLY_FRAME" val="{&quot;height&quot;:265.05,&quot;left&quot;:388,&quot;top&quot;:145.7,&quot;width&quot;:552.05}"/>
</p:tagLst>
</file>

<file path=ppt/tags/tag28.xml><?xml version="1.0" encoding="utf-8"?>
<p:tagLst xmlns:p="http://schemas.openxmlformats.org/presentationml/2006/main">
  <p:tag name="KSO_WM_DIAGRAM_VIRTUALLY_FRAME" val="{&quot;height&quot;:265.05,&quot;left&quot;:388,&quot;top&quot;:145.7,&quot;width&quot;:552.05}"/>
</p:tagLst>
</file>

<file path=ppt/tags/tag29.xml><?xml version="1.0" encoding="utf-8"?>
<p:tagLst xmlns:p="http://schemas.openxmlformats.org/presentationml/2006/main">
  <p:tag name="KSO_WM_DIAGRAM_VIRTUALLY_FRAME" val="{&quot;height&quot;:265.05,&quot;left&quot;:388,&quot;top&quot;:145.7,&quot;width&quot;:552.05}"/>
</p:tagLst>
</file>

<file path=ppt/tags/tag30.xml><?xml version="1.0" encoding="utf-8"?>
<p:tagLst xmlns:p="http://schemas.openxmlformats.org/presentationml/2006/main">
  <p:tag name="KSO_WM_DIAGRAM_VIRTUALLY_FRAME" val="{&quot;height&quot;:265.05,&quot;left&quot;:388,&quot;top&quot;:145.7,&quot;width&quot;:552.05}"/>
</p:tagLst>
</file>

<file path=ppt/tags/tag31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32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33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34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35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36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37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38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39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40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41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42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43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44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45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46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47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48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49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50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51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52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53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54.xml><?xml version="1.0" encoding="utf-8"?>
<p:tagLst xmlns:p="http://schemas.openxmlformats.org/presentationml/2006/main">
  <p:tag name="KSO_WM_DIAGRAM_VIRTUALLY_FRAME" val="{&quot;height&quot;:262,&quot;left&quot;:20,&quot;top&quot;:192,&quot;width&quot;:919.6749606299212}"/>
</p:tagLst>
</file>

<file path=ppt/tags/tag55.xml><?xml version="1.0" encoding="utf-8"?>
<p:tagLst xmlns:p="http://schemas.openxmlformats.org/presentationml/2006/main">
  <p:tag name="KSO_WM_DIAGRAM_VIRTUALLY_FRAME" val="{&quot;height&quot;:241.3,&quot;left&quot;:20,&quot;top&quot;:278.35,&quot;width&quot;:450.55}"/>
</p:tagLst>
</file>

<file path=ppt/tags/tag56.xml><?xml version="1.0" encoding="utf-8"?>
<p:tagLst xmlns:p="http://schemas.openxmlformats.org/presentationml/2006/main">
  <p:tag name="KSO_WM_DIAGRAM_VIRTUALLY_FRAME" val="{&quot;height&quot;:241.3,&quot;left&quot;:20,&quot;top&quot;:278.35,&quot;width&quot;:450.55}"/>
</p:tagLst>
</file>

<file path=ppt/tags/tag57.xml><?xml version="1.0" encoding="utf-8"?>
<p:tagLst xmlns:p="http://schemas.openxmlformats.org/presentationml/2006/main">
  <p:tag name="KSO_WM_DIAGRAM_VIRTUALLY_FRAME" val="{&quot;height&quot;:241.3,&quot;left&quot;:20,&quot;top&quot;:278.35,&quot;width&quot;:450.55}"/>
</p:tagLst>
</file>

<file path=ppt/tags/tag58.xml><?xml version="1.0" encoding="utf-8"?>
<p:tagLst xmlns:p="http://schemas.openxmlformats.org/presentationml/2006/main">
  <p:tag name="KSO_WM_DIAGRAM_VIRTUALLY_FRAME" val="{&quot;height&quot;:241.3,&quot;left&quot;:20,&quot;top&quot;:278.35,&quot;width&quot;:450.55}"/>
</p:tagLst>
</file>

<file path=ppt/tags/tag59.xml><?xml version="1.0" encoding="utf-8"?>
<p:tagLst xmlns:p="http://schemas.openxmlformats.org/presentationml/2006/main">
  <p:tag name="KSO_WM_DIAGRAM_VIRTUALLY_FRAME" val="{&quot;height&quot;:241.3,&quot;left&quot;:20,&quot;top&quot;:278.35,&quot;width&quot;:450.55}"/>
</p:tagLst>
</file>

<file path=ppt/tags/tag60.xml><?xml version="1.0" encoding="utf-8"?>
<p:tagLst xmlns:p="http://schemas.openxmlformats.org/presentationml/2006/main">
  <p:tag name="KSO_WM_DIAGRAM_VIRTUALLY_FRAME" val="{&quot;height&quot;:241.3,&quot;left&quot;:20,&quot;top&quot;:278.35,&quot;width&quot;:450.55}"/>
</p:tagLst>
</file>

<file path=ppt/tags/tag61.xml><?xml version="1.0" encoding="utf-8"?>
<p:tagLst xmlns:p="http://schemas.openxmlformats.org/presentationml/2006/main">
  <p:tag name="KSO_WM_DIAGRAM_VIRTUALLY_FRAME" val="{&quot;height&quot;:241.3,&quot;left&quot;:20,&quot;top&quot;:278.35,&quot;width&quot;:450.55}"/>
</p:tagLst>
</file>

<file path=ppt/tags/tag62.xml><?xml version="1.0" encoding="utf-8"?>
<p:tagLst xmlns:p="http://schemas.openxmlformats.org/presentationml/2006/main">
  <p:tag name="KSO_WM_DIAGRAM_VIRTUALLY_FRAME" val="{&quot;height&quot;:241.3,&quot;left&quot;:20,&quot;top&quot;:278.35,&quot;width&quot;:450.55}"/>
</p:tagLst>
</file>

<file path=ppt/tags/tag63.xml><?xml version="1.0" encoding="utf-8"?>
<p:tagLst xmlns:p="http://schemas.openxmlformats.org/presentationml/2006/main">
  <p:tag name="KSO_WM_DIAGRAM_VIRTUALLY_FRAME" val="{&quot;height&quot;:241.3,&quot;left&quot;:20,&quot;top&quot;:278.35,&quot;width&quot;:450.55}"/>
</p:tagLst>
</file>

<file path=ppt/tags/tag64.xml><?xml version="1.0" encoding="utf-8"?>
<p:tagLst xmlns:p="http://schemas.openxmlformats.org/presentationml/2006/main">
  <p:tag name="KSO_WM_DIAGRAM_VIRTUALLY_FRAME" val="{&quot;height&quot;:241.3,&quot;left&quot;:20,&quot;top&quot;:278.35,&quot;width&quot;:450.55}"/>
</p:tagLst>
</file>

<file path=ppt/tags/tag65.xml><?xml version="1.0" encoding="utf-8"?>
<p:tagLst xmlns:p="http://schemas.openxmlformats.org/presentationml/2006/main">
  <p:tag name="KSO_WM_DIAGRAM_VIRTUALLY_FRAME" val="{&quot;height&quot;:241.3,&quot;left&quot;:20,&quot;top&quot;:278.35,&quot;width&quot;:450.55}"/>
</p:tagLst>
</file>

<file path=ppt/tags/tag66.xml><?xml version="1.0" encoding="utf-8"?>
<p:tagLst xmlns:p="http://schemas.openxmlformats.org/presentationml/2006/main">
  <p:tag name="KSO_WM_DIAGRAM_VIRTUALLY_FRAME" val="{&quot;height&quot;:241.3,&quot;left&quot;:20,&quot;top&quot;:278.35,&quot;width&quot;:450.55}"/>
</p:tagLst>
</file>

<file path=ppt/tags/tag67.xml><?xml version="1.0" encoding="utf-8"?>
<p:tagLst xmlns:p="http://schemas.openxmlformats.org/presentationml/2006/main">
  <p:tag name="KSO_WM_DIAGRAM_VIRTUALLY_FRAME" val="{&quot;height&quot;:184,&quot;left&quot;:20,&quot;top&quot;:212,&quot;width&quot;:920.3250393700788}"/>
</p:tagLst>
</file>

<file path=ppt/tags/tag68.xml><?xml version="1.0" encoding="utf-8"?>
<p:tagLst xmlns:p="http://schemas.openxmlformats.org/presentationml/2006/main">
  <p:tag name="KSO_WM_DIAGRAM_VIRTUALLY_FRAME" val="{&quot;height&quot;:184,&quot;left&quot;:20,&quot;top&quot;:212,&quot;width&quot;:920.3250393700788}"/>
</p:tagLst>
</file>

<file path=ppt/tags/tag69.xml><?xml version="1.0" encoding="utf-8"?>
<p:tagLst xmlns:p="http://schemas.openxmlformats.org/presentationml/2006/main">
  <p:tag name="KSO_WM_DIAGRAM_VIRTUALLY_FRAME" val="{&quot;height&quot;:184,&quot;left&quot;:20,&quot;top&quot;:212,&quot;width&quot;:920.3250393700788}"/>
</p:tagLst>
</file>

<file path=ppt/tags/tag70.xml><?xml version="1.0" encoding="utf-8"?>
<p:tagLst xmlns:p="http://schemas.openxmlformats.org/presentationml/2006/main">
  <p:tag name="KSO_WM_DIAGRAM_VIRTUALLY_FRAME" val="{&quot;height&quot;:184,&quot;left&quot;:20,&quot;top&quot;:212,&quot;width&quot;:920.3250393700788}"/>
</p:tagLst>
</file>

<file path=ppt/tags/tag71.xml><?xml version="1.0" encoding="utf-8"?>
<p:tagLst xmlns:p="http://schemas.openxmlformats.org/presentationml/2006/main">
  <p:tag name="KSO_WM_DIAGRAM_VIRTUALLY_FRAME" val="{&quot;height&quot;:184,&quot;left&quot;:20,&quot;top&quot;:212,&quot;width&quot;:920.3250393700788}"/>
</p:tagLst>
</file>

<file path=ppt/tags/tag72.xml><?xml version="1.0" encoding="utf-8"?>
<p:tagLst xmlns:p="http://schemas.openxmlformats.org/presentationml/2006/main">
  <p:tag name="KSO_WM_DIAGRAM_VIRTUALLY_FRAME" val="{&quot;height&quot;:184,&quot;left&quot;:20,&quot;top&quot;:212,&quot;width&quot;:920.3250393700788}"/>
</p:tagLst>
</file>

<file path=ppt/tags/tag73.xml><?xml version="1.0" encoding="utf-8"?>
<p:tagLst xmlns:p="http://schemas.openxmlformats.org/presentationml/2006/main">
  <p:tag name="KSO_WM_DIAGRAM_VIRTUALLY_FRAME" val="{&quot;height&quot;:184,&quot;left&quot;:20,&quot;top&quot;:212,&quot;width&quot;:920.3250393700788}"/>
</p:tagLst>
</file>

<file path=ppt/tags/tag74.xml><?xml version="1.0" encoding="utf-8"?>
<p:tagLst xmlns:p="http://schemas.openxmlformats.org/presentationml/2006/main">
  <p:tag name="KSO_WM_DIAGRAM_VIRTUALLY_FRAME" val="{&quot;height&quot;:184,&quot;left&quot;:20,&quot;top&quot;:212,&quot;width&quot;:920.3250393700788}"/>
</p:tagLst>
</file>

<file path=ppt/tags/tag75.xml><?xml version="1.0" encoding="utf-8"?>
<p:tagLst xmlns:p="http://schemas.openxmlformats.org/presentationml/2006/main">
  <p:tag name="KSO_WM_DIAGRAM_VIRTUALLY_FRAME" val="{&quot;height&quot;:184,&quot;left&quot;:20,&quot;top&quot;:212,&quot;width&quot;:920.3250393700788}"/>
</p:tagLst>
</file>

<file path=ppt/tags/tag76.xml><?xml version="1.0" encoding="utf-8"?>
<p:tagLst xmlns:p="http://schemas.openxmlformats.org/presentationml/2006/main">
  <p:tag name="KSO_WM_DIAGRAM_VIRTUALLY_FRAME" val="{&quot;height&quot;:184,&quot;left&quot;:20,&quot;top&quot;:212,&quot;width&quot;:920.3250393700788}"/>
</p:tagLst>
</file>

<file path=ppt/tags/tag77.xml><?xml version="1.0" encoding="utf-8"?>
<p:tagLst xmlns:p="http://schemas.openxmlformats.org/presentationml/2006/main">
  <p:tag name="KSO_WM_DIAGRAM_VIRTUALLY_FRAME" val="{&quot;height&quot;:184,&quot;left&quot;:20,&quot;top&quot;:212,&quot;width&quot;:920.3250393700788}"/>
</p:tagLst>
</file>

<file path=ppt/tags/tag78.xml><?xml version="1.0" encoding="utf-8"?>
<p:tagLst xmlns:p="http://schemas.openxmlformats.org/presentationml/2006/main">
  <p:tag name="KSO_WM_DIAGRAM_VIRTUALLY_FRAME" val="{&quot;height&quot;:184,&quot;left&quot;:20,&quot;top&quot;:212,&quot;width&quot;:920.3250393700788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1623</Words>
  <Application>WPS 演示</Application>
  <PresentationFormat>On-screen Show (16:9)</PresentationFormat>
  <Paragraphs>253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6" baseType="lpstr">
      <vt:lpstr>Arial</vt:lpstr>
      <vt:lpstr>宋体</vt:lpstr>
      <vt:lpstr>Wingdings</vt:lpstr>
      <vt:lpstr>MiSans</vt:lpstr>
      <vt:lpstr>MiSans</vt:lpstr>
      <vt:lpstr>Noto Sans SC</vt:lpstr>
      <vt:lpstr>Noto Sans SC</vt:lpstr>
      <vt:lpstr>微软雅黑</vt:lpstr>
      <vt:lpstr>微软雅黑</vt:lpstr>
      <vt:lpstr>MingLiU-ExtB</vt:lpstr>
      <vt:lpstr>Microsoft JhengHei UI Light</vt:lpstr>
      <vt:lpstr>等线</vt:lpstr>
      <vt:lpstr>Calibri</vt:lpstr>
      <vt:lpstr>Arial Unicode MS</vt:lpstr>
      <vt:lpstr>MiSans</vt:lpstr>
      <vt:lpstr>Noto Sans SC</vt:lpstr>
      <vt:lpstr>Segoe Print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流媒体的网络心跳</dc:title>
  <dc:creator>Kimi</dc:creator>
  <dc:subject>流媒体的网络心跳</dc:subject>
  <cp:lastModifiedBy>WPS_1694490358</cp:lastModifiedBy>
  <cp:revision>8</cp:revision>
  <dcterms:created xsi:type="dcterms:W3CDTF">2025-12-27T10:33:00Z</dcterms:created>
  <dcterms:modified xsi:type="dcterms:W3CDTF">2025-12-28T07:48:39Z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{"Label":"流媒体的网络心跳","ContentProducer":"001191110108MACG2KBH8F10000","ProduceID":"d57r6r7tuanv6ahfeti0","ReservedCode1":"","ContentPropagator":"001191110108MACG2KBH8F20000","PropagateID":"d57r6r7tuanv6ahfeti0","ReservedCode2":""}</vt:lpwstr>
  </property>
  <property fmtid="{D5CDD505-2E9C-101B-9397-08002B2CF9AE}" pid="3" name="ICV">
    <vt:lpwstr>9822B3D7F5184900A73CAE5AE20ACA30_12</vt:lpwstr>
  </property>
  <property fmtid="{D5CDD505-2E9C-101B-9397-08002B2CF9AE}" pid="4" name="KSOProductBuildVer">
    <vt:lpwstr>2052-12.1.0.24034</vt:lpwstr>
  </property>
</Properties>
</file>